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9" r:id="rId28"/>
    <p:sldId id="282" r:id="rId29"/>
    <p:sldId id="283" r:id="rId30"/>
    <p:sldId id="286" r:id="rId31"/>
    <p:sldId id="287" r:id="rId32"/>
    <p:sldId id="288" r:id="rId33"/>
  </p:sldIdLst>
  <p:sldSz cx="18288000" cy="10287000"/>
  <p:notesSz cx="6858000" cy="9144000"/>
  <p:embeddedFontLst>
    <p:embeddedFont>
      <p:font typeface="Agrandir Wide Medium" panose="020B0604020202020204" charset="0"/>
      <p:regular r:id="rId34"/>
    </p:embeddedFont>
    <p:embeddedFont>
      <p:font typeface="Ahsing" charset="0"/>
      <p:regular r:id="rId35"/>
    </p:embeddedFont>
    <p:embeddedFont>
      <p:font typeface="Aileron" panose="020B0604020202020204" charset="0"/>
      <p:regular r:id="rId36"/>
    </p:embeddedFont>
    <p:embeddedFont>
      <p:font typeface="Alice Bold" panose="020B0604020202020204" charset="0"/>
      <p:regular r:id="rId37"/>
    </p:embeddedFont>
    <p:embeddedFont>
      <p:font typeface="Canva Sans" panose="020B0604020202020204" charset="0"/>
      <p:regular r:id="rId38"/>
    </p:embeddedFont>
    <p:embeddedFont>
      <p:font typeface="Canva Sans Bold" panose="020B0604020202020204" charset="0"/>
      <p:regular r:id="rId39"/>
    </p:embeddedFont>
    <p:embeddedFont>
      <p:font typeface="Montserrat" panose="00000500000000000000" pitchFamily="2" charset="0"/>
      <p:regular r:id="rId40"/>
    </p:embeddedFont>
    <p:embeddedFont>
      <p:font typeface="Montserrat Bold" panose="020B0604020202020204" charset="0"/>
      <p:regular r:id="rId41"/>
    </p:embeddedFont>
    <p:embeddedFont>
      <p:font typeface="Open Sans" panose="020B0606030504020204" pitchFamily="34" charset="0"/>
      <p:regular r:id="rId42"/>
    </p:embeddedFont>
    <p:embeddedFont>
      <p:font typeface="Open Sans Bold" panose="020B0604020202020204" charset="0"/>
      <p:regular r:id="rId43"/>
    </p:embeddedFont>
    <p:embeddedFont>
      <p:font typeface="Roca One" panose="020B0604020202020204" charset="0"/>
      <p:regular r:id="rId44"/>
    </p:embeddedFont>
    <p:embeddedFont>
      <p:font typeface="Roca One Bold" panose="020B0604020202020204" charset="0"/>
      <p:regular r:id="rId45"/>
    </p:embeddedFont>
    <p:embeddedFont>
      <p:font typeface="TAN Angleton" panose="020B0604020202020204"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91FB"/>
    <a:srgbClr val="3C2FAF"/>
    <a:srgbClr val="A5F3B5"/>
    <a:srgbClr val="C89D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akkiya Joseph" userId="ccc63454fef86782" providerId="LiveId" clId="{5521B682-D3D7-4630-A0E5-751E11926FE1}"/>
    <pc:docChg chg="modSld">
      <pc:chgData name="Elakkiya Joseph" userId="ccc63454fef86782" providerId="LiveId" clId="{5521B682-D3D7-4630-A0E5-751E11926FE1}" dt="2025-10-18T18:41:42.125" v="0" actId="14100"/>
      <pc:docMkLst>
        <pc:docMk/>
      </pc:docMkLst>
      <pc:sldChg chg="modSp mod">
        <pc:chgData name="Elakkiya Joseph" userId="ccc63454fef86782" providerId="LiveId" clId="{5521B682-D3D7-4630-A0E5-751E11926FE1}" dt="2025-10-18T18:41:42.125" v="0" actId="14100"/>
        <pc:sldMkLst>
          <pc:docMk/>
          <pc:sldMk cId="0" sldId="265"/>
        </pc:sldMkLst>
        <pc:spChg chg="mod">
          <ac:chgData name="Elakkiya Joseph" userId="ccc63454fef86782" providerId="LiveId" clId="{5521B682-D3D7-4630-A0E5-751E11926FE1}" dt="2025-10-18T18:41:42.125" v="0" actId="14100"/>
          <ac:spMkLst>
            <pc:docMk/>
            <pc:sldMk cId="0" sldId="265"/>
            <ac:spMk id="3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2.svg"/><Relationship Id="rId7"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4.svg"/><Relationship Id="rId10" Type="http://schemas.openxmlformats.org/officeDocument/2006/relationships/image" Target="../media/image20.jpeg"/><Relationship Id="rId4" Type="http://schemas.openxmlformats.org/officeDocument/2006/relationships/image" Target="../media/image3.png"/><Relationship Id="rId9"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2.jpe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2.svg"/><Relationship Id="rId5" Type="http://schemas.openxmlformats.org/officeDocument/2006/relationships/image" Target="../media/image28.svg"/><Relationship Id="rId10" Type="http://schemas.openxmlformats.org/officeDocument/2006/relationships/image" Target="../media/image1.png"/><Relationship Id="rId4" Type="http://schemas.openxmlformats.org/officeDocument/2006/relationships/image" Target="../media/image27.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svg"/><Relationship Id="rId7" Type="http://schemas.openxmlformats.org/officeDocument/2006/relationships/image" Target="../media/image80.sv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172135" y="2337613"/>
            <a:ext cx="6031608" cy="60316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414845" y="1188931"/>
            <a:ext cx="1991544" cy="199154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3043659" y="4214522"/>
            <a:ext cx="3185721" cy="318572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055315" y="3936003"/>
            <a:ext cx="12177370" cy="1311661"/>
          </a:xfrm>
          <a:prstGeom prst="rect">
            <a:avLst/>
          </a:prstGeom>
        </p:spPr>
        <p:txBody>
          <a:bodyPr lIns="0" tIns="0" rIns="0" bIns="0" rtlCol="0" anchor="t">
            <a:spAutoFit/>
          </a:bodyPr>
          <a:lstStyle/>
          <a:p>
            <a:pPr algn="ctr">
              <a:lnSpc>
                <a:spcPts val="9106"/>
              </a:lnSpc>
            </a:pPr>
            <a:r>
              <a:rPr lang="en-US" sz="11382">
                <a:solidFill>
                  <a:srgbClr val="240960"/>
                </a:solidFill>
                <a:latin typeface="Ahsing"/>
                <a:ea typeface="Ahsing"/>
                <a:cs typeface="Ahsing"/>
                <a:sym typeface="Ahsing"/>
              </a:rPr>
              <a:t>ECHOPAY</a:t>
            </a:r>
          </a:p>
        </p:txBody>
      </p:sp>
      <p:grpSp>
        <p:nvGrpSpPr>
          <p:cNvPr id="12" name="Group 12"/>
          <p:cNvGrpSpPr/>
          <p:nvPr/>
        </p:nvGrpSpPr>
        <p:grpSpPr>
          <a:xfrm>
            <a:off x="4163679" y="7797695"/>
            <a:ext cx="884434" cy="88443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2744482" y="1504605"/>
            <a:ext cx="1892038" cy="189203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344946" y="6400189"/>
            <a:ext cx="884434" cy="88443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637067" y="3608432"/>
            <a:ext cx="3070135" cy="307013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TextBox 26"/>
          <p:cNvSpPr txBox="1"/>
          <p:nvPr/>
        </p:nvSpPr>
        <p:spPr>
          <a:xfrm>
            <a:off x="2030336" y="961242"/>
            <a:ext cx="1194260" cy="251217"/>
          </a:xfrm>
          <a:prstGeom prst="rect">
            <a:avLst/>
          </a:prstGeom>
        </p:spPr>
        <p:txBody>
          <a:bodyPr lIns="0" tIns="0" rIns="0" bIns="0" rtlCol="0" anchor="t">
            <a:spAutoFit/>
          </a:bodyPr>
          <a:lstStyle/>
          <a:p>
            <a:pPr algn="l">
              <a:lnSpc>
                <a:spcPts val="1859"/>
              </a:lnSpc>
            </a:pPr>
            <a:r>
              <a:rPr lang="en-US" sz="1822">
                <a:solidFill>
                  <a:srgbClr val="240960"/>
                </a:solidFill>
                <a:latin typeface="Ahsing"/>
                <a:ea typeface="Ahsing"/>
                <a:cs typeface="Ahsing"/>
                <a:sym typeface="Ahsing"/>
              </a:rPr>
              <a:t>EchoPay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1028700" y="748628"/>
            <a:ext cx="340043" cy="280072"/>
          </a:xfrm>
          <a:custGeom>
            <a:avLst/>
            <a:gdLst/>
            <a:ahLst/>
            <a:cxnLst/>
            <a:rect l="l" t="t" r="r" b="b"/>
            <a:pathLst>
              <a:path w="340043" h="280072">
                <a:moveTo>
                  <a:pt x="0" y="0"/>
                </a:moveTo>
                <a:lnTo>
                  <a:pt x="340043" y="0"/>
                </a:lnTo>
                <a:lnTo>
                  <a:pt x="340043" y="280072"/>
                </a:lnTo>
                <a:lnTo>
                  <a:pt x="0" y="2800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905702" y="770872"/>
            <a:ext cx="353598" cy="235585"/>
          </a:xfrm>
          <a:custGeom>
            <a:avLst/>
            <a:gdLst/>
            <a:ahLst/>
            <a:cxnLst/>
            <a:rect l="l" t="t" r="r" b="b"/>
            <a:pathLst>
              <a:path w="353598" h="235585">
                <a:moveTo>
                  <a:pt x="0" y="0"/>
                </a:moveTo>
                <a:lnTo>
                  <a:pt x="353598" y="0"/>
                </a:lnTo>
                <a:lnTo>
                  <a:pt x="353598" y="235584"/>
                </a:lnTo>
                <a:lnTo>
                  <a:pt x="0" y="2355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AutoShape 5"/>
          <p:cNvSpPr/>
          <p:nvPr/>
        </p:nvSpPr>
        <p:spPr>
          <a:xfrm>
            <a:off x="1028700" y="4129329"/>
            <a:ext cx="16230600" cy="0"/>
          </a:xfrm>
          <a:prstGeom prst="line">
            <a:avLst/>
          </a:prstGeom>
          <a:ln w="9525" cap="flat">
            <a:solidFill>
              <a:srgbClr val="2C0C6B"/>
            </a:solidFill>
            <a:prstDash val="solid"/>
            <a:headEnd type="none" w="sm" len="sm"/>
            <a:tailEnd type="none" w="sm" len="sm"/>
          </a:ln>
        </p:spPr>
      </p:sp>
      <p:sp>
        <p:nvSpPr>
          <p:cNvPr id="6" name="AutoShape 6"/>
          <p:cNvSpPr/>
          <p:nvPr/>
        </p:nvSpPr>
        <p:spPr>
          <a:xfrm>
            <a:off x="1028700" y="2190509"/>
            <a:ext cx="16230600" cy="0"/>
          </a:xfrm>
          <a:prstGeom prst="line">
            <a:avLst/>
          </a:prstGeom>
          <a:ln w="9525" cap="flat">
            <a:solidFill>
              <a:srgbClr val="2C0C6B"/>
            </a:solidFill>
            <a:prstDash val="solid"/>
            <a:headEnd type="none" w="sm" len="sm"/>
            <a:tailEnd type="none" w="sm" len="sm"/>
          </a:ln>
        </p:spPr>
      </p:sp>
      <p:sp>
        <p:nvSpPr>
          <p:cNvPr id="7" name="TextBox 7"/>
          <p:cNvSpPr txBox="1"/>
          <p:nvPr/>
        </p:nvSpPr>
        <p:spPr>
          <a:xfrm>
            <a:off x="1028700" y="2177848"/>
            <a:ext cx="10997259" cy="1767206"/>
          </a:xfrm>
          <a:prstGeom prst="rect">
            <a:avLst/>
          </a:prstGeom>
        </p:spPr>
        <p:txBody>
          <a:bodyPr lIns="0" tIns="0" rIns="0" bIns="0" rtlCol="0" anchor="t">
            <a:spAutoFit/>
          </a:bodyPr>
          <a:lstStyle/>
          <a:p>
            <a:pPr algn="l">
              <a:lnSpc>
                <a:spcPts val="12319"/>
              </a:lnSpc>
              <a:spcBef>
                <a:spcPct val="0"/>
              </a:spcBef>
            </a:pPr>
            <a:r>
              <a:rPr lang="en-US" sz="8799" b="1" spc="-263">
                <a:solidFill>
                  <a:srgbClr val="2C0C6B"/>
                </a:solidFill>
                <a:latin typeface="Agrandir Wide Medium"/>
                <a:ea typeface="Agrandir Wide Medium"/>
                <a:cs typeface="Agrandir Wide Medium"/>
                <a:sym typeface="Agrandir Wide Medium"/>
              </a:rPr>
              <a:t>TEAM  MEMBERS</a:t>
            </a:r>
          </a:p>
        </p:txBody>
      </p:sp>
      <p:sp>
        <p:nvSpPr>
          <p:cNvPr id="8" name="TextBox 8"/>
          <p:cNvSpPr txBox="1"/>
          <p:nvPr/>
        </p:nvSpPr>
        <p:spPr>
          <a:xfrm>
            <a:off x="1570883" y="622009"/>
            <a:ext cx="1681296" cy="476160"/>
          </a:xfrm>
          <a:prstGeom prst="rect">
            <a:avLst/>
          </a:prstGeom>
        </p:spPr>
        <p:txBody>
          <a:bodyPr lIns="0" tIns="0" rIns="0" bIns="0" rtlCol="0" anchor="t">
            <a:spAutoFit/>
          </a:bodyPr>
          <a:lstStyle/>
          <a:p>
            <a:pPr algn="l">
              <a:lnSpc>
                <a:spcPts val="3931"/>
              </a:lnSpc>
              <a:spcBef>
                <a:spcPct val="0"/>
              </a:spcBef>
            </a:pPr>
            <a:r>
              <a:rPr lang="en-US" sz="2807">
                <a:solidFill>
                  <a:srgbClr val="2C0C6B"/>
                </a:solidFill>
                <a:latin typeface="Ahsing"/>
                <a:ea typeface="Ahsing"/>
                <a:cs typeface="Ahsing"/>
                <a:sym typeface="Ahsing"/>
              </a:rPr>
              <a:t>ECHOPAY</a:t>
            </a:r>
          </a:p>
        </p:txBody>
      </p:sp>
      <p:sp>
        <p:nvSpPr>
          <p:cNvPr id="9" name="Freeform 9"/>
          <p:cNvSpPr/>
          <p:nvPr/>
        </p:nvSpPr>
        <p:spPr>
          <a:xfrm>
            <a:off x="16905588" y="2983063"/>
            <a:ext cx="353712" cy="353712"/>
          </a:xfrm>
          <a:custGeom>
            <a:avLst/>
            <a:gdLst/>
            <a:ahLst/>
            <a:cxnLst/>
            <a:rect l="l" t="t" r="r" b="b"/>
            <a:pathLst>
              <a:path w="353712" h="353712">
                <a:moveTo>
                  <a:pt x="0" y="0"/>
                </a:moveTo>
                <a:lnTo>
                  <a:pt x="353712" y="0"/>
                </a:lnTo>
                <a:lnTo>
                  <a:pt x="353712" y="353712"/>
                </a:lnTo>
                <a:lnTo>
                  <a:pt x="0" y="35371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3585403" y="5029200"/>
            <a:ext cx="9694572" cy="4007484"/>
          </a:xfrm>
          <a:prstGeom prst="rect">
            <a:avLst/>
          </a:prstGeom>
        </p:spPr>
        <p:txBody>
          <a:bodyPr lIns="0" tIns="0" rIns="0" bIns="0" rtlCol="0" anchor="t">
            <a:spAutoFit/>
          </a:bodyPr>
          <a:lstStyle/>
          <a:p>
            <a:pPr marL="1236033" lvl="1" indent="-618017" algn="l">
              <a:lnSpc>
                <a:spcPts val="8015"/>
              </a:lnSpc>
              <a:buFont typeface="Arial"/>
              <a:buChar char="•"/>
            </a:pPr>
            <a:r>
              <a:rPr lang="en-US" sz="5725">
                <a:solidFill>
                  <a:srgbClr val="2C0C6B"/>
                </a:solidFill>
                <a:latin typeface="Canva Sans"/>
                <a:ea typeface="Canva Sans"/>
                <a:cs typeface="Canva Sans"/>
                <a:sym typeface="Canva Sans"/>
              </a:rPr>
              <a:t>J. Elakkiya</a:t>
            </a:r>
          </a:p>
          <a:p>
            <a:pPr marL="1236033" lvl="1" indent="-618017" algn="l">
              <a:lnSpc>
                <a:spcPts val="8015"/>
              </a:lnSpc>
              <a:buFont typeface="Arial"/>
              <a:buChar char="•"/>
            </a:pPr>
            <a:r>
              <a:rPr lang="en-US" sz="5725">
                <a:solidFill>
                  <a:srgbClr val="2C0C6B"/>
                </a:solidFill>
                <a:latin typeface="Canva Sans"/>
                <a:ea typeface="Canva Sans"/>
                <a:cs typeface="Canva Sans"/>
                <a:sym typeface="Canva Sans"/>
              </a:rPr>
              <a:t>C. Kanimozhi</a:t>
            </a:r>
          </a:p>
          <a:p>
            <a:pPr marL="1236033" lvl="1" indent="-618017" algn="l">
              <a:lnSpc>
                <a:spcPts val="8015"/>
              </a:lnSpc>
              <a:buFont typeface="Arial"/>
              <a:buChar char="•"/>
            </a:pPr>
            <a:r>
              <a:rPr lang="en-US" sz="5725">
                <a:solidFill>
                  <a:srgbClr val="2C0C6B"/>
                </a:solidFill>
                <a:latin typeface="Canva Sans"/>
                <a:ea typeface="Canva Sans"/>
                <a:cs typeface="Canva Sans"/>
                <a:sym typeface="Canva Sans"/>
              </a:rPr>
              <a:t>P. Manjari</a:t>
            </a:r>
          </a:p>
          <a:p>
            <a:pPr marL="1236033" lvl="1" indent="-618017" algn="l">
              <a:lnSpc>
                <a:spcPts val="8015"/>
              </a:lnSpc>
              <a:buFont typeface="Arial"/>
              <a:buChar char="•"/>
            </a:pPr>
            <a:r>
              <a:rPr lang="en-US" sz="5725">
                <a:solidFill>
                  <a:srgbClr val="2C0C6B"/>
                </a:solidFill>
                <a:latin typeface="Canva Sans"/>
                <a:ea typeface="Canva Sans"/>
                <a:cs typeface="Canva Sans"/>
                <a:sym typeface="Canva Sans"/>
              </a:rPr>
              <a:t>P. Matheeshini</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487438" y="2060099"/>
            <a:ext cx="14152523" cy="6891819"/>
            <a:chOff x="0" y="0"/>
            <a:chExt cx="3727414" cy="1815129"/>
          </a:xfrm>
        </p:grpSpPr>
        <p:sp>
          <p:nvSpPr>
            <p:cNvPr id="3" name="Freeform 3"/>
            <p:cNvSpPr/>
            <p:nvPr/>
          </p:nvSpPr>
          <p:spPr>
            <a:xfrm>
              <a:off x="0" y="0"/>
              <a:ext cx="3727414" cy="1815129"/>
            </a:xfrm>
            <a:custGeom>
              <a:avLst/>
              <a:gdLst/>
              <a:ahLst/>
              <a:cxnLst/>
              <a:rect l="l" t="t" r="r" b="b"/>
              <a:pathLst>
                <a:path w="3727414" h="1815129">
                  <a:moveTo>
                    <a:pt x="0" y="0"/>
                  </a:moveTo>
                  <a:lnTo>
                    <a:pt x="3727414" y="0"/>
                  </a:lnTo>
                  <a:lnTo>
                    <a:pt x="3727414" y="1815129"/>
                  </a:lnTo>
                  <a:lnTo>
                    <a:pt x="0" y="1815129"/>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4" name="TextBox 4"/>
            <p:cNvSpPr txBox="1"/>
            <p:nvPr/>
          </p:nvSpPr>
          <p:spPr>
            <a:xfrm>
              <a:off x="0" y="-38100"/>
              <a:ext cx="3727414" cy="185322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378562" y="1456894"/>
            <a:ext cx="6573048" cy="7451590"/>
            <a:chOff x="0" y="0"/>
            <a:chExt cx="1018337" cy="1154446"/>
          </a:xfrm>
        </p:grpSpPr>
        <p:sp>
          <p:nvSpPr>
            <p:cNvPr id="6" name="Freeform 6"/>
            <p:cNvSpPr/>
            <p:nvPr/>
          </p:nvSpPr>
          <p:spPr>
            <a:xfrm>
              <a:off x="0" y="0"/>
              <a:ext cx="1018337" cy="1154446"/>
            </a:xfrm>
            <a:custGeom>
              <a:avLst/>
              <a:gdLst/>
              <a:ahLst/>
              <a:cxnLst/>
              <a:rect l="l" t="t" r="r" b="b"/>
              <a:pathLst>
                <a:path w="1018337" h="1154446">
                  <a:moveTo>
                    <a:pt x="0" y="0"/>
                  </a:moveTo>
                  <a:lnTo>
                    <a:pt x="1018337" y="0"/>
                  </a:lnTo>
                  <a:lnTo>
                    <a:pt x="1018337" y="1154446"/>
                  </a:lnTo>
                  <a:lnTo>
                    <a:pt x="0" y="1154446"/>
                  </a:lnTo>
                  <a:close/>
                </a:path>
              </a:pathLst>
            </a:custGeom>
            <a:blipFill>
              <a:blip r:embed="rId2"/>
              <a:stretch>
                <a:fillRect l="-6682" r="-6682"/>
              </a:stretch>
            </a:blipFill>
          </p:spPr>
        </p:sp>
      </p:grpSp>
      <p:grpSp>
        <p:nvGrpSpPr>
          <p:cNvPr id="7" name="Group 7"/>
          <p:cNvGrpSpPr/>
          <p:nvPr/>
        </p:nvGrpSpPr>
        <p:grpSpPr>
          <a:xfrm>
            <a:off x="10366501" y="6709979"/>
            <a:ext cx="6573048" cy="2241939"/>
            <a:chOff x="0" y="0"/>
            <a:chExt cx="1731173" cy="590470"/>
          </a:xfrm>
        </p:grpSpPr>
        <p:sp>
          <p:nvSpPr>
            <p:cNvPr id="8" name="Freeform 8"/>
            <p:cNvSpPr/>
            <p:nvPr/>
          </p:nvSpPr>
          <p:spPr>
            <a:xfrm>
              <a:off x="0" y="0"/>
              <a:ext cx="1731173" cy="590470"/>
            </a:xfrm>
            <a:custGeom>
              <a:avLst/>
              <a:gdLst/>
              <a:ahLst/>
              <a:cxnLst/>
              <a:rect l="l" t="t" r="r" b="b"/>
              <a:pathLst>
                <a:path w="1731173" h="590470">
                  <a:moveTo>
                    <a:pt x="0" y="0"/>
                  </a:moveTo>
                  <a:lnTo>
                    <a:pt x="1731173" y="0"/>
                  </a:lnTo>
                  <a:lnTo>
                    <a:pt x="1731173" y="590470"/>
                  </a:lnTo>
                  <a:lnTo>
                    <a:pt x="0" y="590470"/>
                  </a:lnTo>
                  <a:close/>
                </a:path>
              </a:pathLst>
            </a:custGeom>
            <a:gradFill rotWithShape="1">
              <a:gsLst>
                <a:gs pos="0">
                  <a:srgbClr val="F7ACFF">
                    <a:alpha val="0"/>
                  </a:srgbClr>
                </a:gs>
                <a:gs pos="100000">
                  <a:srgbClr val="3C67BF">
                    <a:alpha val="100000"/>
                  </a:srgbClr>
                </a:gs>
              </a:gsLst>
              <a:lin ang="5400000"/>
            </a:gradFill>
          </p:spPr>
        </p:sp>
        <p:sp>
          <p:nvSpPr>
            <p:cNvPr id="9" name="TextBox 9"/>
            <p:cNvSpPr txBox="1"/>
            <p:nvPr/>
          </p:nvSpPr>
          <p:spPr>
            <a:xfrm>
              <a:off x="0" y="-38100"/>
              <a:ext cx="1731173" cy="62857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5758233" y="2306583"/>
            <a:ext cx="1892038" cy="189203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7830949"/>
            <a:ext cx="2155070" cy="215507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400540" y="1693375"/>
            <a:ext cx="1256320" cy="125632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9660248" y="8446187"/>
            <a:ext cx="1122575" cy="924593"/>
          </a:xfrm>
          <a:custGeom>
            <a:avLst/>
            <a:gdLst/>
            <a:ahLst/>
            <a:cxnLst/>
            <a:rect l="l" t="t" r="r" b="b"/>
            <a:pathLst>
              <a:path w="1122575" h="924593">
                <a:moveTo>
                  <a:pt x="0" y="0"/>
                </a:moveTo>
                <a:lnTo>
                  <a:pt x="1122574" y="0"/>
                </a:lnTo>
                <a:lnTo>
                  <a:pt x="1122574" y="924594"/>
                </a:lnTo>
                <a:lnTo>
                  <a:pt x="0" y="9245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1" name="Group 21"/>
          <p:cNvGrpSpPr/>
          <p:nvPr/>
        </p:nvGrpSpPr>
        <p:grpSpPr>
          <a:xfrm>
            <a:off x="16939549" y="2212922"/>
            <a:ext cx="1256320" cy="125632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TextBox 25"/>
          <p:cNvSpPr txBox="1"/>
          <p:nvPr/>
        </p:nvSpPr>
        <p:spPr>
          <a:xfrm>
            <a:off x="2049473" y="870520"/>
            <a:ext cx="1430789" cy="335410"/>
          </a:xfrm>
          <a:prstGeom prst="rect">
            <a:avLst/>
          </a:prstGeom>
        </p:spPr>
        <p:txBody>
          <a:bodyPr lIns="0" tIns="0" rIns="0" bIns="0" rtlCol="0" anchor="t">
            <a:spAutoFit/>
          </a:bodyPr>
          <a:lstStyle/>
          <a:p>
            <a:pPr algn="l">
              <a:lnSpc>
                <a:spcPts val="2438"/>
              </a:lnSpc>
            </a:pPr>
            <a:r>
              <a:rPr lang="en-US" sz="2390">
                <a:solidFill>
                  <a:srgbClr val="240960"/>
                </a:solidFill>
                <a:latin typeface="Ahsing"/>
                <a:ea typeface="Ahsing"/>
                <a:cs typeface="Ahsing"/>
                <a:sym typeface="Ahsing"/>
              </a:rPr>
              <a:t>EchoPay</a:t>
            </a:r>
          </a:p>
        </p:txBody>
      </p:sp>
      <p:sp>
        <p:nvSpPr>
          <p:cNvPr id="26" name="TextBox 26"/>
          <p:cNvSpPr txBox="1"/>
          <p:nvPr/>
        </p:nvSpPr>
        <p:spPr>
          <a:xfrm>
            <a:off x="1028700" y="2579645"/>
            <a:ext cx="7310908" cy="1874444"/>
          </a:xfrm>
          <a:prstGeom prst="rect">
            <a:avLst/>
          </a:prstGeom>
        </p:spPr>
        <p:txBody>
          <a:bodyPr lIns="0" tIns="0" rIns="0" bIns="0" rtlCol="0" anchor="t">
            <a:spAutoFit/>
          </a:bodyPr>
          <a:lstStyle/>
          <a:p>
            <a:pPr algn="l">
              <a:lnSpc>
                <a:spcPts val="7211"/>
              </a:lnSpc>
            </a:pPr>
            <a:r>
              <a:rPr lang="en-US" sz="6933" b="1">
                <a:solidFill>
                  <a:srgbClr val="240960"/>
                </a:solidFill>
                <a:latin typeface="Roca One Bold"/>
                <a:ea typeface="Roca One Bold"/>
                <a:cs typeface="Roca One Bold"/>
                <a:sym typeface="Roca One Bold"/>
              </a:rPr>
              <a:t>ABOUT THE PROJECT</a:t>
            </a:r>
          </a:p>
        </p:txBody>
      </p:sp>
      <p:sp>
        <p:nvSpPr>
          <p:cNvPr id="27" name="TextBox 27"/>
          <p:cNvSpPr txBox="1"/>
          <p:nvPr/>
        </p:nvSpPr>
        <p:spPr>
          <a:xfrm>
            <a:off x="1656860" y="4987642"/>
            <a:ext cx="7740825" cy="3279208"/>
          </a:xfrm>
          <a:prstGeom prst="rect">
            <a:avLst/>
          </a:prstGeom>
        </p:spPr>
        <p:txBody>
          <a:bodyPr lIns="0" tIns="0" rIns="0" bIns="0" rtlCol="0" anchor="t">
            <a:spAutoFit/>
          </a:bodyPr>
          <a:lstStyle/>
          <a:p>
            <a:pPr algn="l">
              <a:lnSpc>
                <a:spcPts val="3240"/>
              </a:lnSpc>
            </a:pPr>
            <a:r>
              <a:rPr lang="en-US" sz="2842">
                <a:solidFill>
                  <a:srgbClr val="240960"/>
                </a:solidFill>
                <a:latin typeface="Montserrat"/>
                <a:ea typeface="Montserrat"/>
                <a:cs typeface="Montserrat"/>
                <a:sym typeface="Montserrat"/>
              </a:rPr>
              <a:t>Digital payments are becoming essential in India, but many elderly users and illiterates struggle to use UPI apps due to complex interfaces and small text.</a:t>
            </a:r>
          </a:p>
          <a:p>
            <a:pPr algn="l">
              <a:lnSpc>
                <a:spcPts val="3240"/>
              </a:lnSpc>
            </a:pPr>
            <a:r>
              <a:rPr lang="en-US" sz="2842">
                <a:solidFill>
                  <a:srgbClr val="240960"/>
                </a:solidFill>
                <a:latin typeface="Montserrat"/>
                <a:ea typeface="Montserrat"/>
                <a:cs typeface="Montserrat"/>
                <a:sym typeface="Montserrat"/>
              </a:rPr>
              <a:t>EchoPay is a simplified, voice-based UPI payment app that helps seniors make secure transactions easily using voice commands in their preferred language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rot="282486">
            <a:off x="8557043" y="3293403"/>
            <a:ext cx="6136133" cy="6196924"/>
            <a:chOff x="0" y="0"/>
            <a:chExt cx="2966666" cy="2996057"/>
          </a:xfrm>
        </p:grpSpPr>
        <p:sp>
          <p:nvSpPr>
            <p:cNvPr id="3" name="Freeform 3"/>
            <p:cNvSpPr/>
            <p:nvPr/>
          </p:nvSpPr>
          <p:spPr>
            <a:xfrm>
              <a:off x="0" y="0"/>
              <a:ext cx="2966666" cy="2996057"/>
            </a:xfrm>
            <a:custGeom>
              <a:avLst/>
              <a:gdLst/>
              <a:ahLst/>
              <a:cxnLst/>
              <a:rect l="l" t="t" r="r" b="b"/>
              <a:pathLst>
                <a:path w="2966666" h="2996057">
                  <a:moveTo>
                    <a:pt x="0" y="0"/>
                  </a:moveTo>
                  <a:lnTo>
                    <a:pt x="2966666" y="0"/>
                  </a:lnTo>
                  <a:lnTo>
                    <a:pt x="2966666" y="2996057"/>
                  </a:lnTo>
                  <a:lnTo>
                    <a:pt x="0" y="2996057"/>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2966666" cy="303415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58356" y="-2241304"/>
            <a:ext cx="7495922" cy="749592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a:grpSpLocks noChangeAspect="1"/>
          </p:cNvGrpSpPr>
          <p:nvPr/>
        </p:nvGrpSpPr>
        <p:grpSpPr>
          <a:xfrm>
            <a:off x="377602" y="2166068"/>
            <a:ext cx="6515318" cy="6515318"/>
            <a:chOff x="0" y="0"/>
            <a:chExt cx="14840029" cy="14840029"/>
          </a:xfrm>
        </p:grpSpPr>
        <p:sp>
          <p:nvSpPr>
            <p:cNvPr id="10" name="Freeform 10"/>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3C67BF">
                    <a:alpha val="100000"/>
                  </a:srgbClr>
                </a:gs>
                <a:gs pos="100000">
                  <a:srgbClr val="F7ACFF">
                    <a:alpha val="100000"/>
                  </a:srgbClr>
                </a:gs>
              </a:gsLst>
              <a:lin ang="0"/>
            </a:gradFill>
          </p:spPr>
        </p:sp>
        <p:sp>
          <p:nvSpPr>
            <p:cNvPr id="11" name="Freeform 11"/>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94765"/>
            </a:solidFill>
          </p:spPr>
        </p:sp>
        <p:sp>
          <p:nvSpPr>
            <p:cNvPr id="12" name="Freeform 12"/>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sp>
      </p:grpSp>
      <p:grpSp>
        <p:nvGrpSpPr>
          <p:cNvPr id="13" name="Group 13"/>
          <p:cNvGrpSpPr/>
          <p:nvPr/>
        </p:nvGrpSpPr>
        <p:grpSpPr>
          <a:xfrm>
            <a:off x="-661493" y="7761838"/>
            <a:ext cx="4043277" cy="404327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892921" y="2390416"/>
            <a:ext cx="262038" cy="26203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0" name="Group 20"/>
          <p:cNvGrpSpPr/>
          <p:nvPr/>
        </p:nvGrpSpPr>
        <p:grpSpPr>
          <a:xfrm>
            <a:off x="6892921" y="6357648"/>
            <a:ext cx="262038" cy="26203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7588212" y="3047597"/>
            <a:ext cx="10135515" cy="3068148"/>
          </a:xfrm>
          <a:prstGeom prst="rect">
            <a:avLst/>
          </a:prstGeom>
        </p:spPr>
        <p:txBody>
          <a:bodyPr lIns="0" tIns="0" rIns="0" bIns="0" rtlCol="0" anchor="t">
            <a:spAutoFit/>
          </a:bodyPr>
          <a:lstStyle/>
          <a:p>
            <a:pPr algn="l">
              <a:lnSpc>
                <a:spcPts val="2200"/>
              </a:lnSpc>
            </a:pPr>
            <a:r>
              <a:rPr lang="en-US" sz="2340">
                <a:solidFill>
                  <a:srgbClr val="240960"/>
                </a:solidFill>
                <a:latin typeface="Montserrat"/>
                <a:ea typeface="Montserrat"/>
                <a:cs typeface="Montserrat"/>
                <a:sym typeface="Montserrat"/>
              </a:rPr>
              <a:t>Elderly people find it hard to use digital payment apps because of:</a:t>
            </a:r>
          </a:p>
          <a:p>
            <a:pPr algn="l">
              <a:lnSpc>
                <a:spcPts val="2200"/>
              </a:lnSpc>
            </a:pPr>
            <a:endParaRPr lang="en-US" sz="2340">
              <a:solidFill>
                <a:srgbClr val="240960"/>
              </a:solidFill>
              <a:latin typeface="Montserrat"/>
              <a:ea typeface="Montserrat"/>
              <a:cs typeface="Montserrat"/>
              <a:sym typeface="Montserrat"/>
            </a:endParaRPr>
          </a:p>
          <a:p>
            <a:pPr algn="l">
              <a:lnSpc>
                <a:spcPts val="2200"/>
              </a:lnSpc>
            </a:pPr>
            <a:r>
              <a:rPr lang="en-US" sz="2340">
                <a:solidFill>
                  <a:srgbClr val="240960"/>
                </a:solidFill>
                <a:latin typeface="Montserrat"/>
                <a:ea typeface="Montserrat"/>
                <a:cs typeface="Montserrat"/>
                <a:sym typeface="Montserrat"/>
              </a:rPr>
              <a:t>Small fonts and confusing layouts</a:t>
            </a:r>
          </a:p>
          <a:p>
            <a:pPr algn="l">
              <a:lnSpc>
                <a:spcPts val="2200"/>
              </a:lnSpc>
            </a:pPr>
            <a:endParaRPr lang="en-US" sz="2340">
              <a:solidFill>
                <a:srgbClr val="240960"/>
              </a:solidFill>
              <a:latin typeface="Montserrat"/>
              <a:ea typeface="Montserrat"/>
              <a:cs typeface="Montserrat"/>
              <a:sym typeface="Montserrat"/>
            </a:endParaRPr>
          </a:p>
          <a:p>
            <a:pPr algn="l">
              <a:lnSpc>
                <a:spcPts val="2200"/>
              </a:lnSpc>
            </a:pPr>
            <a:r>
              <a:rPr lang="en-US" sz="2340">
                <a:solidFill>
                  <a:srgbClr val="240960"/>
                </a:solidFill>
                <a:latin typeface="Montserrat"/>
                <a:ea typeface="Montserrat"/>
                <a:cs typeface="Montserrat"/>
                <a:sym typeface="Montserrat"/>
              </a:rPr>
              <a:t>Fear of making payment mistakes</a:t>
            </a:r>
          </a:p>
          <a:p>
            <a:pPr algn="l">
              <a:lnSpc>
                <a:spcPts val="2200"/>
              </a:lnSpc>
            </a:pPr>
            <a:endParaRPr lang="en-US" sz="2340">
              <a:solidFill>
                <a:srgbClr val="240960"/>
              </a:solidFill>
              <a:latin typeface="Montserrat"/>
              <a:ea typeface="Montserrat"/>
              <a:cs typeface="Montserrat"/>
              <a:sym typeface="Montserrat"/>
            </a:endParaRPr>
          </a:p>
          <a:p>
            <a:pPr algn="l">
              <a:lnSpc>
                <a:spcPts val="2200"/>
              </a:lnSpc>
            </a:pPr>
            <a:r>
              <a:rPr lang="en-US" sz="2340">
                <a:solidFill>
                  <a:srgbClr val="240960"/>
                </a:solidFill>
                <a:latin typeface="Montserrat"/>
                <a:ea typeface="Montserrat"/>
                <a:cs typeface="Montserrat"/>
                <a:sym typeface="Montserrat"/>
              </a:rPr>
              <a:t>Difficulty in remembering PINs</a:t>
            </a:r>
          </a:p>
          <a:p>
            <a:pPr algn="l">
              <a:lnSpc>
                <a:spcPts val="2200"/>
              </a:lnSpc>
            </a:pPr>
            <a:endParaRPr lang="en-US" sz="2340">
              <a:solidFill>
                <a:srgbClr val="240960"/>
              </a:solidFill>
              <a:latin typeface="Montserrat"/>
              <a:ea typeface="Montserrat"/>
              <a:cs typeface="Montserrat"/>
              <a:sym typeface="Montserrat"/>
            </a:endParaRPr>
          </a:p>
          <a:p>
            <a:pPr algn="l">
              <a:lnSpc>
                <a:spcPts val="2200"/>
              </a:lnSpc>
            </a:pPr>
            <a:r>
              <a:rPr lang="en-US" sz="2340">
                <a:solidFill>
                  <a:srgbClr val="240960"/>
                </a:solidFill>
                <a:latin typeface="Montserrat"/>
                <a:ea typeface="Montserrat"/>
                <a:cs typeface="Montserrat"/>
                <a:sym typeface="Montserrat"/>
              </a:rPr>
              <a:t>Lack of local language support</a:t>
            </a:r>
          </a:p>
          <a:p>
            <a:pPr algn="l">
              <a:lnSpc>
                <a:spcPts val="2200"/>
              </a:lnSpc>
            </a:pPr>
            <a:endParaRPr lang="en-US" sz="2340">
              <a:solidFill>
                <a:srgbClr val="240960"/>
              </a:solidFill>
              <a:latin typeface="Montserrat"/>
              <a:ea typeface="Montserrat"/>
              <a:cs typeface="Montserrat"/>
              <a:sym typeface="Montserrat"/>
            </a:endParaRPr>
          </a:p>
          <a:p>
            <a:pPr algn="l">
              <a:lnSpc>
                <a:spcPts val="2200"/>
              </a:lnSpc>
            </a:pPr>
            <a:r>
              <a:rPr lang="en-US" sz="2340">
                <a:solidFill>
                  <a:srgbClr val="240960"/>
                </a:solidFill>
                <a:latin typeface="Montserrat"/>
                <a:ea typeface="Montserrat"/>
                <a:cs typeface="Montserrat"/>
                <a:sym typeface="Montserrat"/>
              </a:rPr>
              <a:t>Limited accessibility for vision or mobility issues</a:t>
            </a:r>
          </a:p>
        </p:txBody>
      </p:sp>
      <p:sp>
        <p:nvSpPr>
          <p:cNvPr id="24" name="TextBox 24"/>
          <p:cNvSpPr txBox="1"/>
          <p:nvPr/>
        </p:nvSpPr>
        <p:spPr>
          <a:xfrm>
            <a:off x="2004970" y="958856"/>
            <a:ext cx="1194260" cy="251217"/>
          </a:xfrm>
          <a:prstGeom prst="rect">
            <a:avLst/>
          </a:prstGeom>
        </p:spPr>
        <p:txBody>
          <a:bodyPr lIns="0" tIns="0" rIns="0" bIns="0" rtlCol="0" anchor="t">
            <a:spAutoFit/>
          </a:bodyPr>
          <a:lstStyle/>
          <a:p>
            <a:pPr algn="l">
              <a:lnSpc>
                <a:spcPts val="1859"/>
              </a:lnSpc>
            </a:pPr>
            <a:r>
              <a:rPr lang="en-US" sz="1822">
                <a:solidFill>
                  <a:srgbClr val="240960"/>
                </a:solidFill>
                <a:latin typeface="Ahsing"/>
                <a:ea typeface="Ahsing"/>
                <a:cs typeface="Ahsing"/>
                <a:sym typeface="Ahsing"/>
              </a:rPr>
              <a:t>Echopay</a:t>
            </a:r>
          </a:p>
        </p:txBody>
      </p:sp>
      <p:sp>
        <p:nvSpPr>
          <p:cNvPr id="25" name="TextBox 25"/>
          <p:cNvSpPr txBox="1"/>
          <p:nvPr/>
        </p:nvSpPr>
        <p:spPr>
          <a:xfrm>
            <a:off x="5692422" y="1196981"/>
            <a:ext cx="10765782" cy="775780"/>
          </a:xfrm>
          <a:prstGeom prst="rect">
            <a:avLst/>
          </a:prstGeom>
        </p:spPr>
        <p:txBody>
          <a:bodyPr lIns="0" tIns="0" rIns="0" bIns="0" rtlCol="0" anchor="t">
            <a:spAutoFit/>
          </a:bodyPr>
          <a:lstStyle/>
          <a:p>
            <a:pPr algn="l">
              <a:lnSpc>
                <a:spcPts val="5467"/>
              </a:lnSpc>
            </a:pPr>
            <a:r>
              <a:rPr lang="en-US" sz="6833" b="1">
                <a:solidFill>
                  <a:srgbClr val="240960"/>
                </a:solidFill>
                <a:latin typeface="Roca One Bold"/>
                <a:ea typeface="Roca One Bold"/>
                <a:cs typeface="Roca One Bold"/>
                <a:sym typeface="Roca One Bold"/>
              </a:rPr>
              <a:t>PROBLEM  &amp; SOLUTION</a:t>
            </a:r>
          </a:p>
        </p:txBody>
      </p:sp>
      <p:sp>
        <p:nvSpPr>
          <p:cNvPr id="26" name="TextBox 26"/>
          <p:cNvSpPr txBox="1"/>
          <p:nvPr/>
        </p:nvSpPr>
        <p:spPr>
          <a:xfrm>
            <a:off x="7275947" y="2412785"/>
            <a:ext cx="2869223" cy="307694"/>
          </a:xfrm>
          <a:prstGeom prst="rect">
            <a:avLst/>
          </a:prstGeom>
        </p:spPr>
        <p:txBody>
          <a:bodyPr lIns="0" tIns="0" rIns="0" bIns="0" rtlCol="0" anchor="t">
            <a:spAutoFit/>
          </a:bodyPr>
          <a:lstStyle/>
          <a:p>
            <a:pPr algn="l">
              <a:lnSpc>
                <a:spcPts val="2145"/>
              </a:lnSpc>
            </a:pPr>
            <a:r>
              <a:rPr lang="en-US" sz="2681">
                <a:solidFill>
                  <a:srgbClr val="240960"/>
                </a:solidFill>
                <a:latin typeface="Alice Bold"/>
                <a:ea typeface="Alice Bold"/>
                <a:cs typeface="Alice Bold"/>
                <a:sym typeface="Alice Bold"/>
              </a:rPr>
              <a:t>PROBLEM</a:t>
            </a:r>
          </a:p>
        </p:txBody>
      </p:sp>
      <p:sp>
        <p:nvSpPr>
          <p:cNvPr id="27" name="TextBox 27"/>
          <p:cNvSpPr txBox="1"/>
          <p:nvPr/>
        </p:nvSpPr>
        <p:spPr>
          <a:xfrm>
            <a:off x="7588212" y="6909214"/>
            <a:ext cx="10699788" cy="3068169"/>
          </a:xfrm>
          <a:prstGeom prst="rect">
            <a:avLst/>
          </a:prstGeom>
        </p:spPr>
        <p:txBody>
          <a:bodyPr lIns="0" tIns="0" rIns="0" bIns="0" rtlCol="0" anchor="t">
            <a:spAutoFit/>
          </a:bodyPr>
          <a:lstStyle/>
          <a:p>
            <a:pPr algn="l">
              <a:lnSpc>
                <a:spcPts val="2201"/>
              </a:lnSpc>
            </a:pPr>
            <a:r>
              <a:rPr lang="en-US" sz="2341">
                <a:solidFill>
                  <a:srgbClr val="240960"/>
                </a:solidFill>
                <a:latin typeface="Montserrat"/>
                <a:ea typeface="Montserrat"/>
                <a:cs typeface="Montserrat"/>
                <a:sym typeface="Montserrat"/>
              </a:rPr>
              <a:t>A voice-enabled UPI payment app that allows seniors to:</a:t>
            </a:r>
          </a:p>
          <a:p>
            <a:pPr algn="l">
              <a:lnSpc>
                <a:spcPts val="2201"/>
              </a:lnSpc>
            </a:pPr>
            <a:endParaRPr lang="en-US" sz="2341">
              <a:solidFill>
                <a:srgbClr val="240960"/>
              </a:solidFill>
              <a:latin typeface="Montserrat"/>
              <a:ea typeface="Montserrat"/>
              <a:cs typeface="Montserrat"/>
              <a:sym typeface="Montserrat"/>
            </a:endParaRPr>
          </a:p>
          <a:p>
            <a:pPr algn="l">
              <a:lnSpc>
                <a:spcPts val="2201"/>
              </a:lnSpc>
            </a:pPr>
            <a:r>
              <a:rPr lang="en-US" sz="2341">
                <a:solidFill>
                  <a:srgbClr val="240960"/>
                </a:solidFill>
                <a:latin typeface="Montserrat"/>
                <a:ea typeface="Montserrat"/>
                <a:cs typeface="Montserrat"/>
                <a:sym typeface="Montserrat"/>
              </a:rPr>
              <a:t>Get audio confirmation before sending money</a:t>
            </a:r>
          </a:p>
          <a:p>
            <a:pPr algn="l">
              <a:lnSpc>
                <a:spcPts val="2201"/>
              </a:lnSpc>
            </a:pPr>
            <a:endParaRPr lang="en-US" sz="2341">
              <a:solidFill>
                <a:srgbClr val="240960"/>
              </a:solidFill>
              <a:latin typeface="Montserrat"/>
              <a:ea typeface="Montserrat"/>
              <a:cs typeface="Montserrat"/>
              <a:sym typeface="Montserrat"/>
            </a:endParaRPr>
          </a:p>
          <a:p>
            <a:pPr algn="l">
              <a:lnSpc>
                <a:spcPts val="2201"/>
              </a:lnSpc>
            </a:pPr>
            <a:r>
              <a:rPr lang="en-US" sz="2341">
                <a:solidFill>
                  <a:srgbClr val="240960"/>
                </a:solidFill>
                <a:latin typeface="Montserrat"/>
                <a:ea typeface="Montserrat"/>
                <a:cs typeface="Montserrat"/>
                <a:sym typeface="Montserrat"/>
              </a:rPr>
              <a:t>Use Local Indian language voice options</a:t>
            </a:r>
          </a:p>
          <a:p>
            <a:pPr algn="l">
              <a:lnSpc>
                <a:spcPts val="2201"/>
              </a:lnSpc>
            </a:pPr>
            <a:endParaRPr lang="en-US" sz="2341">
              <a:solidFill>
                <a:srgbClr val="240960"/>
              </a:solidFill>
              <a:latin typeface="Montserrat"/>
              <a:ea typeface="Montserrat"/>
              <a:cs typeface="Montserrat"/>
              <a:sym typeface="Montserrat"/>
            </a:endParaRPr>
          </a:p>
          <a:p>
            <a:pPr algn="l">
              <a:lnSpc>
                <a:spcPts val="2201"/>
              </a:lnSpc>
            </a:pPr>
            <a:r>
              <a:rPr lang="en-US" sz="2341">
                <a:solidFill>
                  <a:srgbClr val="240960"/>
                </a:solidFill>
                <a:latin typeface="Montserrat"/>
                <a:ea typeface="Montserrat"/>
                <a:cs typeface="Montserrat"/>
                <a:sym typeface="Montserrat"/>
              </a:rPr>
              <a:t>Experience large icons, minimal screens, and clear instructions</a:t>
            </a:r>
          </a:p>
          <a:p>
            <a:pPr algn="l">
              <a:lnSpc>
                <a:spcPts val="2201"/>
              </a:lnSpc>
            </a:pPr>
            <a:endParaRPr lang="en-US" sz="2341">
              <a:solidFill>
                <a:srgbClr val="240960"/>
              </a:solidFill>
              <a:latin typeface="Montserrat"/>
              <a:ea typeface="Montserrat"/>
              <a:cs typeface="Montserrat"/>
              <a:sym typeface="Montserrat"/>
            </a:endParaRPr>
          </a:p>
          <a:p>
            <a:pPr algn="l">
              <a:lnSpc>
                <a:spcPts val="2201"/>
              </a:lnSpc>
            </a:pPr>
            <a:r>
              <a:rPr lang="en-US" sz="2341">
                <a:solidFill>
                  <a:srgbClr val="240960"/>
                </a:solidFill>
                <a:latin typeface="Montserrat"/>
                <a:ea typeface="Montserrat"/>
                <a:cs typeface="Montserrat"/>
                <a:sym typeface="Montserrat"/>
              </a:rPr>
              <a:t>Build trust through visual + voice feedback after transactions</a:t>
            </a:r>
          </a:p>
          <a:p>
            <a:pPr algn="l">
              <a:lnSpc>
                <a:spcPts val="2201"/>
              </a:lnSpc>
            </a:pPr>
            <a:endParaRPr lang="en-US" sz="2341">
              <a:solidFill>
                <a:srgbClr val="240960"/>
              </a:solidFill>
              <a:latin typeface="Montserrat"/>
              <a:ea typeface="Montserrat"/>
              <a:cs typeface="Montserrat"/>
              <a:sym typeface="Montserrat"/>
            </a:endParaRPr>
          </a:p>
          <a:p>
            <a:pPr algn="l">
              <a:lnSpc>
                <a:spcPts val="2201"/>
              </a:lnSpc>
            </a:pPr>
            <a:r>
              <a:rPr lang="en-US" sz="2341">
                <a:solidFill>
                  <a:srgbClr val="240960"/>
                </a:solidFill>
                <a:latin typeface="Montserrat"/>
                <a:ea typeface="Montserrat"/>
                <a:cs typeface="Montserrat"/>
                <a:sym typeface="Montserrat"/>
              </a:rPr>
              <a:t>Reduce number of steps required to make payments</a:t>
            </a:r>
          </a:p>
        </p:txBody>
      </p:sp>
      <p:sp>
        <p:nvSpPr>
          <p:cNvPr id="28" name="TextBox 28"/>
          <p:cNvSpPr txBox="1"/>
          <p:nvPr/>
        </p:nvSpPr>
        <p:spPr>
          <a:xfrm>
            <a:off x="7278784" y="6382445"/>
            <a:ext cx="4967581" cy="307694"/>
          </a:xfrm>
          <a:prstGeom prst="rect">
            <a:avLst/>
          </a:prstGeom>
        </p:spPr>
        <p:txBody>
          <a:bodyPr lIns="0" tIns="0" rIns="0" bIns="0" rtlCol="0" anchor="t">
            <a:spAutoFit/>
          </a:bodyPr>
          <a:lstStyle/>
          <a:p>
            <a:pPr algn="l">
              <a:lnSpc>
                <a:spcPts val="2145"/>
              </a:lnSpc>
            </a:pPr>
            <a:r>
              <a:rPr lang="en-US" sz="2681">
                <a:solidFill>
                  <a:srgbClr val="240960"/>
                </a:solidFill>
                <a:latin typeface="Alice Bold"/>
                <a:ea typeface="Alice Bold"/>
                <a:cs typeface="Alice Bold"/>
                <a:sym typeface="Alice Bold"/>
              </a:rPr>
              <a:t>SOLUTION</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72917" y="1710815"/>
            <a:ext cx="19526368" cy="2240807"/>
            <a:chOff x="0" y="0"/>
            <a:chExt cx="5142747" cy="590171"/>
          </a:xfrm>
        </p:grpSpPr>
        <p:sp>
          <p:nvSpPr>
            <p:cNvPr id="3" name="Freeform 3"/>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4" name="TextBox 4"/>
            <p:cNvSpPr txBox="1"/>
            <p:nvPr/>
          </p:nvSpPr>
          <p:spPr>
            <a:xfrm>
              <a:off x="0" y="-38100"/>
              <a:ext cx="5142747" cy="62827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438515" y="2280492"/>
            <a:ext cx="7310908" cy="14615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Target </a:t>
            </a:r>
          </a:p>
          <a:p>
            <a:pPr algn="ctr">
              <a:lnSpc>
                <a:spcPts val="5467"/>
              </a:lnSpc>
            </a:pPr>
            <a:r>
              <a:rPr lang="en-US" sz="6833">
                <a:solidFill>
                  <a:srgbClr val="240960"/>
                </a:solidFill>
                <a:latin typeface="Roca One"/>
                <a:ea typeface="Roca One"/>
                <a:cs typeface="Roca One"/>
                <a:sym typeface="Roca One"/>
              </a:rPr>
              <a:t>Audience</a:t>
            </a:r>
          </a:p>
        </p:txBody>
      </p:sp>
      <p:grpSp>
        <p:nvGrpSpPr>
          <p:cNvPr id="7" name="Group 7"/>
          <p:cNvGrpSpPr/>
          <p:nvPr/>
        </p:nvGrpSpPr>
        <p:grpSpPr>
          <a:xfrm>
            <a:off x="-135218" y="-529992"/>
            <a:ext cx="19526368" cy="11937396"/>
            <a:chOff x="0" y="0"/>
            <a:chExt cx="5142747" cy="3144005"/>
          </a:xfrm>
        </p:grpSpPr>
        <p:sp>
          <p:nvSpPr>
            <p:cNvPr id="8" name="Freeform 8"/>
            <p:cNvSpPr/>
            <p:nvPr/>
          </p:nvSpPr>
          <p:spPr>
            <a:xfrm>
              <a:off x="0" y="0"/>
              <a:ext cx="5142747" cy="3144005"/>
            </a:xfrm>
            <a:custGeom>
              <a:avLst/>
              <a:gdLst/>
              <a:ahLst/>
              <a:cxnLst/>
              <a:rect l="l" t="t" r="r" b="b"/>
              <a:pathLst>
                <a:path w="5142747" h="3144005">
                  <a:moveTo>
                    <a:pt x="0" y="0"/>
                  </a:moveTo>
                  <a:lnTo>
                    <a:pt x="5142747" y="0"/>
                  </a:lnTo>
                  <a:lnTo>
                    <a:pt x="5142747" y="3144005"/>
                  </a:lnTo>
                  <a:lnTo>
                    <a:pt x="0" y="3144005"/>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9" name="TextBox 9"/>
            <p:cNvSpPr txBox="1"/>
            <p:nvPr/>
          </p:nvSpPr>
          <p:spPr>
            <a:xfrm>
              <a:off x="0" y="-38100"/>
              <a:ext cx="5142747" cy="318210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5906222" y="-529992"/>
            <a:ext cx="19526368" cy="2240807"/>
            <a:chOff x="0" y="0"/>
            <a:chExt cx="5142747" cy="590171"/>
          </a:xfrm>
        </p:grpSpPr>
        <p:sp>
          <p:nvSpPr>
            <p:cNvPr id="11" name="Freeform 11"/>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2" name="TextBox 12"/>
            <p:cNvSpPr txBox="1"/>
            <p:nvPr/>
          </p:nvSpPr>
          <p:spPr>
            <a:xfrm>
              <a:off x="0" y="-38100"/>
              <a:ext cx="5142747" cy="628271"/>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4" name="Group 14"/>
          <p:cNvGrpSpPr/>
          <p:nvPr/>
        </p:nvGrpSpPr>
        <p:grpSpPr>
          <a:xfrm>
            <a:off x="1236329" y="4380246"/>
            <a:ext cx="4981763" cy="3996239"/>
            <a:chOff x="0" y="0"/>
            <a:chExt cx="1312069" cy="1052507"/>
          </a:xfrm>
        </p:grpSpPr>
        <p:sp>
          <p:nvSpPr>
            <p:cNvPr id="15" name="Freeform 15"/>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16" name="TextBox 16"/>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6603088" y="4380246"/>
            <a:ext cx="4981763" cy="3996239"/>
            <a:chOff x="0" y="0"/>
            <a:chExt cx="1312069" cy="1052507"/>
          </a:xfrm>
        </p:grpSpPr>
        <p:sp>
          <p:nvSpPr>
            <p:cNvPr id="18" name="Freeform 18"/>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19" name="TextBox 19"/>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1822976" y="4380246"/>
            <a:ext cx="4981763" cy="3996239"/>
            <a:chOff x="0" y="0"/>
            <a:chExt cx="1312069" cy="1052507"/>
          </a:xfrm>
        </p:grpSpPr>
        <p:sp>
          <p:nvSpPr>
            <p:cNvPr id="21" name="Freeform 21"/>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22" name="TextBox 22"/>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697372" y="5048224"/>
            <a:ext cx="262038" cy="26203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194073" y="5073021"/>
            <a:ext cx="4024019" cy="307694"/>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Primary Users</a:t>
            </a:r>
          </a:p>
        </p:txBody>
      </p:sp>
      <p:sp>
        <p:nvSpPr>
          <p:cNvPr id="27" name="TextBox 27"/>
          <p:cNvSpPr txBox="1"/>
          <p:nvPr/>
        </p:nvSpPr>
        <p:spPr>
          <a:xfrm>
            <a:off x="8377855" y="5936620"/>
            <a:ext cx="2956473" cy="1040929"/>
          </a:xfrm>
          <a:prstGeom prst="rect">
            <a:avLst/>
          </a:prstGeom>
        </p:spPr>
        <p:txBody>
          <a:bodyPr lIns="0" tIns="0" rIns="0" bIns="0" rtlCol="0" anchor="t">
            <a:spAutoFit/>
          </a:bodyPr>
          <a:lstStyle/>
          <a:p>
            <a:pPr algn="l">
              <a:lnSpc>
                <a:spcPts val="2099"/>
              </a:lnSpc>
            </a:pPr>
            <a:r>
              <a:rPr lang="en-US" sz="2142">
                <a:solidFill>
                  <a:srgbClr val="240960"/>
                </a:solidFill>
                <a:latin typeface="Montserrat"/>
                <a:ea typeface="Montserrat"/>
                <a:cs typeface="Montserrat"/>
                <a:sym typeface="Montserrat"/>
              </a:rPr>
              <a:t>Urban and semi-urban India</a:t>
            </a:r>
          </a:p>
          <a:p>
            <a:pPr algn="l">
              <a:lnSpc>
                <a:spcPts val="2099"/>
              </a:lnSpc>
            </a:pPr>
            <a:endParaRPr lang="en-US" sz="2142">
              <a:solidFill>
                <a:srgbClr val="240960"/>
              </a:solidFill>
              <a:latin typeface="Montserrat"/>
              <a:ea typeface="Montserrat"/>
              <a:cs typeface="Montserrat"/>
              <a:sym typeface="Montserrat"/>
            </a:endParaRPr>
          </a:p>
          <a:p>
            <a:pPr algn="l">
              <a:lnSpc>
                <a:spcPts val="2099"/>
              </a:lnSpc>
            </a:pPr>
            <a:r>
              <a:rPr lang="en-US" sz="2142">
                <a:solidFill>
                  <a:srgbClr val="240960"/>
                </a:solidFill>
                <a:latin typeface="Montserrat"/>
                <a:ea typeface="Montserrat"/>
                <a:cs typeface="Montserrat"/>
                <a:sym typeface="Montserrat"/>
              </a:rPr>
              <a:t>All over India</a:t>
            </a:r>
          </a:p>
        </p:txBody>
      </p:sp>
      <p:grpSp>
        <p:nvGrpSpPr>
          <p:cNvPr id="28" name="Group 28"/>
          <p:cNvGrpSpPr/>
          <p:nvPr/>
        </p:nvGrpSpPr>
        <p:grpSpPr>
          <a:xfrm>
            <a:off x="7240677" y="5063677"/>
            <a:ext cx="262038" cy="26203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7737378" y="5076521"/>
            <a:ext cx="2869223" cy="307694"/>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Location Focus</a:t>
            </a:r>
            <a:r>
              <a:rPr lang="en-US" sz="2681">
                <a:solidFill>
                  <a:srgbClr val="240960"/>
                </a:solidFill>
                <a:latin typeface="Montserrat"/>
                <a:ea typeface="Montserrat"/>
                <a:cs typeface="Montserrat"/>
                <a:sym typeface="Montserrat"/>
              </a:rPr>
              <a:t>:</a:t>
            </a:r>
          </a:p>
        </p:txBody>
      </p:sp>
      <p:grpSp>
        <p:nvGrpSpPr>
          <p:cNvPr id="32" name="Group 32"/>
          <p:cNvGrpSpPr/>
          <p:nvPr/>
        </p:nvGrpSpPr>
        <p:grpSpPr>
          <a:xfrm>
            <a:off x="12783981" y="5079130"/>
            <a:ext cx="262038" cy="26203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13280683" y="5091973"/>
            <a:ext cx="2869223" cy="293089"/>
          </a:xfrm>
          <a:prstGeom prst="rect">
            <a:avLst/>
          </a:prstGeom>
        </p:spPr>
        <p:txBody>
          <a:bodyPr lIns="0" tIns="0" rIns="0" bIns="0" rtlCol="0" anchor="t">
            <a:spAutoFit/>
          </a:bodyPr>
          <a:lstStyle/>
          <a:p>
            <a:pPr algn="l">
              <a:lnSpc>
                <a:spcPts val="2065"/>
              </a:lnSpc>
            </a:pPr>
            <a:r>
              <a:rPr lang="en-US" sz="2581" b="1">
                <a:solidFill>
                  <a:srgbClr val="240960"/>
                </a:solidFill>
                <a:latin typeface="Montserrat Bold"/>
                <a:ea typeface="Montserrat Bold"/>
                <a:cs typeface="Montserrat Bold"/>
                <a:sym typeface="Montserrat Bold"/>
              </a:rPr>
              <a:t>Secondary Users</a:t>
            </a:r>
          </a:p>
        </p:txBody>
      </p:sp>
      <p:grpSp>
        <p:nvGrpSpPr>
          <p:cNvPr id="36" name="Group 36"/>
          <p:cNvGrpSpPr/>
          <p:nvPr/>
        </p:nvGrpSpPr>
        <p:grpSpPr>
          <a:xfrm>
            <a:off x="-448080" y="3005603"/>
            <a:ext cx="1892038" cy="1892038"/>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38" name="TextBox 3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2593838" y="5977435"/>
            <a:ext cx="3310648" cy="9211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Elderly users aged 55+ struggling with digital payments</a:t>
            </a:r>
          </a:p>
        </p:txBody>
      </p:sp>
      <p:sp>
        <p:nvSpPr>
          <p:cNvPr id="40" name="TextBox 40"/>
          <p:cNvSpPr txBox="1"/>
          <p:nvPr/>
        </p:nvSpPr>
        <p:spPr>
          <a:xfrm>
            <a:off x="13494090" y="5977435"/>
            <a:ext cx="3310648" cy="12259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Family members who help seniors manage payments.</a:t>
            </a:r>
          </a:p>
          <a:p>
            <a:pPr algn="l">
              <a:lnSpc>
                <a:spcPts val="2442"/>
              </a:lnSpc>
            </a:pPr>
            <a:endParaRPr lang="en-US" sz="2142">
              <a:solidFill>
                <a:srgbClr val="240960"/>
              </a:solidFill>
              <a:latin typeface="Montserrat"/>
              <a:ea typeface="Montserrat"/>
              <a:cs typeface="Montserrat"/>
              <a:sym typeface="Montserrat"/>
            </a:endParaRPr>
          </a:p>
        </p:txBody>
      </p:sp>
      <p:sp>
        <p:nvSpPr>
          <p:cNvPr id="41" name="TextBox 41"/>
          <p:cNvSpPr txBox="1"/>
          <p:nvPr/>
        </p:nvSpPr>
        <p:spPr>
          <a:xfrm>
            <a:off x="3715156" y="8468104"/>
            <a:ext cx="10857689" cy="616399"/>
          </a:xfrm>
          <a:prstGeom prst="rect">
            <a:avLst/>
          </a:prstGeom>
        </p:spPr>
        <p:txBody>
          <a:bodyPr lIns="0" tIns="0" rIns="0" bIns="0" rtlCol="0" anchor="t">
            <a:spAutoFit/>
          </a:bodyPr>
          <a:lstStyle/>
          <a:p>
            <a:pPr algn="ctr">
              <a:lnSpc>
                <a:spcPts val="2442"/>
              </a:lnSpc>
            </a:pPr>
            <a:r>
              <a:rPr lang="en-US" sz="2142">
                <a:solidFill>
                  <a:srgbClr val="240960"/>
                </a:solidFill>
                <a:latin typeface="Montserrat"/>
                <a:ea typeface="Montserrat"/>
                <a:cs typeface="Montserrat"/>
                <a:sym typeface="Montserrat"/>
              </a:rPr>
              <a:t>To collect detailed insights about the emotions, fears, and comfort levels of elderly users while using UPI payment apps.</a:t>
            </a:r>
          </a:p>
        </p:txBody>
      </p:sp>
      <p:grpSp>
        <p:nvGrpSpPr>
          <p:cNvPr id="42" name="Group 42"/>
          <p:cNvGrpSpPr/>
          <p:nvPr/>
        </p:nvGrpSpPr>
        <p:grpSpPr>
          <a:xfrm>
            <a:off x="-1163233" y="-1262761"/>
            <a:ext cx="5214383" cy="5214383"/>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4" name="TextBox 44"/>
            <p:cNvSpPr txBox="1"/>
            <p:nvPr/>
          </p:nvSpPr>
          <p:spPr>
            <a:xfrm>
              <a:off x="76200" y="28575"/>
              <a:ext cx="660400" cy="708025"/>
            </a:xfrm>
            <a:prstGeom prst="rect">
              <a:avLst/>
            </a:prstGeom>
          </p:spPr>
          <p:txBody>
            <a:bodyPr lIns="165100" tIns="165100" rIns="165100" bIns="165100" rtlCol="0" anchor="ctr"/>
            <a:lstStyle/>
            <a:p>
              <a:pPr algn="ctr">
                <a:lnSpc>
                  <a:spcPts val="2716"/>
                </a:lnSpc>
              </a:pPr>
              <a:endParaRPr/>
            </a:p>
          </p:txBody>
        </p:sp>
      </p:grpSp>
      <p:grpSp>
        <p:nvGrpSpPr>
          <p:cNvPr id="45" name="Group 45"/>
          <p:cNvGrpSpPr/>
          <p:nvPr/>
        </p:nvGrpSpPr>
        <p:grpSpPr>
          <a:xfrm>
            <a:off x="15906222" y="7665440"/>
            <a:ext cx="3185721" cy="3185721"/>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47" name="TextBox 4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8" name="TextBox 48"/>
          <p:cNvSpPr txBox="1"/>
          <p:nvPr/>
        </p:nvSpPr>
        <p:spPr>
          <a:xfrm>
            <a:off x="1959410" y="904048"/>
            <a:ext cx="1456329" cy="300999"/>
          </a:xfrm>
          <a:prstGeom prst="rect">
            <a:avLst/>
          </a:prstGeom>
        </p:spPr>
        <p:txBody>
          <a:bodyPr lIns="0" tIns="0" rIns="0" bIns="0" rtlCol="0" anchor="t">
            <a:spAutoFit/>
          </a:bodyPr>
          <a:lstStyle/>
          <a:p>
            <a:pPr algn="l">
              <a:lnSpc>
                <a:spcPts val="2267"/>
              </a:lnSpc>
            </a:pPr>
            <a:r>
              <a:rPr lang="en-US" sz="2222">
                <a:solidFill>
                  <a:srgbClr val="240960"/>
                </a:solidFill>
                <a:latin typeface="Ahsing"/>
                <a:ea typeface="Ahsing"/>
                <a:cs typeface="Ahsing"/>
                <a:sym typeface="Ahsing"/>
              </a:rPr>
              <a:t>Echopay</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5932312" y="0"/>
            <a:ext cx="13160852" cy="10287000"/>
            <a:chOff x="0" y="0"/>
            <a:chExt cx="9758159" cy="7627331"/>
          </a:xfrm>
        </p:grpSpPr>
        <p:sp>
          <p:nvSpPr>
            <p:cNvPr id="3" name="Freeform 3"/>
            <p:cNvSpPr/>
            <p:nvPr/>
          </p:nvSpPr>
          <p:spPr>
            <a:xfrm>
              <a:off x="0" y="0"/>
              <a:ext cx="9758159" cy="7627331"/>
            </a:xfrm>
            <a:custGeom>
              <a:avLst/>
              <a:gdLst/>
              <a:ahLst/>
              <a:cxnLst/>
              <a:rect l="l" t="t" r="r" b="b"/>
              <a:pathLst>
                <a:path w="9758159" h="7627331">
                  <a:moveTo>
                    <a:pt x="0" y="0"/>
                  </a:moveTo>
                  <a:lnTo>
                    <a:pt x="9758159" y="0"/>
                  </a:lnTo>
                  <a:lnTo>
                    <a:pt x="9758159" y="7627331"/>
                  </a:lnTo>
                  <a:lnTo>
                    <a:pt x="0" y="7627331"/>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9758159" cy="766543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31046" y="-1328013"/>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2071471" y="2602371"/>
            <a:ext cx="4287418" cy="3712904"/>
            <a:chOff x="0" y="0"/>
            <a:chExt cx="6350000" cy="5499100"/>
          </a:xfrm>
        </p:grpSpPr>
        <p:sp>
          <p:nvSpPr>
            <p:cNvPr id="11" name="Freeform 11"/>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6"/>
              <a:stretch>
                <a:fillRect l="-14990" r="-14990"/>
              </a:stretch>
            </a:blipFill>
          </p:spPr>
        </p:sp>
      </p:grpSp>
      <p:grpSp>
        <p:nvGrpSpPr>
          <p:cNvPr id="12" name="Group 12"/>
          <p:cNvGrpSpPr/>
          <p:nvPr/>
        </p:nvGrpSpPr>
        <p:grpSpPr>
          <a:xfrm>
            <a:off x="7721311" y="2602371"/>
            <a:ext cx="4287418" cy="3712904"/>
            <a:chOff x="0" y="0"/>
            <a:chExt cx="6350000" cy="5499100"/>
          </a:xfrm>
        </p:grpSpPr>
        <p:sp>
          <p:nvSpPr>
            <p:cNvPr id="13" name="Freeform 13"/>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7"/>
              <a:stretch>
                <a:fillRect t="-36659" b="-36659"/>
              </a:stretch>
            </a:blipFill>
          </p:spPr>
        </p:sp>
      </p:grpSp>
      <p:grpSp>
        <p:nvGrpSpPr>
          <p:cNvPr id="14" name="Group 14"/>
          <p:cNvGrpSpPr/>
          <p:nvPr/>
        </p:nvGrpSpPr>
        <p:grpSpPr>
          <a:xfrm>
            <a:off x="4856582" y="5545396"/>
            <a:ext cx="4287418" cy="3712904"/>
            <a:chOff x="0" y="0"/>
            <a:chExt cx="6350000" cy="5499100"/>
          </a:xfrm>
        </p:grpSpPr>
        <p:sp>
          <p:nvSpPr>
            <p:cNvPr id="15" name="Freeform 15"/>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8"/>
              <a:stretch>
                <a:fillRect t="-52643" b="-52643"/>
              </a:stretch>
            </a:blipFill>
          </p:spPr>
        </p:sp>
      </p:grpSp>
      <p:grpSp>
        <p:nvGrpSpPr>
          <p:cNvPr id="16" name="Group 16"/>
          <p:cNvGrpSpPr/>
          <p:nvPr/>
        </p:nvGrpSpPr>
        <p:grpSpPr>
          <a:xfrm>
            <a:off x="10568374" y="5545396"/>
            <a:ext cx="4287418" cy="3712904"/>
            <a:chOff x="0" y="0"/>
            <a:chExt cx="6350000" cy="5499100"/>
          </a:xfrm>
        </p:grpSpPr>
        <p:sp>
          <p:nvSpPr>
            <p:cNvPr id="17" name="Freeform 17"/>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9"/>
              <a:stretch>
                <a:fillRect l="-7733" r="-7733"/>
              </a:stretch>
            </a:blipFill>
          </p:spPr>
        </p:sp>
      </p:grpSp>
      <p:grpSp>
        <p:nvGrpSpPr>
          <p:cNvPr id="18" name="Group 18"/>
          <p:cNvGrpSpPr/>
          <p:nvPr/>
        </p:nvGrpSpPr>
        <p:grpSpPr>
          <a:xfrm>
            <a:off x="13371150" y="2602371"/>
            <a:ext cx="4287418" cy="3712904"/>
            <a:chOff x="0" y="0"/>
            <a:chExt cx="6350000" cy="5499100"/>
          </a:xfrm>
        </p:grpSpPr>
        <p:sp>
          <p:nvSpPr>
            <p:cNvPr id="19" name="Freeform 19"/>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10"/>
              <a:stretch>
                <a:fillRect t="-36526" b="-36526"/>
              </a:stretch>
            </a:blipFill>
          </p:spPr>
        </p:sp>
      </p:grpSp>
      <p:sp>
        <p:nvSpPr>
          <p:cNvPr id="20" name="TextBox 20"/>
          <p:cNvSpPr txBox="1"/>
          <p:nvPr/>
        </p:nvSpPr>
        <p:spPr>
          <a:xfrm>
            <a:off x="2514606" y="4135291"/>
            <a:ext cx="3401148" cy="580390"/>
          </a:xfrm>
          <a:prstGeom prst="rect">
            <a:avLst/>
          </a:prstGeom>
        </p:spPr>
        <p:txBody>
          <a:bodyPr lIns="0" tIns="0" rIns="0" bIns="0" rtlCol="0" anchor="t">
            <a:spAutoFit/>
          </a:bodyPr>
          <a:lstStyle/>
          <a:p>
            <a:pPr algn="ctr">
              <a:lnSpc>
                <a:spcPts val="4759"/>
              </a:lnSpc>
            </a:pPr>
            <a:r>
              <a:rPr lang="en-US" sz="3399">
                <a:solidFill>
                  <a:srgbClr val="240960"/>
                </a:solidFill>
                <a:latin typeface="Canva Sans"/>
                <a:ea typeface="Canva Sans"/>
                <a:cs typeface="Canva Sans"/>
                <a:sym typeface="Canva Sans"/>
              </a:rPr>
              <a:t>Empathize</a:t>
            </a:r>
          </a:p>
        </p:txBody>
      </p:sp>
      <p:sp>
        <p:nvSpPr>
          <p:cNvPr id="21" name="TextBox 21"/>
          <p:cNvSpPr txBox="1"/>
          <p:nvPr/>
        </p:nvSpPr>
        <p:spPr>
          <a:xfrm>
            <a:off x="8164446" y="4135291"/>
            <a:ext cx="3401148" cy="580390"/>
          </a:xfrm>
          <a:prstGeom prst="rect">
            <a:avLst/>
          </a:prstGeom>
        </p:spPr>
        <p:txBody>
          <a:bodyPr lIns="0" tIns="0" rIns="0" bIns="0" rtlCol="0" anchor="t">
            <a:spAutoFit/>
          </a:bodyPr>
          <a:lstStyle/>
          <a:p>
            <a:pPr algn="ctr">
              <a:lnSpc>
                <a:spcPts val="4759"/>
              </a:lnSpc>
            </a:pPr>
            <a:r>
              <a:rPr lang="en-US" sz="3399">
                <a:solidFill>
                  <a:srgbClr val="240960"/>
                </a:solidFill>
                <a:latin typeface="Canva Sans"/>
                <a:ea typeface="Canva Sans"/>
                <a:cs typeface="Canva Sans"/>
                <a:sym typeface="Canva Sans"/>
              </a:rPr>
              <a:t>Ideate</a:t>
            </a:r>
          </a:p>
        </p:txBody>
      </p:sp>
      <p:sp>
        <p:nvSpPr>
          <p:cNvPr id="22" name="TextBox 22"/>
          <p:cNvSpPr txBox="1"/>
          <p:nvPr/>
        </p:nvSpPr>
        <p:spPr>
          <a:xfrm>
            <a:off x="5299717" y="7078315"/>
            <a:ext cx="3401148" cy="580390"/>
          </a:xfrm>
          <a:prstGeom prst="rect">
            <a:avLst/>
          </a:prstGeom>
        </p:spPr>
        <p:txBody>
          <a:bodyPr lIns="0" tIns="0" rIns="0" bIns="0" rtlCol="0" anchor="t">
            <a:spAutoFit/>
          </a:bodyPr>
          <a:lstStyle/>
          <a:p>
            <a:pPr algn="ctr">
              <a:lnSpc>
                <a:spcPts val="4759"/>
              </a:lnSpc>
            </a:pPr>
            <a:r>
              <a:rPr lang="en-US" sz="3399">
                <a:solidFill>
                  <a:srgbClr val="240960"/>
                </a:solidFill>
                <a:latin typeface="Canva Sans"/>
                <a:ea typeface="Canva Sans"/>
                <a:cs typeface="Canva Sans"/>
                <a:sym typeface="Canva Sans"/>
              </a:rPr>
              <a:t>Define</a:t>
            </a:r>
          </a:p>
        </p:txBody>
      </p:sp>
      <p:sp>
        <p:nvSpPr>
          <p:cNvPr id="23" name="TextBox 23"/>
          <p:cNvSpPr txBox="1"/>
          <p:nvPr/>
        </p:nvSpPr>
        <p:spPr>
          <a:xfrm>
            <a:off x="11011509" y="7078315"/>
            <a:ext cx="3401148" cy="580390"/>
          </a:xfrm>
          <a:prstGeom prst="rect">
            <a:avLst/>
          </a:prstGeom>
        </p:spPr>
        <p:txBody>
          <a:bodyPr lIns="0" tIns="0" rIns="0" bIns="0" rtlCol="0" anchor="t">
            <a:spAutoFit/>
          </a:bodyPr>
          <a:lstStyle/>
          <a:p>
            <a:pPr algn="ctr">
              <a:lnSpc>
                <a:spcPts val="4759"/>
              </a:lnSpc>
            </a:pPr>
            <a:r>
              <a:rPr lang="en-US" sz="3399">
                <a:solidFill>
                  <a:srgbClr val="240960"/>
                </a:solidFill>
                <a:latin typeface="Canva Sans"/>
                <a:ea typeface="Canva Sans"/>
                <a:cs typeface="Canva Sans"/>
                <a:sym typeface="Canva Sans"/>
              </a:rPr>
              <a:t>Design </a:t>
            </a:r>
          </a:p>
        </p:txBody>
      </p:sp>
      <p:sp>
        <p:nvSpPr>
          <p:cNvPr id="24" name="TextBox 24"/>
          <p:cNvSpPr txBox="1"/>
          <p:nvPr/>
        </p:nvSpPr>
        <p:spPr>
          <a:xfrm>
            <a:off x="13814285" y="4135291"/>
            <a:ext cx="3401148" cy="580390"/>
          </a:xfrm>
          <a:prstGeom prst="rect">
            <a:avLst/>
          </a:prstGeom>
        </p:spPr>
        <p:txBody>
          <a:bodyPr lIns="0" tIns="0" rIns="0" bIns="0" rtlCol="0" anchor="t">
            <a:spAutoFit/>
          </a:bodyPr>
          <a:lstStyle/>
          <a:p>
            <a:pPr algn="ctr">
              <a:lnSpc>
                <a:spcPts val="4759"/>
              </a:lnSpc>
            </a:pPr>
            <a:r>
              <a:rPr lang="en-US" sz="3399">
                <a:solidFill>
                  <a:srgbClr val="240960"/>
                </a:solidFill>
                <a:latin typeface="Canva Sans"/>
                <a:ea typeface="Canva Sans"/>
                <a:cs typeface="Canva Sans"/>
                <a:sym typeface="Canva Sans"/>
              </a:rPr>
              <a:t>Test</a:t>
            </a:r>
          </a:p>
        </p:txBody>
      </p:sp>
      <p:sp>
        <p:nvSpPr>
          <p:cNvPr id="25" name="TextBox 25"/>
          <p:cNvSpPr txBox="1"/>
          <p:nvPr/>
        </p:nvSpPr>
        <p:spPr>
          <a:xfrm>
            <a:off x="5045411" y="769398"/>
            <a:ext cx="7310908" cy="7757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Design Thinking</a:t>
            </a:r>
          </a:p>
        </p:txBody>
      </p:sp>
      <p:grpSp>
        <p:nvGrpSpPr>
          <p:cNvPr id="26" name="Group 26"/>
          <p:cNvGrpSpPr/>
          <p:nvPr/>
        </p:nvGrpSpPr>
        <p:grpSpPr>
          <a:xfrm rot="-1608740">
            <a:off x="-983421" y="2790212"/>
            <a:ext cx="2823508" cy="282350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7ACFF">
                    <a:alpha val="0"/>
                  </a:srgbClr>
                </a:gs>
                <a:gs pos="50000">
                  <a:srgbClr val="6B4CAF">
                    <a:alpha val="33350"/>
                  </a:srgbClr>
                </a:gs>
                <a:gs pos="100000">
                  <a:srgbClr val="3C67BF">
                    <a:alpha val="58000"/>
                  </a:srgbClr>
                </a:gs>
              </a:gsLst>
              <a:lin ang="0"/>
            </a:gra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5051377" y="7044887"/>
            <a:ext cx="5214383" cy="5214383"/>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071471" y="941114"/>
            <a:ext cx="1456329" cy="300999"/>
          </a:xfrm>
          <a:prstGeom prst="rect">
            <a:avLst/>
          </a:prstGeom>
        </p:spPr>
        <p:txBody>
          <a:bodyPr lIns="0" tIns="0" rIns="0" bIns="0" rtlCol="0" anchor="t">
            <a:spAutoFit/>
          </a:bodyPr>
          <a:lstStyle/>
          <a:p>
            <a:pPr algn="l">
              <a:lnSpc>
                <a:spcPts val="2267"/>
              </a:lnSpc>
            </a:pPr>
            <a:r>
              <a:rPr lang="en-US" sz="2222">
                <a:solidFill>
                  <a:srgbClr val="240960"/>
                </a:solidFill>
                <a:latin typeface="Ahsing"/>
                <a:ea typeface="Ahsing"/>
                <a:cs typeface="Ahsing"/>
                <a:sym typeface="Ahsing"/>
              </a:rPr>
              <a:t>Echopay</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0" y="2110829"/>
            <a:ext cx="19795102" cy="6320087"/>
            <a:chOff x="0" y="0"/>
            <a:chExt cx="5213525" cy="1664550"/>
          </a:xfrm>
        </p:grpSpPr>
        <p:sp>
          <p:nvSpPr>
            <p:cNvPr id="3" name="Freeform 3"/>
            <p:cNvSpPr/>
            <p:nvPr/>
          </p:nvSpPr>
          <p:spPr>
            <a:xfrm>
              <a:off x="0" y="0"/>
              <a:ext cx="5213525" cy="1664550"/>
            </a:xfrm>
            <a:custGeom>
              <a:avLst/>
              <a:gdLst/>
              <a:ahLst/>
              <a:cxnLst/>
              <a:rect l="l" t="t" r="r" b="b"/>
              <a:pathLst>
                <a:path w="5213525" h="1664550">
                  <a:moveTo>
                    <a:pt x="0" y="0"/>
                  </a:moveTo>
                  <a:lnTo>
                    <a:pt x="5213525" y="0"/>
                  </a:lnTo>
                  <a:lnTo>
                    <a:pt x="5213525" y="1664550"/>
                  </a:lnTo>
                  <a:lnTo>
                    <a:pt x="0" y="1664550"/>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4" name="TextBox 4"/>
            <p:cNvSpPr txBox="1"/>
            <p:nvPr/>
          </p:nvSpPr>
          <p:spPr>
            <a:xfrm>
              <a:off x="0" y="-38100"/>
              <a:ext cx="5213525" cy="1702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59264" y="2139354"/>
            <a:ext cx="17568356" cy="6320087"/>
            <a:chOff x="0" y="0"/>
            <a:chExt cx="4627057" cy="1664550"/>
          </a:xfrm>
        </p:grpSpPr>
        <p:sp>
          <p:nvSpPr>
            <p:cNvPr id="6" name="Freeform 6"/>
            <p:cNvSpPr/>
            <p:nvPr/>
          </p:nvSpPr>
          <p:spPr>
            <a:xfrm>
              <a:off x="0" y="0"/>
              <a:ext cx="4627057" cy="1664550"/>
            </a:xfrm>
            <a:custGeom>
              <a:avLst/>
              <a:gdLst/>
              <a:ahLst/>
              <a:cxnLst/>
              <a:rect l="l" t="t" r="r" b="b"/>
              <a:pathLst>
                <a:path w="4627057" h="1664550">
                  <a:moveTo>
                    <a:pt x="0" y="0"/>
                  </a:moveTo>
                  <a:lnTo>
                    <a:pt x="4627057" y="0"/>
                  </a:lnTo>
                  <a:lnTo>
                    <a:pt x="4627057" y="1664550"/>
                  </a:lnTo>
                  <a:lnTo>
                    <a:pt x="0" y="1664550"/>
                  </a:lnTo>
                  <a:close/>
                </a:path>
              </a:pathLst>
            </a:custGeom>
            <a:solidFill>
              <a:srgbClr val="EDE5FF"/>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7" name="TextBox 7"/>
            <p:cNvSpPr txBox="1"/>
            <p:nvPr/>
          </p:nvSpPr>
          <p:spPr>
            <a:xfrm>
              <a:off x="0" y="-38100"/>
              <a:ext cx="4627057" cy="170265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35435" y="1317278"/>
            <a:ext cx="6179058" cy="8229600"/>
          </a:xfrm>
          <a:custGeom>
            <a:avLst/>
            <a:gdLst/>
            <a:ahLst/>
            <a:cxnLst/>
            <a:rect l="l" t="t" r="r" b="b"/>
            <a:pathLst>
              <a:path w="6179058" h="8229600">
                <a:moveTo>
                  <a:pt x="0" y="0"/>
                </a:moveTo>
                <a:lnTo>
                  <a:pt x="6179058" y="0"/>
                </a:lnTo>
                <a:lnTo>
                  <a:pt x="6179058" y="8229600"/>
                </a:lnTo>
                <a:lnTo>
                  <a:pt x="0" y="8229600"/>
                </a:lnTo>
                <a:lnTo>
                  <a:pt x="0" y="0"/>
                </a:lnTo>
                <a:close/>
              </a:path>
            </a:pathLst>
          </a:custGeom>
          <a:blipFill>
            <a:blip r:embed="rId2"/>
            <a:stretch>
              <a:fillRect/>
            </a:stretch>
          </a:blipFill>
        </p:spPr>
      </p:sp>
      <p:sp>
        <p:nvSpPr>
          <p:cNvPr id="9" name="Freeform 9"/>
          <p:cNvSpPr/>
          <p:nvPr/>
        </p:nvSpPr>
        <p:spPr>
          <a:xfrm>
            <a:off x="1347804" y="547750"/>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536475" y="2110829"/>
            <a:ext cx="3576977" cy="6523460"/>
            <a:chOff x="0" y="0"/>
            <a:chExt cx="1018337" cy="1857178"/>
          </a:xfrm>
        </p:grpSpPr>
        <p:sp>
          <p:nvSpPr>
            <p:cNvPr id="11" name="Freeform 11"/>
            <p:cNvSpPr/>
            <p:nvPr/>
          </p:nvSpPr>
          <p:spPr>
            <a:xfrm>
              <a:off x="0" y="0"/>
              <a:ext cx="1018337" cy="1857178"/>
            </a:xfrm>
            <a:custGeom>
              <a:avLst/>
              <a:gdLst/>
              <a:ahLst/>
              <a:cxnLst/>
              <a:rect l="l" t="t" r="r" b="b"/>
              <a:pathLst>
                <a:path w="1018337" h="1857178">
                  <a:moveTo>
                    <a:pt x="0" y="0"/>
                  </a:moveTo>
                  <a:lnTo>
                    <a:pt x="1018337" y="0"/>
                  </a:lnTo>
                  <a:lnTo>
                    <a:pt x="1018337" y="1857178"/>
                  </a:lnTo>
                  <a:lnTo>
                    <a:pt x="0" y="1857178"/>
                  </a:lnTo>
                  <a:close/>
                </a:path>
              </a:pathLst>
            </a:custGeom>
            <a:blipFill>
              <a:blip r:embed="rId5"/>
              <a:stretch>
                <a:fillRect l="-10753" r="-10753"/>
              </a:stretch>
            </a:blipFill>
          </p:spPr>
        </p:sp>
      </p:grpSp>
      <p:grpSp>
        <p:nvGrpSpPr>
          <p:cNvPr id="12" name="Group 12"/>
          <p:cNvGrpSpPr/>
          <p:nvPr/>
        </p:nvGrpSpPr>
        <p:grpSpPr>
          <a:xfrm rot="6227698">
            <a:off x="-285203" y="8389361"/>
            <a:ext cx="2315034" cy="231503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974719" y="633519"/>
            <a:ext cx="1194260" cy="251217"/>
          </a:xfrm>
          <a:prstGeom prst="rect">
            <a:avLst/>
          </a:prstGeom>
        </p:spPr>
        <p:txBody>
          <a:bodyPr lIns="0" tIns="0" rIns="0" bIns="0" rtlCol="0" anchor="t">
            <a:spAutoFit/>
          </a:bodyPr>
          <a:lstStyle/>
          <a:p>
            <a:pPr algn="l">
              <a:lnSpc>
                <a:spcPts val="1859"/>
              </a:lnSpc>
            </a:pPr>
            <a:r>
              <a:rPr lang="en-US" sz="1822">
                <a:solidFill>
                  <a:srgbClr val="240960"/>
                </a:solidFill>
                <a:latin typeface="Ahsing"/>
                <a:ea typeface="Ahsing"/>
                <a:cs typeface="Ahsing"/>
                <a:sym typeface="Ahsing"/>
              </a:rPr>
              <a:t>EchoPay</a:t>
            </a:r>
          </a:p>
        </p:txBody>
      </p:sp>
      <p:sp>
        <p:nvSpPr>
          <p:cNvPr id="16" name="TextBox 16"/>
          <p:cNvSpPr txBox="1"/>
          <p:nvPr/>
        </p:nvSpPr>
        <p:spPr>
          <a:xfrm>
            <a:off x="5548447" y="1334501"/>
            <a:ext cx="7191107" cy="1461580"/>
          </a:xfrm>
          <a:prstGeom prst="rect">
            <a:avLst/>
          </a:prstGeom>
        </p:spPr>
        <p:txBody>
          <a:bodyPr lIns="0" tIns="0" rIns="0" bIns="0" rtlCol="0" anchor="t">
            <a:spAutoFit/>
          </a:bodyPr>
          <a:lstStyle/>
          <a:p>
            <a:pPr algn="l">
              <a:lnSpc>
                <a:spcPts val="5467"/>
              </a:lnSpc>
            </a:pPr>
            <a:r>
              <a:rPr lang="en-US" sz="6833">
                <a:solidFill>
                  <a:srgbClr val="240960"/>
                </a:solidFill>
                <a:latin typeface="Roca One"/>
                <a:ea typeface="Roca One"/>
                <a:cs typeface="Roca One"/>
                <a:sym typeface="Roca One"/>
              </a:rPr>
              <a:t>User Research</a:t>
            </a:r>
          </a:p>
          <a:p>
            <a:pPr algn="l">
              <a:lnSpc>
                <a:spcPts val="5467"/>
              </a:lnSpc>
            </a:pPr>
            <a:endParaRPr lang="en-US" sz="6833">
              <a:solidFill>
                <a:srgbClr val="240960"/>
              </a:solidFill>
              <a:latin typeface="Roca One"/>
              <a:ea typeface="Roca One"/>
              <a:cs typeface="Roca One"/>
              <a:sym typeface="Roca One"/>
            </a:endParaRPr>
          </a:p>
        </p:txBody>
      </p:sp>
      <p:grpSp>
        <p:nvGrpSpPr>
          <p:cNvPr id="17" name="Group 17"/>
          <p:cNvGrpSpPr/>
          <p:nvPr/>
        </p:nvGrpSpPr>
        <p:grpSpPr>
          <a:xfrm>
            <a:off x="91484" y="1686042"/>
            <a:ext cx="1256320" cy="125632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5102279" y="-313682"/>
            <a:ext cx="3185721" cy="318572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7403566" y="1871985"/>
            <a:ext cx="884434" cy="88443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7" name="Group 27"/>
          <p:cNvGrpSpPr/>
          <p:nvPr/>
        </p:nvGrpSpPr>
        <p:grpSpPr>
          <a:xfrm>
            <a:off x="5438717" y="7188587"/>
            <a:ext cx="12788904" cy="1217082"/>
            <a:chOff x="0" y="0"/>
            <a:chExt cx="17051872" cy="1622776"/>
          </a:xfrm>
        </p:grpSpPr>
        <p:sp>
          <p:nvSpPr>
            <p:cNvPr id="28" name="TextBox 28"/>
            <p:cNvSpPr txBox="1"/>
            <p:nvPr/>
          </p:nvSpPr>
          <p:spPr>
            <a:xfrm>
              <a:off x="0" y="104775"/>
              <a:ext cx="4801739" cy="432483"/>
            </a:xfrm>
            <a:prstGeom prst="rect">
              <a:avLst/>
            </a:prstGeom>
          </p:spPr>
          <p:txBody>
            <a:bodyPr lIns="0" tIns="0" rIns="0" bIns="0" rtlCol="0" anchor="t">
              <a:spAutoFit/>
            </a:bodyPr>
            <a:lstStyle/>
            <a:p>
              <a:pPr algn="l">
                <a:lnSpc>
                  <a:spcPts val="2145"/>
                </a:lnSpc>
              </a:pPr>
              <a:r>
                <a:rPr lang="en-US" sz="2681">
                  <a:solidFill>
                    <a:srgbClr val="240960"/>
                  </a:solidFill>
                  <a:latin typeface="Roca One"/>
                  <a:ea typeface="Roca One"/>
                  <a:cs typeface="Roca One"/>
                  <a:sym typeface="Roca One"/>
                </a:rPr>
                <a:t>🧩 Insights:</a:t>
              </a:r>
            </a:p>
          </p:txBody>
        </p:sp>
        <p:sp>
          <p:nvSpPr>
            <p:cNvPr id="29" name="TextBox 29"/>
            <p:cNvSpPr txBox="1"/>
            <p:nvPr/>
          </p:nvSpPr>
          <p:spPr>
            <a:xfrm>
              <a:off x="1341234" y="537258"/>
              <a:ext cx="15710638" cy="1085517"/>
            </a:xfrm>
            <a:prstGeom prst="rect">
              <a:avLst/>
            </a:prstGeom>
          </p:spPr>
          <p:txBody>
            <a:bodyPr lIns="0" tIns="0" rIns="0" bIns="0" rtlCol="0" anchor="t">
              <a:spAutoFit/>
            </a:bodyPr>
            <a:lstStyle/>
            <a:p>
              <a:pPr algn="l">
                <a:lnSpc>
                  <a:spcPts val="2100"/>
                </a:lnSpc>
              </a:pPr>
              <a:r>
                <a:rPr lang="en-US" sz="1842">
                  <a:solidFill>
                    <a:srgbClr val="240960"/>
                  </a:solidFill>
                  <a:latin typeface="Montserrat"/>
                  <a:ea typeface="Montserrat"/>
                  <a:cs typeface="Montserrat"/>
                  <a:sym typeface="Montserrat"/>
                </a:rPr>
                <a:t>Users want control + simplicity.</a:t>
              </a:r>
            </a:p>
            <a:p>
              <a:pPr algn="l">
                <a:lnSpc>
                  <a:spcPts val="2100"/>
                </a:lnSpc>
              </a:pPr>
              <a:endParaRPr lang="en-US" sz="1842">
                <a:solidFill>
                  <a:srgbClr val="240960"/>
                </a:solidFill>
                <a:latin typeface="Montserrat"/>
                <a:ea typeface="Montserrat"/>
                <a:cs typeface="Montserrat"/>
                <a:sym typeface="Montserrat"/>
              </a:endParaRPr>
            </a:p>
            <a:p>
              <a:pPr algn="l">
                <a:lnSpc>
                  <a:spcPts val="2100"/>
                </a:lnSpc>
              </a:pPr>
              <a:r>
                <a:rPr lang="en-US" sz="1842">
                  <a:solidFill>
                    <a:srgbClr val="240960"/>
                  </a:solidFill>
                  <a:latin typeface="Montserrat"/>
                  <a:ea typeface="Montserrat"/>
                  <a:cs typeface="Montserrat"/>
                  <a:sym typeface="Montserrat"/>
                </a:rPr>
                <a:t>Familiarity with voice assistants (Google Assistant) makes this concept feasible.</a:t>
              </a:r>
            </a:p>
          </p:txBody>
        </p:sp>
      </p:grpSp>
      <p:grpSp>
        <p:nvGrpSpPr>
          <p:cNvPr id="30" name="Group 30"/>
          <p:cNvGrpSpPr/>
          <p:nvPr/>
        </p:nvGrpSpPr>
        <p:grpSpPr>
          <a:xfrm>
            <a:off x="6841271" y="2488418"/>
            <a:ext cx="10135515" cy="4509275"/>
            <a:chOff x="0" y="0"/>
            <a:chExt cx="13514020" cy="6012366"/>
          </a:xfrm>
        </p:grpSpPr>
        <p:sp>
          <p:nvSpPr>
            <p:cNvPr id="31" name="TextBox 31"/>
            <p:cNvSpPr txBox="1"/>
            <p:nvPr/>
          </p:nvSpPr>
          <p:spPr>
            <a:xfrm>
              <a:off x="0" y="-57150"/>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How often do you use digital payments (UPI)?</a:t>
              </a:r>
            </a:p>
          </p:txBody>
        </p:sp>
        <p:sp>
          <p:nvSpPr>
            <p:cNvPr id="32" name="TextBox 32"/>
            <p:cNvSpPr txBox="1"/>
            <p:nvPr/>
          </p:nvSpPr>
          <p:spPr>
            <a:xfrm>
              <a:off x="0" y="652806"/>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What problems do you face while using UPI apps?</a:t>
              </a:r>
            </a:p>
          </p:txBody>
        </p:sp>
        <p:sp>
          <p:nvSpPr>
            <p:cNvPr id="33" name="TextBox 33"/>
            <p:cNvSpPr txBox="1"/>
            <p:nvPr/>
          </p:nvSpPr>
          <p:spPr>
            <a:xfrm>
              <a:off x="0" y="1365469"/>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Which language do you prefer for digital payments?</a:t>
              </a:r>
            </a:p>
          </p:txBody>
        </p:sp>
        <p:sp>
          <p:nvSpPr>
            <p:cNvPr id="34" name="TextBox 34"/>
            <p:cNvSpPr txBox="1"/>
            <p:nvPr/>
          </p:nvSpPr>
          <p:spPr>
            <a:xfrm>
              <a:off x="0" y="2078133"/>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Have you ever made a payment mistake online?</a:t>
              </a:r>
            </a:p>
          </p:txBody>
        </p:sp>
        <p:sp>
          <p:nvSpPr>
            <p:cNvPr id="35" name="TextBox 35"/>
            <p:cNvSpPr txBox="1"/>
            <p:nvPr/>
          </p:nvSpPr>
          <p:spPr>
            <a:xfrm>
              <a:off x="0" y="2790797"/>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Would you prefer voice-based help while making payments?</a:t>
              </a:r>
            </a:p>
          </p:txBody>
        </p:sp>
        <p:sp>
          <p:nvSpPr>
            <p:cNvPr id="36" name="TextBox 36"/>
            <p:cNvSpPr txBox="1"/>
            <p:nvPr/>
          </p:nvSpPr>
          <p:spPr>
            <a:xfrm>
              <a:off x="0" y="3503460"/>
              <a:ext cx="13514020" cy="10835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Do you seek help from family members to complete payments?</a:t>
              </a:r>
            </a:p>
          </p:txBody>
        </p:sp>
        <p:sp>
          <p:nvSpPr>
            <p:cNvPr id="37" name="TextBox 37"/>
            <p:cNvSpPr txBox="1"/>
            <p:nvPr/>
          </p:nvSpPr>
          <p:spPr>
            <a:xfrm>
              <a:off x="0" y="4774924"/>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Would you like an app that confirms transactions by voice?</a:t>
              </a:r>
            </a:p>
          </p:txBody>
        </p:sp>
        <p:sp>
          <p:nvSpPr>
            <p:cNvPr id="38" name="TextBox 38"/>
            <p:cNvSpPr txBox="1"/>
            <p:nvPr/>
          </p:nvSpPr>
          <p:spPr>
            <a:xfrm>
              <a:off x="0" y="5487588"/>
              <a:ext cx="13514020" cy="524778"/>
            </a:xfrm>
            <a:prstGeom prst="rect">
              <a:avLst/>
            </a:prstGeom>
          </p:spPr>
          <p:txBody>
            <a:bodyPr lIns="0" tIns="0" rIns="0" bIns="0" rtlCol="0" anchor="t">
              <a:spAutoFit/>
            </a:bodyPr>
            <a:lstStyle/>
            <a:p>
              <a:pPr marL="505408" lvl="1" indent="-252704" algn="l">
                <a:lnSpc>
                  <a:spcPts val="3347"/>
                </a:lnSpc>
                <a:buFont typeface="Arial"/>
                <a:buChar char="•"/>
              </a:pPr>
              <a:r>
                <a:rPr lang="en-US" sz="2340" spc="37">
                  <a:solidFill>
                    <a:srgbClr val="240960"/>
                  </a:solidFill>
                  <a:latin typeface="Montserrat"/>
                  <a:ea typeface="Montserrat"/>
                  <a:cs typeface="Montserrat"/>
                  <a:sym typeface="Montserrat"/>
                </a:rPr>
                <a:t>How confident do you feel while making payments alone?</a:t>
              </a:r>
            </a:p>
          </p:txBody>
        </p:sp>
      </p:gr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15407079" y="-8882"/>
            <a:ext cx="3185721" cy="318572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08366" y="2176785"/>
            <a:ext cx="884434" cy="8844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2400" y="7817840"/>
            <a:ext cx="3185721" cy="318572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aphicFrame>
        <p:nvGraphicFramePr>
          <p:cNvPr id="11" name="Object 11"/>
          <p:cNvGraphicFramePr/>
          <p:nvPr/>
        </p:nvGraphicFramePr>
        <p:xfrm>
          <a:off x="2835011" y="2176785"/>
          <a:ext cx="12134404" cy="6910527"/>
        </p:xfrm>
        <a:graphic>
          <a:graphicData uri="http://schemas.openxmlformats.org/presentationml/2006/ole">
            <mc:AlternateContent xmlns:mc="http://schemas.openxmlformats.org/markup-compatibility/2006">
              <mc:Choice xmlns:v="urn:schemas-microsoft-com:vml" Requires="v">
                <p:oleObj name="Worksheet" r:id="rId2" imgW="14554200" imgH="9334500" progId="Excel.Sheet.12">
                  <p:embed/>
                </p:oleObj>
              </mc:Choice>
              <mc:Fallback>
                <p:oleObj name="Worksheet" r:id="rId2" imgW="14554200" imgH="9334500" progId="Excel.Sheet.12">
                  <p:embed/>
                  <p:pic>
                    <p:nvPicPr>
                      <p:cNvPr id="11" name="Object 11"/>
                      <p:cNvPicPr/>
                      <p:nvPr/>
                    </p:nvPicPr>
                    <p:blipFill>
                      <a:blip r:embed="rId3"/>
                      <a:stretch>
                        <a:fillRect/>
                      </a:stretch>
                    </p:blipFill>
                    <p:spPr>
                      <a:xfrm>
                        <a:off x="2835011" y="2176785"/>
                        <a:ext cx="12134404" cy="6910527"/>
                      </a:xfrm>
                      <a:prstGeom prst="rect">
                        <a:avLst/>
                      </a:prstGeom>
                    </p:spPr>
                  </p:pic>
                </p:oleObj>
              </mc:Fallback>
            </mc:AlternateContent>
          </a:graphicData>
        </a:graphic>
      </p:graphicFrame>
      <p:sp>
        <p:nvSpPr>
          <p:cNvPr id="12" name="TextBox 12"/>
          <p:cNvSpPr txBox="1"/>
          <p:nvPr/>
        </p:nvSpPr>
        <p:spPr>
          <a:xfrm>
            <a:off x="5239148" y="808199"/>
            <a:ext cx="9182302" cy="7757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Competitor Analysis</a:t>
            </a:r>
          </a:p>
        </p:txBody>
      </p:sp>
      <p:sp>
        <p:nvSpPr>
          <p:cNvPr id="13" name="TextBox 13"/>
          <p:cNvSpPr txBox="1"/>
          <p:nvPr/>
        </p:nvSpPr>
        <p:spPr>
          <a:xfrm>
            <a:off x="7732983" y="7897636"/>
            <a:ext cx="2822034" cy="727710"/>
          </a:xfrm>
          <a:prstGeom prst="rect">
            <a:avLst/>
          </a:prstGeom>
        </p:spPr>
        <p:txBody>
          <a:bodyPr lIns="0" tIns="0" rIns="0" bIns="0" rtlCol="0" anchor="t">
            <a:spAutoFit/>
          </a:bodyPr>
          <a:lstStyle/>
          <a:p>
            <a:pPr algn="ctr">
              <a:lnSpc>
                <a:spcPts val="2940"/>
              </a:lnSpc>
            </a:pPr>
            <a:r>
              <a:rPr lang="en-US" sz="2100">
                <a:solidFill>
                  <a:srgbClr val="240960"/>
                </a:solidFill>
                <a:latin typeface="Canva Sans"/>
                <a:ea typeface="Canva Sans"/>
                <a:cs typeface="Canva Sans"/>
                <a:sym typeface="Canva Sans"/>
              </a:rPr>
              <a:t>Payments, recharges, insurance, gold</a:t>
            </a:r>
          </a:p>
        </p:txBody>
      </p:sp>
      <p:sp>
        <p:nvSpPr>
          <p:cNvPr id="14" name="TextBox 14"/>
          <p:cNvSpPr txBox="1"/>
          <p:nvPr/>
        </p:nvSpPr>
        <p:spPr>
          <a:xfrm>
            <a:off x="14035914" y="7711899"/>
            <a:ext cx="2248828" cy="1099185"/>
          </a:xfrm>
          <a:prstGeom prst="rect">
            <a:avLst/>
          </a:prstGeom>
        </p:spPr>
        <p:txBody>
          <a:bodyPr lIns="0" tIns="0" rIns="0" bIns="0" rtlCol="0" anchor="t">
            <a:spAutoFit/>
          </a:bodyPr>
          <a:lstStyle/>
          <a:p>
            <a:pPr algn="ctr">
              <a:lnSpc>
                <a:spcPts val="2940"/>
              </a:lnSpc>
            </a:pPr>
            <a:r>
              <a:rPr lang="en-US" sz="2100">
                <a:solidFill>
                  <a:srgbClr val="240960"/>
                </a:solidFill>
                <a:latin typeface="Canva Sans"/>
                <a:ea typeface="Canva Sans"/>
                <a:cs typeface="Canva Sans"/>
                <a:sym typeface="Canva Sans"/>
              </a:rPr>
              <a:t>Payments, recharges, financial services</a:t>
            </a:r>
          </a:p>
        </p:txBody>
      </p:sp>
      <p:grpSp>
        <p:nvGrpSpPr>
          <p:cNvPr id="15" name="Group 15"/>
          <p:cNvGrpSpPr/>
          <p:nvPr/>
        </p:nvGrpSpPr>
        <p:grpSpPr>
          <a:xfrm>
            <a:off x="2835011" y="2176785"/>
            <a:ext cx="13990578" cy="6711222"/>
            <a:chOff x="0" y="0"/>
            <a:chExt cx="3684761" cy="1767565"/>
          </a:xfrm>
        </p:grpSpPr>
        <p:sp>
          <p:nvSpPr>
            <p:cNvPr id="16" name="Freeform 16"/>
            <p:cNvSpPr/>
            <p:nvPr/>
          </p:nvSpPr>
          <p:spPr>
            <a:xfrm>
              <a:off x="0" y="0"/>
              <a:ext cx="3684761" cy="1767565"/>
            </a:xfrm>
            <a:custGeom>
              <a:avLst/>
              <a:gdLst/>
              <a:ahLst/>
              <a:cxnLst/>
              <a:rect l="l" t="t" r="r" b="b"/>
              <a:pathLst>
                <a:path w="3684761" h="1767565">
                  <a:moveTo>
                    <a:pt x="0" y="0"/>
                  </a:moveTo>
                  <a:lnTo>
                    <a:pt x="3684761" y="0"/>
                  </a:lnTo>
                  <a:lnTo>
                    <a:pt x="3684761" y="1767565"/>
                  </a:lnTo>
                  <a:lnTo>
                    <a:pt x="0" y="1767565"/>
                  </a:lnTo>
                  <a:close/>
                </a:path>
              </a:pathLst>
            </a:custGeom>
            <a:gradFill rotWithShape="1">
              <a:gsLst>
                <a:gs pos="0">
                  <a:srgbClr val="5B45B5">
                    <a:alpha val="23000"/>
                  </a:srgbClr>
                </a:gs>
                <a:gs pos="100000">
                  <a:srgbClr val="8875D7">
                    <a:alpha val="23000"/>
                  </a:srgbClr>
                </a:gs>
              </a:gsLst>
              <a:lin ang="0"/>
            </a:gradFill>
          </p:spPr>
        </p:sp>
        <p:sp>
          <p:nvSpPr>
            <p:cNvPr id="17" name="TextBox 17"/>
            <p:cNvSpPr txBox="1"/>
            <p:nvPr/>
          </p:nvSpPr>
          <p:spPr>
            <a:xfrm>
              <a:off x="0" y="-38100"/>
              <a:ext cx="3684761" cy="180566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2835011" y="2176785"/>
            <a:ext cx="13990578" cy="6711222"/>
            <a:chOff x="0" y="0"/>
            <a:chExt cx="6202718" cy="2975418"/>
          </a:xfrm>
        </p:grpSpPr>
        <p:sp>
          <p:nvSpPr>
            <p:cNvPr id="19" name="Freeform 19"/>
            <p:cNvSpPr/>
            <p:nvPr/>
          </p:nvSpPr>
          <p:spPr>
            <a:xfrm>
              <a:off x="0" y="0"/>
              <a:ext cx="6202718" cy="2975418"/>
            </a:xfrm>
            <a:custGeom>
              <a:avLst/>
              <a:gdLst/>
              <a:ahLst/>
              <a:cxnLst/>
              <a:rect l="l" t="t" r="r" b="b"/>
              <a:pathLst>
                <a:path w="6202718" h="2975418">
                  <a:moveTo>
                    <a:pt x="0" y="0"/>
                  </a:moveTo>
                  <a:lnTo>
                    <a:pt x="6202718" y="0"/>
                  </a:lnTo>
                  <a:lnTo>
                    <a:pt x="6202718" y="2975418"/>
                  </a:lnTo>
                  <a:lnTo>
                    <a:pt x="0" y="2975418"/>
                  </a:lnTo>
                  <a:close/>
                </a:path>
              </a:pathLst>
            </a:custGeom>
            <a:solidFill>
              <a:srgbClr val="000000">
                <a:alpha val="0"/>
              </a:srgbClr>
            </a:solidFill>
            <a:ln w="57150" cap="sq">
              <a:gradFill>
                <a:gsLst>
                  <a:gs pos="0">
                    <a:srgbClr val="5B45B5">
                      <a:alpha val="100000"/>
                    </a:srgbClr>
                  </a:gs>
                  <a:gs pos="100000">
                    <a:srgbClr val="8875D7">
                      <a:alpha val="100000"/>
                    </a:srgbClr>
                  </a:gs>
                </a:gsLst>
                <a:lin ang="0"/>
              </a:gradFill>
              <a:prstDash val="solid"/>
              <a:miter/>
            </a:ln>
          </p:spPr>
        </p:sp>
        <p:sp>
          <p:nvSpPr>
            <p:cNvPr id="20" name="TextBox 20"/>
            <p:cNvSpPr txBox="1"/>
            <p:nvPr/>
          </p:nvSpPr>
          <p:spPr>
            <a:xfrm>
              <a:off x="0" y="-38100"/>
              <a:ext cx="6202718" cy="3013518"/>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2127119" y="785919"/>
            <a:ext cx="1194260" cy="251217"/>
          </a:xfrm>
          <a:prstGeom prst="rect">
            <a:avLst/>
          </a:prstGeom>
        </p:spPr>
        <p:txBody>
          <a:bodyPr lIns="0" tIns="0" rIns="0" bIns="0" rtlCol="0" anchor="t">
            <a:spAutoFit/>
          </a:bodyPr>
          <a:lstStyle/>
          <a:p>
            <a:pPr algn="l">
              <a:lnSpc>
                <a:spcPts val="1859"/>
              </a:lnSpc>
            </a:pPr>
            <a:r>
              <a:rPr lang="en-US" sz="1822">
                <a:solidFill>
                  <a:srgbClr val="240960"/>
                </a:solidFill>
                <a:latin typeface="Ahsing"/>
                <a:ea typeface="Ahsing"/>
                <a:cs typeface="Ahsing"/>
                <a:sym typeface="Ahsing"/>
              </a:rPr>
              <a:t>EchoPay</a:t>
            </a:r>
          </a:p>
        </p:txBody>
      </p:sp>
      <p:sp>
        <p:nvSpPr>
          <p:cNvPr id="22" name="Freeform 22"/>
          <p:cNvSpPr/>
          <p:nvPr/>
        </p:nvSpPr>
        <p:spPr>
          <a:xfrm>
            <a:off x="1662197" y="766869"/>
            <a:ext cx="328139" cy="270267"/>
          </a:xfrm>
          <a:custGeom>
            <a:avLst/>
            <a:gdLst/>
            <a:ahLst/>
            <a:cxnLst/>
            <a:rect l="l" t="t" r="r" b="b"/>
            <a:pathLst>
              <a:path w="328139" h="270267">
                <a:moveTo>
                  <a:pt x="0" y="0"/>
                </a:moveTo>
                <a:lnTo>
                  <a:pt x="328138" y="0"/>
                </a:lnTo>
                <a:lnTo>
                  <a:pt x="328138" y="270267"/>
                </a:lnTo>
                <a:lnTo>
                  <a:pt x="0" y="2702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med">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aphicFrame>
        <p:nvGraphicFramePr>
          <p:cNvPr id="2" name="Object 2"/>
          <p:cNvGraphicFramePr/>
          <p:nvPr/>
        </p:nvGraphicFramePr>
        <p:xfrm>
          <a:off x="2677336" y="2466602"/>
          <a:ext cx="11341923" cy="8229600"/>
        </p:xfrm>
        <a:graphic>
          <a:graphicData uri="http://schemas.openxmlformats.org/presentationml/2006/ole">
            <mc:AlternateContent xmlns:mc="http://schemas.openxmlformats.org/markup-compatibility/2006">
              <mc:Choice xmlns:v="urn:schemas-microsoft-com:vml" Requires="v">
                <p:oleObj name="Worksheet" r:id="rId2" imgW="13601700" imgH="10490200" progId="Excel.Sheet.12">
                  <p:embed/>
                </p:oleObj>
              </mc:Choice>
              <mc:Fallback>
                <p:oleObj name="Worksheet" r:id="rId2" imgW="13601700" imgH="10490200" progId="Excel.Sheet.12">
                  <p:embed/>
                  <p:pic>
                    <p:nvPicPr>
                      <p:cNvPr id="2" name="Object 2"/>
                      <p:cNvPicPr/>
                      <p:nvPr/>
                    </p:nvPicPr>
                    <p:blipFill>
                      <a:blip r:embed="rId3"/>
                      <a:stretch>
                        <a:fillRect/>
                      </a:stretch>
                    </p:blipFill>
                    <p:spPr>
                      <a:xfrm>
                        <a:off x="2677336" y="2466602"/>
                        <a:ext cx="11341923" cy="8229600"/>
                      </a:xfrm>
                      <a:prstGeom prst="rect">
                        <a:avLst/>
                      </a:prstGeom>
                    </p:spPr>
                  </p:pic>
                </p:oleObj>
              </mc:Fallback>
            </mc:AlternateContent>
          </a:graphicData>
        </a:graphic>
      </p:graphicFrame>
      <p:sp>
        <p:nvSpPr>
          <p:cNvPr id="3" name="TextBox 3"/>
          <p:cNvSpPr txBox="1"/>
          <p:nvPr/>
        </p:nvSpPr>
        <p:spPr>
          <a:xfrm>
            <a:off x="5488546" y="769398"/>
            <a:ext cx="7310908" cy="7757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Feature Analysis</a:t>
            </a:r>
          </a:p>
        </p:txBody>
      </p:sp>
      <p:grpSp>
        <p:nvGrpSpPr>
          <p:cNvPr id="4" name="Group 4"/>
          <p:cNvGrpSpPr/>
          <p:nvPr/>
        </p:nvGrpSpPr>
        <p:grpSpPr>
          <a:xfrm>
            <a:off x="15254679" y="-161282"/>
            <a:ext cx="3185721" cy="318572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555966" y="2024385"/>
            <a:ext cx="884434" cy="88443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7665440"/>
            <a:ext cx="3185721" cy="318572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1826156">
            <a:off x="1880221" y="1396225"/>
            <a:ext cx="1256320" cy="125632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279519" y="938319"/>
            <a:ext cx="1194260" cy="251217"/>
          </a:xfrm>
          <a:prstGeom prst="rect">
            <a:avLst/>
          </a:prstGeom>
        </p:spPr>
        <p:txBody>
          <a:bodyPr lIns="0" tIns="0" rIns="0" bIns="0" rtlCol="0" anchor="t">
            <a:spAutoFit/>
          </a:bodyPr>
          <a:lstStyle/>
          <a:p>
            <a:pPr algn="l">
              <a:lnSpc>
                <a:spcPts val="1859"/>
              </a:lnSpc>
            </a:pPr>
            <a:r>
              <a:rPr lang="en-US" sz="1822">
                <a:solidFill>
                  <a:srgbClr val="240960"/>
                </a:solidFill>
                <a:latin typeface="Ahsing"/>
                <a:ea typeface="Ahsing"/>
                <a:cs typeface="Ahsing"/>
                <a:sym typeface="Ahsing"/>
              </a:rPr>
              <a:t>EchoPay</a:t>
            </a:r>
          </a:p>
        </p:txBody>
      </p:sp>
      <p:sp>
        <p:nvSpPr>
          <p:cNvPr id="17" name="Freeform 17"/>
          <p:cNvSpPr/>
          <p:nvPr/>
        </p:nvSpPr>
        <p:spPr>
          <a:xfrm>
            <a:off x="1880695" y="919269"/>
            <a:ext cx="297836" cy="245308"/>
          </a:xfrm>
          <a:custGeom>
            <a:avLst/>
            <a:gdLst/>
            <a:ahLst/>
            <a:cxnLst/>
            <a:rect l="l" t="t" r="r" b="b"/>
            <a:pathLst>
              <a:path w="297836" h="245308">
                <a:moveTo>
                  <a:pt x="0" y="0"/>
                </a:moveTo>
                <a:lnTo>
                  <a:pt x="297836" y="0"/>
                </a:lnTo>
                <a:lnTo>
                  <a:pt x="297836" y="245309"/>
                </a:lnTo>
                <a:lnTo>
                  <a:pt x="0" y="2453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796088" y="3350579"/>
            <a:ext cx="2180682" cy="2180682"/>
            <a:chOff x="0" y="0"/>
            <a:chExt cx="14400530" cy="14400530"/>
          </a:xfrm>
        </p:grpSpPr>
        <p:sp>
          <p:nvSpPr>
            <p:cNvPr id="3" name="Freeform 3"/>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FCEE3"/>
            </a:solidFill>
          </p:spPr>
        </p:sp>
      </p:grpSp>
      <p:grpSp>
        <p:nvGrpSpPr>
          <p:cNvPr id="4" name="Group 4"/>
          <p:cNvGrpSpPr>
            <a:grpSpLocks noChangeAspect="1"/>
          </p:cNvGrpSpPr>
          <p:nvPr/>
        </p:nvGrpSpPr>
        <p:grpSpPr>
          <a:xfrm rot="5400000">
            <a:off x="9311230" y="3350579"/>
            <a:ext cx="2180682" cy="2180682"/>
            <a:chOff x="0" y="0"/>
            <a:chExt cx="14400530" cy="14400530"/>
          </a:xfrm>
        </p:grpSpPr>
        <p:sp>
          <p:nvSpPr>
            <p:cNvPr id="5" name="Freeform 5"/>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FCEE3"/>
            </a:solidFill>
          </p:spPr>
        </p:sp>
      </p:grpSp>
      <p:grpSp>
        <p:nvGrpSpPr>
          <p:cNvPr id="6" name="Group 6"/>
          <p:cNvGrpSpPr>
            <a:grpSpLocks noChangeAspect="1"/>
          </p:cNvGrpSpPr>
          <p:nvPr/>
        </p:nvGrpSpPr>
        <p:grpSpPr>
          <a:xfrm rot="-10800000">
            <a:off x="9311230" y="5865722"/>
            <a:ext cx="2180682" cy="2180682"/>
            <a:chOff x="0" y="0"/>
            <a:chExt cx="14400530" cy="14400530"/>
          </a:xfrm>
        </p:grpSpPr>
        <p:sp>
          <p:nvSpPr>
            <p:cNvPr id="7" name="Freeform 7"/>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FCEE3"/>
            </a:solidFill>
          </p:spPr>
        </p:sp>
      </p:grpSp>
      <p:grpSp>
        <p:nvGrpSpPr>
          <p:cNvPr id="8" name="Group 8"/>
          <p:cNvGrpSpPr>
            <a:grpSpLocks noChangeAspect="1"/>
          </p:cNvGrpSpPr>
          <p:nvPr/>
        </p:nvGrpSpPr>
        <p:grpSpPr>
          <a:xfrm rot="-5400000">
            <a:off x="6796088" y="5865722"/>
            <a:ext cx="2180682" cy="2180682"/>
            <a:chOff x="0" y="0"/>
            <a:chExt cx="14400530" cy="14400530"/>
          </a:xfrm>
        </p:grpSpPr>
        <p:sp>
          <p:nvSpPr>
            <p:cNvPr id="9" name="Freeform 9"/>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FCEE3"/>
            </a:solidFill>
          </p:spPr>
        </p:sp>
      </p:grpSp>
      <p:sp>
        <p:nvSpPr>
          <p:cNvPr id="10" name="TextBox 10"/>
          <p:cNvSpPr txBox="1"/>
          <p:nvPr/>
        </p:nvSpPr>
        <p:spPr>
          <a:xfrm>
            <a:off x="1038574" y="3099119"/>
            <a:ext cx="5138178" cy="455295"/>
          </a:xfrm>
          <a:prstGeom prst="rect">
            <a:avLst/>
          </a:prstGeom>
        </p:spPr>
        <p:txBody>
          <a:bodyPr lIns="0" tIns="0" rIns="0" bIns="0" rtlCol="0" anchor="t">
            <a:spAutoFit/>
          </a:bodyPr>
          <a:lstStyle/>
          <a:p>
            <a:pPr algn="r">
              <a:lnSpc>
                <a:spcPts val="3779"/>
              </a:lnSpc>
            </a:pPr>
            <a:r>
              <a:rPr lang="en-US" sz="2699" spc="350">
                <a:solidFill>
                  <a:srgbClr val="240960"/>
                </a:solidFill>
                <a:latin typeface="Aileron"/>
                <a:ea typeface="Aileron"/>
                <a:cs typeface="Aileron"/>
                <a:sym typeface="Aileron"/>
              </a:rPr>
              <a:t>STRENGTHS</a:t>
            </a:r>
          </a:p>
        </p:txBody>
      </p:sp>
      <p:sp>
        <p:nvSpPr>
          <p:cNvPr id="11" name="TextBox 11"/>
          <p:cNvSpPr txBox="1"/>
          <p:nvPr/>
        </p:nvSpPr>
        <p:spPr>
          <a:xfrm>
            <a:off x="1177562" y="3830962"/>
            <a:ext cx="5112227" cy="2034759"/>
          </a:xfrm>
          <a:prstGeom prst="rect">
            <a:avLst/>
          </a:prstGeom>
        </p:spPr>
        <p:txBody>
          <a:bodyPr lIns="0" tIns="0" rIns="0" bIns="0" rtlCol="0" anchor="t">
            <a:spAutoFit/>
          </a:bodyPr>
          <a:lstStyle/>
          <a:p>
            <a:pPr algn="r">
              <a:lnSpc>
                <a:spcPts val="3249"/>
              </a:lnSpc>
            </a:pPr>
            <a:r>
              <a:rPr lang="en-US" sz="2372" spc="37">
                <a:solidFill>
                  <a:srgbClr val="240960"/>
                </a:solidFill>
                <a:latin typeface="Aileron"/>
                <a:ea typeface="Aileron"/>
                <a:cs typeface="Aileron"/>
                <a:sym typeface="Aileron"/>
              </a:rPr>
              <a:t>•Dominant player with a significant        market share in UPI transactions.</a:t>
            </a:r>
          </a:p>
          <a:p>
            <a:pPr algn="r">
              <a:lnSpc>
                <a:spcPts val="3249"/>
              </a:lnSpc>
            </a:pPr>
            <a:r>
              <a:rPr lang="en-US" sz="2372" spc="37">
                <a:solidFill>
                  <a:srgbClr val="240960"/>
                </a:solidFill>
                <a:latin typeface="Aileron"/>
                <a:ea typeface="Aileron"/>
                <a:cs typeface="Aileron"/>
                <a:sym typeface="Aileron"/>
              </a:rPr>
              <a:t>•User-Friendly Interface: Intuitive design catering to a broad audience.</a:t>
            </a:r>
          </a:p>
          <a:p>
            <a:pPr algn="r">
              <a:lnSpc>
                <a:spcPts val="3249"/>
              </a:lnSpc>
            </a:pPr>
            <a:endParaRPr lang="en-US" sz="2372" spc="37">
              <a:solidFill>
                <a:srgbClr val="240960"/>
              </a:solidFill>
              <a:latin typeface="Aileron"/>
              <a:ea typeface="Aileron"/>
              <a:cs typeface="Aileron"/>
              <a:sym typeface="Aileron"/>
            </a:endParaRPr>
          </a:p>
        </p:txBody>
      </p:sp>
      <p:sp>
        <p:nvSpPr>
          <p:cNvPr id="12" name="TextBox 12"/>
          <p:cNvSpPr txBox="1"/>
          <p:nvPr/>
        </p:nvSpPr>
        <p:spPr>
          <a:xfrm>
            <a:off x="1038574" y="5920947"/>
            <a:ext cx="5138178" cy="455295"/>
          </a:xfrm>
          <a:prstGeom prst="rect">
            <a:avLst/>
          </a:prstGeom>
        </p:spPr>
        <p:txBody>
          <a:bodyPr lIns="0" tIns="0" rIns="0" bIns="0" rtlCol="0" anchor="t">
            <a:spAutoFit/>
          </a:bodyPr>
          <a:lstStyle/>
          <a:p>
            <a:pPr algn="r">
              <a:lnSpc>
                <a:spcPts val="3779"/>
              </a:lnSpc>
            </a:pPr>
            <a:r>
              <a:rPr lang="en-US" sz="2699" spc="350">
                <a:solidFill>
                  <a:srgbClr val="240960"/>
                </a:solidFill>
                <a:latin typeface="Aileron"/>
                <a:ea typeface="Aileron"/>
                <a:cs typeface="Aileron"/>
                <a:sym typeface="Aileron"/>
              </a:rPr>
              <a:t>THREATS</a:t>
            </a:r>
          </a:p>
        </p:txBody>
      </p:sp>
      <p:sp>
        <p:nvSpPr>
          <p:cNvPr id="13" name="TextBox 13"/>
          <p:cNvSpPr txBox="1"/>
          <p:nvPr/>
        </p:nvSpPr>
        <p:spPr>
          <a:xfrm>
            <a:off x="727847" y="6576267"/>
            <a:ext cx="5764551" cy="2508181"/>
          </a:xfrm>
          <a:prstGeom prst="rect">
            <a:avLst/>
          </a:prstGeom>
        </p:spPr>
        <p:txBody>
          <a:bodyPr lIns="0" tIns="0" rIns="0" bIns="0" rtlCol="0" anchor="t">
            <a:spAutoFit/>
          </a:bodyPr>
          <a:lstStyle/>
          <a:p>
            <a:pPr algn="r">
              <a:lnSpc>
                <a:spcPts val="3934"/>
              </a:lnSpc>
            </a:pPr>
            <a:r>
              <a:rPr lang="en-US" sz="2356" spc="70">
                <a:solidFill>
                  <a:srgbClr val="240960"/>
                </a:solidFill>
                <a:latin typeface="Aileron"/>
                <a:ea typeface="Aileron"/>
                <a:cs typeface="Aileron"/>
                <a:sym typeface="Aileron"/>
              </a:rPr>
              <a:t> Regulatory Challenges: Government policies may impact operations.</a:t>
            </a:r>
          </a:p>
          <a:p>
            <a:pPr marL="508663" lvl="1" indent="-254332" algn="r">
              <a:lnSpc>
                <a:spcPts val="3934"/>
              </a:lnSpc>
              <a:buFont typeface="Arial"/>
              <a:buChar char="•"/>
            </a:pPr>
            <a:r>
              <a:rPr lang="en-US" sz="2356" spc="70">
                <a:solidFill>
                  <a:srgbClr val="240960"/>
                </a:solidFill>
                <a:latin typeface="Aileron"/>
                <a:ea typeface="Aileron"/>
                <a:cs typeface="Aileron"/>
                <a:sym typeface="Aileron"/>
              </a:rPr>
              <a:t>Intense Competition: Rival apps may erode market share.</a:t>
            </a:r>
          </a:p>
          <a:p>
            <a:pPr algn="l">
              <a:lnSpc>
                <a:spcPts val="4496"/>
              </a:lnSpc>
            </a:pPr>
            <a:endParaRPr lang="en-US" sz="2356" spc="70">
              <a:solidFill>
                <a:srgbClr val="240960"/>
              </a:solidFill>
              <a:latin typeface="Aileron"/>
              <a:ea typeface="Aileron"/>
              <a:cs typeface="Aileron"/>
              <a:sym typeface="Aileron"/>
            </a:endParaRPr>
          </a:p>
        </p:txBody>
      </p:sp>
      <p:sp>
        <p:nvSpPr>
          <p:cNvPr id="14" name="TextBox 14"/>
          <p:cNvSpPr txBox="1"/>
          <p:nvPr/>
        </p:nvSpPr>
        <p:spPr>
          <a:xfrm>
            <a:off x="12120562" y="2925334"/>
            <a:ext cx="5138178" cy="455295"/>
          </a:xfrm>
          <a:prstGeom prst="rect">
            <a:avLst/>
          </a:prstGeom>
        </p:spPr>
        <p:txBody>
          <a:bodyPr lIns="0" tIns="0" rIns="0" bIns="0" rtlCol="0" anchor="t">
            <a:spAutoFit/>
          </a:bodyPr>
          <a:lstStyle/>
          <a:p>
            <a:pPr algn="l">
              <a:lnSpc>
                <a:spcPts val="3779"/>
              </a:lnSpc>
            </a:pPr>
            <a:r>
              <a:rPr lang="en-US" sz="2699" spc="350">
                <a:solidFill>
                  <a:srgbClr val="240960"/>
                </a:solidFill>
                <a:latin typeface="Aileron"/>
                <a:ea typeface="Aileron"/>
                <a:cs typeface="Aileron"/>
                <a:sym typeface="Aileron"/>
              </a:rPr>
              <a:t>WEAKNESSES</a:t>
            </a:r>
          </a:p>
        </p:txBody>
      </p:sp>
      <p:sp>
        <p:nvSpPr>
          <p:cNvPr id="15" name="TextBox 15"/>
          <p:cNvSpPr txBox="1"/>
          <p:nvPr/>
        </p:nvSpPr>
        <p:spPr>
          <a:xfrm>
            <a:off x="12120562" y="3508264"/>
            <a:ext cx="5923394" cy="2227897"/>
          </a:xfrm>
          <a:prstGeom prst="rect">
            <a:avLst/>
          </a:prstGeom>
        </p:spPr>
        <p:txBody>
          <a:bodyPr lIns="0" tIns="0" rIns="0" bIns="0" rtlCol="0" anchor="t">
            <a:spAutoFit/>
          </a:bodyPr>
          <a:lstStyle/>
          <a:p>
            <a:pPr marL="453392" lvl="1" indent="-226696" algn="l">
              <a:lnSpc>
                <a:spcPts val="3507"/>
              </a:lnSpc>
              <a:buFont typeface="Arial"/>
              <a:buChar char="•"/>
            </a:pPr>
            <a:r>
              <a:rPr lang="en-US" sz="2100" spc="63">
                <a:solidFill>
                  <a:srgbClr val="240960"/>
                </a:solidFill>
                <a:latin typeface="Aileron"/>
                <a:ea typeface="Aileron"/>
                <a:cs typeface="Aileron"/>
                <a:sym typeface="Aileron"/>
              </a:rPr>
              <a:t>Complexity for Elderly Users: Feature-rich interface may overwhelm older users.</a:t>
            </a:r>
          </a:p>
          <a:p>
            <a:pPr marL="453392" lvl="1" indent="-226696" algn="l">
              <a:lnSpc>
                <a:spcPts val="3507"/>
              </a:lnSpc>
              <a:buFont typeface="Arial"/>
              <a:buChar char="•"/>
            </a:pPr>
            <a:r>
              <a:rPr lang="en-US" sz="2100" spc="63">
                <a:solidFill>
                  <a:srgbClr val="240960"/>
                </a:solidFill>
                <a:latin typeface="Aileron"/>
                <a:ea typeface="Aileron"/>
                <a:cs typeface="Aileron"/>
                <a:sym typeface="Aileron"/>
              </a:rPr>
              <a:t>Security Concerns: Incidents of fraud and phishing attacks have been reported.</a:t>
            </a:r>
          </a:p>
          <a:p>
            <a:pPr algn="l">
              <a:lnSpc>
                <a:spcPts val="4008"/>
              </a:lnSpc>
            </a:pPr>
            <a:endParaRPr lang="en-US" sz="2100" spc="63">
              <a:solidFill>
                <a:srgbClr val="240960"/>
              </a:solidFill>
              <a:latin typeface="Aileron"/>
              <a:ea typeface="Aileron"/>
              <a:cs typeface="Aileron"/>
              <a:sym typeface="Aileron"/>
            </a:endParaRPr>
          </a:p>
        </p:txBody>
      </p:sp>
      <p:sp>
        <p:nvSpPr>
          <p:cNvPr id="16" name="TextBox 16"/>
          <p:cNvSpPr txBox="1"/>
          <p:nvPr/>
        </p:nvSpPr>
        <p:spPr>
          <a:xfrm>
            <a:off x="12120562" y="5920947"/>
            <a:ext cx="5138178" cy="455295"/>
          </a:xfrm>
          <a:prstGeom prst="rect">
            <a:avLst/>
          </a:prstGeom>
        </p:spPr>
        <p:txBody>
          <a:bodyPr lIns="0" tIns="0" rIns="0" bIns="0" rtlCol="0" anchor="t">
            <a:spAutoFit/>
          </a:bodyPr>
          <a:lstStyle/>
          <a:p>
            <a:pPr algn="l">
              <a:lnSpc>
                <a:spcPts val="3779"/>
              </a:lnSpc>
            </a:pPr>
            <a:r>
              <a:rPr lang="en-US" sz="2699" spc="350">
                <a:solidFill>
                  <a:srgbClr val="240960"/>
                </a:solidFill>
                <a:latin typeface="Aileron"/>
                <a:ea typeface="Aileron"/>
                <a:cs typeface="Aileron"/>
                <a:sym typeface="Aileron"/>
              </a:rPr>
              <a:t>OPPORTUNITIES</a:t>
            </a:r>
          </a:p>
        </p:txBody>
      </p:sp>
      <p:sp>
        <p:nvSpPr>
          <p:cNvPr id="17" name="Freeform 17"/>
          <p:cNvSpPr/>
          <p:nvPr/>
        </p:nvSpPr>
        <p:spPr>
          <a:xfrm>
            <a:off x="7334655" y="3856080"/>
            <a:ext cx="1103547" cy="1103547"/>
          </a:xfrm>
          <a:custGeom>
            <a:avLst/>
            <a:gdLst/>
            <a:ahLst/>
            <a:cxnLst/>
            <a:rect l="l" t="t" r="r" b="b"/>
            <a:pathLst>
              <a:path w="1103547" h="1103547">
                <a:moveTo>
                  <a:pt x="0" y="0"/>
                </a:moveTo>
                <a:lnTo>
                  <a:pt x="1103547" y="0"/>
                </a:lnTo>
                <a:lnTo>
                  <a:pt x="1103547" y="1103547"/>
                </a:lnTo>
                <a:lnTo>
                  <a:pt x="0" y="1103547"/>
                </a:lnTo>
                <a:lnTo>
                  <a:pt x="0" y="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sp>
      <p:sp>
        <p:nvSpPr>
          <p:cNvPr id="18" name="Freeform 18"/>
          <p:cNvSpPr/>
          <p:nvPr/>
        </p:nvSpPr>
        <p:spPr>
          <a:xfrm>
            <a:off x="9922869" y="4035733"/>
            <a:ext cx="957404" cy="923895"/>
          </a:xfrm>
          <a:custGeom>
            <a:avLst/>
            <a:gdLst/>
            <a:ahLst/>
            <a:cxnLst/>
            <a:rect l="l" t="t" r="r" b="b"/>
            <a:pathLst>
              <a:path w="957404" h="923895">
                <a:moveTo>
                  <a:pt x="0" y="0"/>
                </a:moveTo>
                <a:lnTo>
                  <a:pt x="957404" y="0"/>
                </a:lnTo>
                <a:lnTo>
                  <a:pt x="957404" y="923894"/>
                </a:lnTo>
                <a:lnTo>
                  <a:pt x="0" y="923894"/>
                </a:lnTo>
                <a:lnTo>
                  <a:pt x="0" y="0"/>
                </a:lnTo>
                <a:close/>
              </a:path>
            </a:pathLst>
          </a:custGeom>
          <a:blipFill>
            <a:blip r:embed="rId4">
              <a:alphaModFix amt="54000"/>
              <a:extLst>
                <a:ext uri="{96DAC541-7B7A-43D3-8B79-37D633B846F1}">
                  <asvg:svgBlip xmlns:asvg="http://schemas.microsoft.com/office/drawing/2016/SVG/main" r:embed="rId5"/>
                </a:ext>
              </a:extLst>
            </a:blip>
            <a:stretch>
              <a:fillRect/>
            </a:stretch>
          </a:blipFill>
        </p:spPr>
      </p:sp>
      <p:sp>
        <p:nvSpPr>
          <p:cNvPr id="19" name="Freeform 19"/>
          <p:cNvSpPr/>
          <p:nvPr/>
        </p:nvSpPr>
        <p:spPr>
          <a:xfrm>
            <a:off x="9857952" y="6412443"/>
            <a:ext cx="1087240" cy="1087240"/>
          </a:xfrm>
          <a:custGeom>
            <a:avLst/>
            <a:gdLst/>
            <a:ahLst/>
            <a:cxnLst/>
            <a:rect l="l" t="t" r="r" b="b"/>
            <a:pathLst>
              <a:path w="1087240" h="1087240">
                <a:moveTo>
                  <a:pt x="0" y="0"/>
                </a:moveTo>
                <a:lnTo>
                  <a:pt x="1087239" y="0"/>
                </a:lnTo>
                <a:lnTo>
                  <a:pt x="1087239" y="1087239"/>
                </a:lnTo>
                <a:lnTo>
                  <a:pt x="0" y="1087239"/>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sp>
      <p:sp>
        <p:nvSpPr>
          <p:cNvPr id="20" name="Freeform 20"/>
          <p:cNvSpPr/>
          <p:nvPr/>
        </p:nvSpPr>
        <p:spPr>
          <a:xfrm>
            <a:off x="7427945" y="6497579"/>
            <a:ext cx="916967" cy="916967"/>
          </a:xfrm>
          <a:custGeom>
            <a:avLst/>
            <a:gdLst/>
            <a:ahLst/>
            <a:cxnLst/>
            <a:rect l="l" t="t" r="r" b="b"/>
            <a:pathLst>
              <a:path w="916967" h="916967">
                <a:moveTo>
                  <a:pt x="0" y="0"/>
                </a:moveTo>
                <a:lnTo>
                  <a:pt x="916967" y="0"/>
                </a:lnTo>
                <a:lnTo>
                  <a:pt x="916967" y="916967"/>
                </a:lnTo>
                <a:lnTo>
                  <a:pt x="0" y="916967"/>
                </a:lnTo>
                <a:lnTo>
                  <a:pt x="0" y="0"/>
                </a:lnTo>
                <a:close/>
              </a:path>
            </a:pathLst>
          </a:custGeom>
          <a:blipFill>
            <a:blip r:embed="rId8">
              <a:alphaModFix amt="43999"/>
              <a:extLst>
                <a:ext uri="{96DAC541-7B7A-43D3-8B79-37D633B846F1}">
                  <asvg:svgBlip xmlns:asvg="http://schemas.microsoft.com/office/drawing/2016/SVG/main" r:embed="rId9"/>
                </a:ext>
              </a:extLst>
            </a:blip>
            <a:stretch>
              <a:fillRect/>
            </a:stretch>
          </a:blipFill>
        </p:spPr>
      </p:sp>
      <p:sp>
        <p:nvSpPr>
          <p:cNvPr id="21" name="TextBox 21"/>
          <p:cNvSpPr txBox="1"/>
          <p:nvPr/>
        </p:nvSpPr>
        <p:spPr>
          <a:xfrm>
            <a:off x="5488546" y="1285875"/>
            <a:ext cx="7310908" cy="7757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SWOT Analysis</a:t>
            </a:r>
          </a:p>
        </p:txBody>
      </p:sp>
      <p:sp>
        <p:nvSpPr>
          <p:cNvPr id="22" name="TextBox 22"/>
          <p:cNvSpPr txBox="1"/>
          <p:nvPr/>
        </p:nvSpPr>
        <p:spPr>
          <a:xfrm>
            <a:off x="12120562" y="6503877"/>
            <a:ext cx="5923394" cy="2608326"/>
          </a:xfrm>
          <a:prstGeom prst="rect">
            <a:avLst/>
          </a:prstGeom>
        </p:spPr>
        <p:txBody>
          <a:bodyPr lIns="0" tIns="0" rIns="0" bIns="0" rtlCol="0" anchor="t">
            <a:spAutoFit/>
          </a:bodyPr>
          <a:lstStyle/>
          <a:p>
            <a:pPr marL="453392" lvl="1" indent="-226696" algn="l">
              <a:lnSpc>
                <a:spcPts val="3507"/>
              </a:lnSpc>
              <a:buFont typeface="Arial"/>
              <a:buChar char="•"/>
            </a:pPr>
            <a:r>
              <a:rPr lang="en-US" sz="2100" spc="63">
                <a:solidFill>
                  <a:srgbClr val="240960"/>
                </a:solidFill>
                <a:latin typeface="Aileron"/>
                <a:ea typeface="Aileron"/>
                <a:cs typeface="Aileron"/>
                <a:sym typeface="Aileron"/>
              </a:rPr>
              <a:t>Expansion into Rural Areas: Potential to reach underserved populations.</a:t>
            </a:r>
          </a:p>
          <a:p>
            <a:pPr marL="453392" lvl="1" indent="-226696" algn="l">
              <a:lnSpc>
                <a:spcPts val="3507"/>
              </a:lnSpc>
              <a:buFont typeface="Arial"/>
              <a:buChar char="•"/>
            </a:pPr>
            <a:r>
              <a:rPr lang="en-US" sz="2100" spc="63">
                <a:solidFill>
                  <a:srgbClr val="240960"/>
                </a:solidFill>
                <a:latin typeface="Aileron"/>
                <a:ea typeface="Aileron"/>
                <a:cs typeface="Aileron"/>
                <a:sym typeface="Aileron"/>
              </a:rPr>
              <a:t>Partnerships with Financial Institutions: Collaborations can enhance service offerings</a:t>
            </a:r>
          </a:p>
          <a:p>
            <a:pPr algn="l">
              <a:lnSpc>
                <a:spcPts val="3507"/>
              </a:lnSpc>
            </a:pPr>
            <a:endParaRPr lang="en-US" sz="2100" spc="63">
              <a:solidFill>
                <a:srgbClr val="240960"/>
              </a:solidFill>
              <a:latin typeface="Aileron"/>
              <a:ea typeface="Aileron"/>
              <a:cs typeface="Aileron"/>
              <a:sym typeface="Aileron"/>
            </a:endParaRPr>
          </a:p>
        </p:txBody>
      </p:sp>
      <p:grpSp>
        <p:nvGrpSpPr>
          <p:cNvPr id="23" name="Group 23"/>
          <p:cNvGrpSpPr/>
          <p:nvPr/>
        </p:nvGrpSpPr>
        <p:grpSpPr>
          <a:xfrm rot="1636848">
            <a:off x="5206722" y="382282"/>
            <a:ext cx="1940062" cy="194006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1334982" y="224145"/>
            <a:ext cx="2272681" cy="466694"/>
          </a:xfrm>
          <a:prstGeom prst="rect">
            <a:avLst/>
          </a:prstGeom>
        </p:spPr>
        <p:txBody>
          <a:bodyPr lIns="0" tIns="0" rIns="0" bIns="0" rtlCol="0" anchor="t">
            <a:spAutoFit/>
          </a:bodyPr>
          <a:lstStyle/>
          <a:p>
            <a:pPr algn="l">
              <a:lnSpc>
                <a:spcPts val="3537"/>
              </a:lnSpc>
            </a:pPr>
            <a:r>
              <a:rPr lang="en-US" sz="3468">
                <a:solidFill>
                  <a:srgbClr val="240960"/>
                </a:solidFill>
                <a:latin typeface="Ahsing"/>
                <a:ea typeface="Ahsing"/>
                <a:cs typeface="Ahsing"/>
                <a:sym typeface="Ahsing"/>
              </a:rPr>
              <a:t>EchoPay</a:t>
            </a:r>
          </a:p>
        </p:txBody>
      </p:sp>
      <p:sp>
        <p:nvSpPr>
          <p:cNvPr id="27" name="Freeform 27"/>
          <p:cNvSpPr/>
          <p:nvPr/>
        </p:nvSpPr>
        <p:spPr>
          <a:xfrm>
            <a:off x="455519" y="209380"/>
            <a:ext cx="544656" cy="448599"/>
          </a:xfrm>
          <a:custGeom>
            <a:avLst/>
            <a:gdLst/>
            <a:ahLst/>
            <a:cxnLst/>
            <a:rect l="l" t="t" r="r" b="b"/>
            <a:pathLst>
              <a:path w="544656" h="448599">
                <a:moveTo>
                  <a:pt x="0" y="0"/>
                </a:moveTo>
                <a:lnTo>
                  <a:pt x="544656" y="0"/>
                </a:lnTo>
                <a:lnTo>
                  <a:pt x="544656" y="448599"/>
                </a:lnTo>
                <a:lnTo>
                  <a:pt x="0" y="44859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28" name="Group 28"/>
          <p:cNvGrpSpPr/>
          <p:nvPr/>
        </p:nvGrpSpPr>
        <p:grpSpPr>
          <a:xfrm>
            <a:off x="0" y="45562"/>
            <a:ext cx="18373753" cy="10375557"/>
            <a:chOff x="0" y="0"/>
            <a:chExt cx="4839178" cy="2732657"/>
          </a:xfrm>
        </p:grpSpPr>
        <p:sp>
          <p:nvSpPr>
            <p:cNvPr id="29" name="Freeform 29"/>
            <p:cNvSpPr/>
            <p:nvPr/>
          </p:nvSpPr>
          <p:spPr>
            <a:xfrm>
              <a:off x="0" y="0"/>
              <a:ext cx="4839178" cy="2732657"/>
            </a:xfrm>
            <a:custGeom>
              <a:avLst/>
              <a:gdLst/>
              <a:ahLst/>
              <a:cxnLst/>
              <a:rect l="l" t="t" r="r" b="b"/>
              <a:pathLst>
                <a:path w="4839178" h="2732657">
                  <a:moveTo>
                    <a:pt x="0" y="0"/>
                  </a:moveTo>
                  <a:lnTo>
                    <a:pt x="4839178" y="0"/>
                  </a:lnTo>
                  <a:lnTo>
                    <a:pt x="4839178" y="2732657"/>
                  </a:lnTo>
                  <a:lnTo>
                    <a:pt x="0" y="2732657"/>
                  </a:lnTo>
                  <a:close/>
                </a:path>
              </a:pathLst>
            </a:custGeom>
            <a:gradFill rotWithShape="1">
              <a:gsLst>
                <a:gs pos="0">
                  <a:srgbClr val="5B45B5">
                    <a:alpha val="23000"/>
                  </a:srgbClr>
                </a:gs>
                <a:gs pos="100000">
                  <a:srgbClr val="8875D7">
                    <a:alpha val="23000"/>
                  </a:srgbClr>
                </a:gs>
              </a:gsLst>
              <a:lin ang="0"/>
            </a:gradFill>
          </p:spPr>
        </p:sp>
        <p:sp>
          <p:nvSpPr>
            <p:cNvPr id="30" name="TextBox 30"/>
            <p:cNvSpPr txBox="1"/>
            <p:nvPr/>
          </p:nvSpPr>
          <p:spPr>
            <a:xfrm>
              <a:off x="0" y="-38100"/>
              <a:ext cx="4839178" cy="2770757"/>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7767307" y="5169297"/>
            <a:ext cx="2900693" cy="711733"/>
          </a:xfrm>
          <a:prstGeom prst="rect">
            <a:avLst/>
          </a:prstGeom>
        </p:spPr>
        <p:txBody>
          <a:bodyPr wrap="square" lIns="0" tIns="0" rIns="0" bIns="0" rtlCol="0" anchor="t">
            <a:spAutoFit/>
          </a:bodyPr>
          <a:lstStyle/>
          <a:p>
            <a:pPr algn="ctr">
              <a:lnSpc>
                <a:spcPts val="7440"/>
              </a:lnSpc>
              <a:spcBef>
                <a:spcPct val="0"/>
              </a:spcBef>
            </a:pPr>
            <a:r>
              <a:rPr lang="en-US" sz="5314" dirty="0" err="1">
                <a:solidFill>
                  <a:srgbClr val="240960"/>
                </a:solidFill>
                <a:latin typeface="Ahsing"/>
                <a:ea typeface="Ahsing"/>
                <a:cs typeface="Ahsing"/>
                <a:sym typeface="Ahsing"/>
              </a:rPr>
              <a:t>PhonePe</a:t>
            </a:r>
            <a:endParaRPr lang="en-US" sz="5314" dirty="0">
              <a:solidFill>
                <a:srgbClr val="240960"/>
              </a:solidFill>
              <a:latin typeface="Ahsing"/>
              <a:ea typeface="Ahsing"/>
              <a:cs typeface="Ahsing"/>
              <a:sym typeface="Ahsing"/>
            </a:endParaRPr>
          </a:p>
        </p:txBody>
      </p:sp>
    </p:spTree>
  </p:cSld>
  <p:clrMapOvr>
    <a:masterClrMapping/>
  </p:clrMapOvr>
  <p:transition spd="med">
    <p:push dir="d"/>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31045"/>
            <a:ext cx="4860193" cy="4043144"/>
            <a:chOff x="0" y="0"/>
            <a:chExt cx="6480258" cy="5390858"/>
          </a:xfrm>
        </p:grpSpPr>
        <p:pic>
          <p:nvPicPr>
            <p:cNvPr id="3" name="Picture 3"/>
            <p:cNvPicPr>
              <a:picLocks noChangeAspect="1"/>
            </p:cNvPicPr>
            <p:nvPr/>
          </p:nvPicPr>
          <p:blipFill>
            <a:blip r:embed="rId2"/>
            <a:srcRect t="8405" b="8405"/>
            <a:stretch>
              <a:fillRect/>
            </a:stretch>
          </p:blipFill>
          <p:spPr>
            <a:xfrm>
              <a:off x="0" y="0"/>
              <a:ext cx="6480258" cy="5390858"/>
            </a:xfrm>
            <a:prstGeom prst="rect">
              <a:avLst/>
            </a:prstGeom>
          </p:spPr>
        </p:pic>
      </p:grpSp>
      <p:sp>
        <p:nvSpPr>
          <p:cNvPr id="4" name="TextBox 4"/>
          <p:cNvSpPr txBox="1"/>
          <p:nvPr/>
        </p:nvSpPr>
        <p:spPr>
          <a:xfrm>
            <a:off x="7266062" y="2103484"/>
            <a:ext cx="10400427" cy="7827645"/>
          </a:xfrm>
          <a:prstGeom prst="rect">
            <a:avLst/>
          </a:prstGeom>
        </p:spPr>
        <p:txBody>
          <a:bodyPr lIns="0" tIns="0" rIns="0" bIns="0" rtlCol="0" anchor="t">
            <a:spAutoFit/>
          </a:bodyPr>
          <a:lstStyle/>
          <a:p>
            <a:pPr algn="l">
              <a:lnSpc>
                <a:spcPts val="4199"/>
              </a:lnSpc>
            </a:pPr>
            <a:r>
              <a:rPr lang="en-US" sz="2799" b="1">
                <a:solidFill>
                  <a:srgbClr val="000000"/>
                </a:solidFill>
                <a:latin typeface="Open Sans Bold"/>
                <a:ea typeface="Open Sans Bold"/>
                <a:cs typeface="Open Sans Bold"/>
                <a:sym typeface="Open Sans Bold"/>
              </a:rPr>
              <a:t>Name:</a:t>
            </a:r>
            <a:r>
              <a:rPr lang="en-US" sz="2799">
                <a:solidFill>
                  <a:srgbClr val="000000"/>
                </a:solidFill>
                <a:latin typeface="Open Sans"/>
                <a:ea typeface="Open Sans"/>
                <a:cs typeface="Open Sans"/>
                <a:sym typeface="Open Sans"/>
              </a:rPr>
              <a:t> Rajendran Pillai</a:t>
            </a:r>
          </a:p>
          <a:p>
            <a:pPr algn="l">
              <a:lnSpc>
                <a:spcPts val="4199"/>
              </a:lnSpc>
            </a:pPr>
            <a:r>
              <a:rPr lang="en-US" sz="2799" b="1">
                <a:solidFill>
                  <a:srgbClr val="000000"/>
                </a:solidFill>
                <a:latin typeface="Open Sans Bold"/>
                <a:ea typeface="Open Sans Bold"/>
                <a:cs typeface="Open Sans Bold"/>
                <a:sym typeface="Open Sans Bold"/>
              </a:rPr>
              <a:t>Age:</a:t>
            </a:r>
            <a:r>
              <a:rPr lang="en-US" sz="2799">
                <a:solidFill>
                  <a:srgbClr val="000000"/>
                </a:solidFill>
                <a:latin typeface="Open Sans"/>
                <a:ea typeface="Open Sans"/>
                <a:cs typeface="Open Sans"/>
                <a:sym typeface="Open Sans"/>
              </a:rPr>
              <a:t> 70</a:t>
            </a:r>
          </a:p>
          <a:p>
            <a:pPr algn="l">
              <a:lnSpc>
                <a:spcPts val="4199"/>
              </a:lnSpc>
            </a:pPr>
            <a:r>
              <a:rPr lang="en-US" sz="2799" b="1">
                <a:solidFill>
                  <a:srgbClr val="000000"/>
                </a:solidFill>
                <a:latin typeface="Open Sans Bold"/>
                <a:ea typeface="Open Sans Bold"/>
                <a:cs typeface="Open Sans Bold"/>
                <a:sym typeface="Open Sans Bold"/>
              </a:rPr>
              <a:t>Occupation:</a:t>
            </a:r>
            <a:r>
              <a:rPr lang="en-US" sz="2799">
                <a:solidFill>
                  <a:srgbClr val="000000"/>
                </a:solidFill>
                <a:latin typeface="Open Sans"/>
                <a:ea typeface="Open Sans"/>
                <a:cs typeface="Open Sans"/>
                <a:sym typeface="Open Sans"/>
              </a:rPr>
              <a:t> Retired Government Officer</a:t>
            </a:r>
          </a:p>
          <a:p>
            <a:pPr algn="l">
              <a:lnSpc>
                <a:spcPts val="4199"/>
              </a:lnSpc>
            </a:pPr>
            <a:r>
              <a:rPr lang="en-US" sz="2799" b="1">
                <a:solidFill>
                  <a:srgbClr val="000000"/>
                </a:solidFill>
                <a:latin typeface="Open Sans Bold"/>
                <a:ea typeface="Open Sans Bold"/>
                <a:cs typeface="Open Sans Bold"/>
                <a:sym typeface="Open Sans Bold"/>
              </a:rPr>
              <a:t>Location:</a:t>
            </a:r>
            <a:r>
              <a:rPr lang="en-US" sz="2799">
                <a:solidFill>
                  <a:srgbClr val="000000"/>
                </a:solidFill>
                <a:latin typeface="Open Sans"/>
                <a:ea typeface="Open Sans"/>
                <a:cs typeface="Open Sans"/>
                <a:sym typeface="Open Sans"/>
              </a:rPr>
              <a:t> Madurai, Tamil Nadu</a:t>
            </a:r>
          </a:p>
          <a:p>
            <a:pPr algn="l">
              <a:lnSpc>
                <a:spcPts val="4199"/>
              </a:lnSpc>
            </a:pPr>
            <a:r>
              <a:rPr lang="en-US" sz="2799">
                <a:solidFill>
                  <a:srgbClr val="000000"/>
                </a:solidFill>
                <a:latin typeface="Open Sans"/>
                <a:ea typeface="Open Sans"/>
                <a:cs typeface="Open Sans"/>
                <a:sym typeface="Open Sans"/>
              </a:rPr>
              <a:t>Tech Comfort: Moderate (uses phone for WhatsApp and YouTube)</a:t>
            </a:r>
          </a:p>
          <a:p>
            <a:pPr algn="l">
              <a:lnSpc>
                <a:spcPts val="4199"/>
              </a:lnSpc>
            </a:pPr>
            <a:r>
              <a:rPr lang="en-US" sz="2799" b="1">
                <a:solidFill>
                  <a:srgbClr val="000000"/>
                </a:solidFill>
                <a:latin typeface="Open Sans Bold"/>
                <a:ea typeface="Open Sans Bold"/>
                <a:cs typeface="Open Sans Bold"/>
                <a:sym typeface="Open Sans Bold"/>
              </a:rPr>
              <a:t>Goals :</a:t>
            </a:r>
            <a:r>
              <a:rPr lang="en-US" sz="2799">
                <a:solidFill>
                  <a:srgbClr val="000000"/>
                </a:solidFill>
                <a:latin typeface="Open Sans"/>
                <a:ea typeface="Open Sans"/>
                <a:cs typeface="Open Sans"/>
                <a:sym typeface="Open Sans"/>
              </a:rPr>
              <a:t>Make payments independently and confidently.</a:t>
            </a:r>
          </a:p>
          <a:p>
            <a:pPr algn="l">
              <a:lnSpc>
                <a:spcPts val="4199"/>
              </a:lnSpc>
            </a:pPr>
            <a:r>
              <a:rPr lang="en-US" sz="2799">
                <a:solidFill>
                  <a:srgbClr val="000000"/>
                </a:solidFill>
                <a:latin typeface="Open Sans"/>
                <a:ea typeface="Open Sans"/>
                <a:cs typeface="Open Sans"/>
                <a:sym typeface="Open Sans"/>
              </a:rPr>
              <a:t>Trust digital transactions.</a:t>
            </a:r>
          </a:p>
          <a:p>
            <a:pPr algn="l">
              <a:lnSpc>
                <a:spcPts val="4199"/>
              </a:lnSpc>
            </a:pPr>
            <a:r>
              <a:rPr lang="en-US" sz="2799" b="1">
                <a:solidFill>
                  <a:srgbClr val="000000"/>
                </a:solidFill>
                <a:latin typeface="Open Sans Bold"/>
                <a:ea typeface="Open Sans Bold"/>
                <a:cs typeface="Open Sans Bold"/>
                <a:sym typeface="Open Sans Bold"/>
              </a:rPr>
              <a:t>Frustrations: </a:t>
            </a:r>
            <a:r>
              <a:rPr lang="en-US" sz="2799">
                <a:solidFill>
                  <a:srgbClr val="000000"/>
                </a:solidFill>
                <a:latin typeface="Open Sans"/>
                <a:ea typeface="Open Sans"/>
                <a:cs typeface="Open Sans"/>
                <a:sym typeface="Open Sans"/>
              </a:rPr>
              <a:t>Confusing layouts, small text, and fear of errors.</a:t>
            </a:r>
          </a:p>
          <a:p>
            <a:pPr algn="l">
              <a:lnSpc>
                <a:spcPts val="4199"/>
              </a:lnSpc>
            </a:pPr>
            <a:r>
              <a:rPr lang="en-US" sz="2799">
                <a:solidFill>
                  <a:srgbClr val="000000"/>
                </a:solidFill>
                <a:latin typeface="Open Sans"/>
                <a:ea typeface="Open Sans"/>
                <a:cs typeface="Open Sans"/>
                <a:sym typeface="Open Sans"/>
              </a:rPr>
              <a:t>Struggles to remember PINs and read English screens</a:t>
            </a:r>
          </a:p>
          <a:p>
            <a:pPr algn="l">
              <a:lnSpc>
                <a:spcPts val="4199"/>
              </a:lnSpc>
            </a:pPr>
            <a:r>
              <a:rPr lang="en-US" sz="2799" b="1">
                <a:solidFill>
                  <a:srgbClr val="000000"/>
                </a:solidFill>
                <a:latin typeface="Open Sans Bold"/>
                <a:ea typeface="Open Sans Bold"/>
                <a:cs typeface="Open Sans Bold"/>
                <a:sym typeface="Open Sans Bold"/>
              </a:rPr>
              <a:t>Needs:</a:t>
            </a:r>
          </a:p>
          <a:p>
            <a:pPr algn="l">
              <a:lnSpc>
                <a:spcPts val="4199"/>
              </a:lnSpc>
            </a:pPr>
            <a:r>
              <a:rPr lang="en-US" sz="2799">
                <a:solidFill>
                  <a:srgbClr val="000000"/>
                </a:solidFill>
                <a:latin typeface="Open Sans"/>
                <a:ea typeface="Open Sans"/>
                <a:cs typeface="Open Sans"/>
                <a:sym typeface="Open Sans"/>
              </a:rPr>
              <a:t>Tamil voice guidance.</a:t>
            </a:r>
          </a:p>
          <a:p>
            <a:pPr algn="l">
              <a:lnSpc>
                <a:spcPts val="4199"/>
              </a:lnSpc>
            </a:pPr>
            <a:r>
              <a:rPr lang="en-US" sz="2799">
                <a:solidFill>
                  <a:srgbClr val="000000"/>
                </a:solidFill>
                <a:latin typeface="Open Sans"/>
                <a:ea typeface="Open Sans"/>
                <a:cs typeface="Open Sans"/>
                <a:sym typeface="Open Sans"/>
              </a:rPr>
              <a:t>Simple and secure experience.</a:t>
            </a:r>
          </a:p>
          <a:p>
            <a:pPr algn="l">
              <a:lnSpc>
                <a:spcPts val="4199"/>
              </a:lnSpc>
            </a:pPr>
            <a:r>
              <a:rPr lang="en-US" sz="2799">
                <a:solidFill>
                  <a:srgbClr val="000000"/>
                </a:solidFill>
                <a:latin typeface="Open Sans"/>
                <a:ea typeface="Open Sans"/>
                <a:cs typeface="Open Sans"/>
                <a:sym typeface="Open Sans"/>
              </a:rPr>
              <a:t>Clear voice and visual feedback.</a:t>
            </a:r>
          </a:p>
          <a:p>
            <a:pPr marL="0" lvl="0" indent="0" algn="l">
              <a:lnSpc>
                <a:spcPts val="4199"/>
              </a:lnSpc>
              <a:spcBef>
                <a:spcPct val="0"/>
              </a:spcBef>
            </a:pPr>
            <a:r>
              <a:rPr lang="en-US" sz="2799">
                <a:solidFill>
                  <a:srgbClr val="000000"/>
                </a:solidFill>
                <a:latin typeface="Open Sans"/>
                <a:ea typeface="Open Sans"/>
                <a:cs typeface="Open Sans"/>
                <a:sym typeface="Open Sans"/>
              </a:rPr>
              <a:t> </a:t>
            </a:r>
          </a:p>
        </p:txBody>
      </p:sp>
      <p:sp>
        <p:nvSpPr>
          <p:cNvPr id="5" name="TextBox 5"/>
          <p:cNvSpPr txBox="1"/>
          <p:nvPr/>
        </p:nvSpPr>
        <p:spPr>
          <a:xfrm>
            <a:off x="5488546" y="769398"/>
            <a:ext cx="7310908" cy="775780"/>
          </a:xfrm>
          <a:prstGeom prst="rect">
            <a:avLst/>
          </a:prstGeom>
        </p:spPr>
        <p:txBody>
          <a:bodyPr lIns="0" tIns="0" rIns="0" bIns="0" rtlCol="0" anchor="t">
            <a:spAutoFit/>
          </a:bodyPr>
          <a:lstStyle/>
          <a:p>
            <a:pPr algn="ctr">
              <a:lnSpc>
                <a:spcPts val="5467"/>
              </a:lnSpc>
            </a:pPr>
            <a:r>
              <a:rPr lang="en-US" sz="6833">
                <a:solidFill>
                  <a:srgbClr val="240960"/>
                </a:solidFill>
                <a:latin typeface="Roca One"/>
                <a:ea typeface="Roca One"/>
                <a:cs typeface="Roca One"/>
                <a:sym typeface="Roca One"/>
              </a:rPr>
              <a:t>User Persona</a:t>
            </a:r>
          </a:p>
        </p:txBody>
      </p:sp>
      <p:sp>
        <p:nvSpPr>
          <p:cNvPr id="6" name="TextBox 6"/>
          <p:cNvSpPr txBox="1"/>
          <p:nvPr/>
        </p:nvSpPr>
        <p:spPr>
          <a:xfrm>
            <a:off x="1679286" y="8375523"/>
            <a:ext cx="5204128" cy="882777"/>
          </a:xfrm>
          <a:prstGeom prst="rect">
            <a:avLst/>
          </a:prstGeom>
        </p:spPr>
        <p:txBody>
          <a:bodyPr lIns="0" tIns="0" rIns="0" bIns="0" rtlCol="0" anchor="t">
            <a:spAutoFit/>
          </a:bodyPr>
          <a:lstStyle/>
          <a:p>
            <a:pPr algn="l">
              <a:lnSpc>
                <a:spcPts val="2394"/>
              </a:lnSpc>
            </a:pPr>
            <a:r>
              <a:rPr lang="en-US" sz="2100">
                <a:solidFill>
                  <a:srgbClr val="240960"/>
                </a:solidFill>
                <a:latin typeface="Montserrat"/>
                <a:ea typeface="Montserrat"/>
                <a:cs typeface="Montserrat"/>
                <a:sym typeface="Montserrat"/>
              </a:rPr>
              <a:t>“I just want to say the amount and name — and make sure it’s correct before paying.”</a:t>
            </a:r>
          </a:p>
        </p:txBody>
      </p:sp>
      <p:grpSp>
        <p:nvGrpSpPr>
          <p:cNvPr id="7" name="Group 7"/>
          <p:cNvGrpSpPr/>
          <p:nvPr/>
        </p:nvGrpSpPr>
        <p:grpSpPr>
          <a:xfrm>
            <a:off x="4995753" y="0"/>
            <a:ext cx="13292247" cy="10420696"/>
            <a:chOff x="0" y="0"/>
            <a:chExt cx="5861954" cy="4595584"/>
          </a:xfrm>
        </p:grpSpPr>
        <p:sp>
          <p:nvSpPr>
            <p:cNvPr id="8" name="Freeform 8"/>
            <p:cNvSpPr/>
            <p:nvPr/>
          </p:nvSpPr>
          <p:spPr>
            <a:xfrm>
              <a:off x="0" y="0"/>
              <a:ext cx="5861954" cy="4595584"/>
            </a:xfrm>
            <a:custGeom>
              <a:avLst/>
              <a:gdLst/>
              <a:ahLst/>
              <a:cxnLst/>
              <a:rect l="l" t="t" r="r" b="b"/>
              <a:pathLst>
                <a:path w="5861954" h="4595584">
                  <a:moveTo>
                    <a:pt x="0" y="0"/>
                  </a:moveTo>
                  <a:lnTo>
                    <a:pt x="5861954" y="0"/>
                  </a:lnTo>
                  <a:lnTo>
                    <a:pt x="5861954" y="4595584"/>
                  </a:lnTo>
                  <a:lnTo>
                    <a:pt x="0" y="4595584"/>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9" name="TextBox 9"/>
            <p:cNvSpPr txBox="1"/>
            <p:nvPr/>
          </p:nvSpPr>
          <p:spPr>
            <a:xfrm>
              <a:off x="0" y="-38100"/>
              <a:ext cx="5861954" cy="4633684"/>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rot="-1810160">
            <a:off x="14435700" y="-1315297"/>
            <a:ext cx="4718362" cy="4687993"/>
            <a:chOff x="0" y="0"/>
            <a:chExt cx="961684" cy="955495"/>
          </a:xfrm>
        </p:grpSpPr>
        <p:sp>
          <p:nvSpPr>
            <p:cNvPr id="11" name="Freeform 11"/>
            <p:cNvSpPr/>
            <p:nvPr/>
          </p:nvSpPr>
          <p:spPr>
            <a:xfrm>
              <a:off x="0" y="0"/>
              <a:ext cx="961684" cy="955495"/>
            </a:xfrm>
            <a:custGeom>
              <a:avLst/>
              <a:gdLst/>
              <a:ahLst/>
              <a:cxnLst/>
              <a:rect l="l" t="t" r="r" b="b"/>
              <a:pathLst>
                <a:path w="961684" h="955495">
                  <a:moveTo>
                    <a:pt x="480842" y="0"/>
                  </a:moveTo>
                  <a:cubicBezTo>
                    <a:pt x="215280" y="0"/>
                    <a:pt x="0" y="213895"/>
                    <a:pt x="0" y="477747"/>
                  </a:cubicBezTo>
                  <a:cubicBezTo>
                    <a:pt x="0" y="741600"/>
                    <a:pt x="215280" y="955495"/>
                    <a:pt x="480842" y="955495"/>
                  </a:cubicBezTo>
                  <a:cubicBezTo>
                    <a:pt x="746404" y="955495"/>
                    <a:pt x="961684" y="741600"/>
                    <a:pt x="961684" y="477747"/>
                  </a:cubicBezTo>
                  <a:cubicBezTo>
                    <a:pt x="961684" y="213895"/>
                    <a:pt x="746404" y="0"/>
                    <a:pt x="480842" y="0"/>
                  </a:cubicBezTo>
                  <a:close/>
                </a:path>
              </a:pathLst>
            </a:custGeom>
            <a:gradFill rotWithShape="1">
              <a:gsLst>
                <a:gs pos="0">
                  <a:srgbClr val="3C67BF">
                    <a:alpha val="58000"/>
                  </a:srgbClr>
                </a:gs>
                <a:gs pos="100000">
                  <a:srgbClr val="F7ACFF">
                    <a:alpha val="58000"/>
                  </a:srgbClr>
                </a:gs>
              </a:gsLst>
              <a:lin ang="0"/>
            </a:gradFill>
          </p:spPr>
        </p:sp>
        <p:sp>
          <p:nvSpPr>
            <p:cNvPr id="12" name="TextBox 12"/>
            <p:cNvSpPr txBox="1"/>
            <p:nvPr/>
          </p:nvSpPr>
          <p:spPr>
            <a:xfrm>
              <a:off x="90158" y="51478"/>
              <a:ext cx="781369" cy="81443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794881" y="2179684"/>
            <a:ext cx="1743217" cy="174321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28700" y="8058304"/>
            <a:ext cx="3601304" cy="298169"/>
          </a:xfrm>
          <a:prstGeom prst="rect">
            <a:avLst/>
          </a:prstGeom>
        </p:spPr>
        <p:txBody>
          <a:bodyPr lIns="0" tIns="0" rIns="0" bIns="0" rtlCol="0" anchor="t">
            <a:spAutoFit/>
          </a:bodyPr>
          <a:lstStyle/>
          <a:p>
            <a:pPr algn="l">
              <a:lnSpc>
                <a:spcPts val="2145"/>
              </a:lnSpc>
            </a:pPr>
            <a:r>
              <a:rPr lang="en-US" sz="2681">
                <a:solidFill>
                  <a:srgbClr val="240960"/>
                </a:solidFill>
                <a:latin typeface="Roca One"/>
                <a:ea typeface="Roca One"/>
                <a:cs typeface="Roca One"/>
                <a:sym typeface="Roca One"/>
              </a:rPr>
              <a:t>🧩 Quote:</a:t>
            </a:r>
          </a:p>
        </p:txBody>
      </p:sp>
      <p:grpSp>
        <p:nvGrpSpPr>
          <p:cNvPr id="17" name="Group 17"/>
          <p:cNvGrpSpPr/>
          <p:nvPr/>
        </p:nvGrpSpPr>
        <p:grpSpPr>
          <a:xfrm rot="-1608740">
            <a:off x="-903735" y="932284"/>
            <a:ext cx="2823508" cy="282350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7ACFF">
                    <a:alpha val="0"/>
                  </a:srgbClr>
                </a:gs>
                <a:gs pos="50000">
                  <a:srgbClr val="6B4CAF">
                    <a:alpha val="33350"/>
                  </a:srgbClr>
                </a:gs>
                <a:gs pos="100000">
                  <a:srgbClr val="3C67BF">
                    <a:alpha val="5800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811664" y="920773"/>
            <a:ext cx="9888849" cy="8445454"/>
          </a:xfrm>
          <a:custGeom>
            <a:avLst/>
            <a:gdLst/>
            <a:ahLst/>
            <a:cxnLst/>
            <a:rect l="l" t="t" r="r" b="b"/>
            <a:pathLst>
              <a:path w="9888849" h="8445454">
                <a:moveTo>
                  <a:pt x="0" y="0"/>
                </a:moveTo>
                <a:lnTo>
                  <a:pt x="9888849" y="0"/>
                </a:lnTo>
                <a:lnTo>
                  <a:pt x="9888849" y="8445454"/>
                </a:lnTo>
                <a:lnTo>
                  <a:pt x="0" y="8445454"/>
                </a:lnTo>
                <a:lnTo>
                  <a:pt x="0" y="0"/>
                </a:lnTo>
                <a:close/>
              </a:path>
            </a:pathLst>
          </a:custGeom>
          <a:blipFill>
            <a:blip r:embed="rId2"/>
            <a:stretch>
              <a:fillRect t="-2846" b="-3120"/>
            </a:stretch>
          </a:blipFill>
        </p:spPr>
      </p:sp>
      <p:grpSp>
        <p:nvGrpSpPr>
          <p:cNvPr id="3" name="Group 3"/>
          <p:cNvGrpSpPr/>
          <p:nvPr/>
        </p:nvGrpSpPr>
        <p:grpSpPr>
          <a:xfrm>
            <a:off x="15486069" y="7531743"/>
            <a:ext cx="3185721" cy="318572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7259300" y="7353928"/>
            <a:ext cx="1097657" cy="1081090"/>
            <a:chOff x="0" y="0"/>
            <a:chExt cx="812800" cy="800532"/>
          </a:xfrm>
        </p:grpSpPr>
        <p:sp>
          <p:nvSpPr>
            <p:cNvPr id="7" name="Freeform 7"/>
            <p:cNvSpPr/>
            <p:nvPr/>
          </p:nvSpPr>
          <p:spPr>
            <a:xfrm>
              <a:off x="0" y="0"/>
              <a:ext cx="812800" cy="800532"/>
            </a:xfrm>
            <a:custGeom>
              <a:avLst/>
              <a:gdLst/>
              <a:ahLst/>
              <a:cxnLst/>
              <a:rect l="l" t="t" r="r" b="b"/>
              <a:pathLst>
                <a:path w="812800" h="800532">
                  <a:moveTo>
                    <a:pt x="406400" y="0"/>
                  </a:moveTo>
                  <a:cubicBezTo>
                    <a:pt x="181951" y="0"/>
                    <a:pt x="0" y="179205"/>
                    <a:pt x="0" y="400266"/>
                  </a:cubicBezTo>
                  <a:cubicBezTo>
                    <a:pt x="0" y="621327"/>
                    <a:pt x="181951" y="800532"/>
                    <a:pt x="406400" y="800532"/>
                  </a:cubicBezTo>
                  <a:cubicBezTo>
                    <a:pt x="630849" y="800532"/>
                    <a:pt x="812800" y="621327"/>
                    <a:pt x="812800" y="400266"/>
                  </a:cubicBezTo>
                  <a:cubicBezTo>
                    <a:pt x="812800" y="179205"/>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8" name="TextBox 8"/>
            <p:cNvSpPr txBox="1"/>
            <p:nvPr/>
          </p:nvSpPr>
          <p:spPr>
            <a:xfrm>
              <a:off x="76200" y="36950"/>
              <a:ext cx="660400" cy="68853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2739553" y="4910455"/>
            <a:ext cx="7191107" cy="1461580"/>
          </a:xfrm>
          <a:prstGeom prst="rect">
            <a:avLst/>
          </a:prstGeom>
        </p:spPr>
        <p:txBody>
          <a:bodyPr lIns="0" tIns="0" rIns="0" bIns="0" rtlCol="0" anchor="t">
            <a:spAutoFit/>
          </a:bodyPr>
          <a:lstStyle/>
          <a:p>
            <a:pPr algn="l">
              <a:lnSpc>
                <a:spcPts val="5467"/>
              </a:lnSpc>
            </a:pPr>
            <a:r>
              <a:rPr lang="en-US" sz="6833">
                <a:solidFill>
                  <a:srgbClr val="240960"/>
                </a:solidFill>
                <a:latin typeface="Roca One"/>
                <a:ea typeface="Roca One"/>
                <a:cs typeface="Roca One"/>
                <a:sym typeface="Roca One"/>
              </a:rPr>
              <a:t>User Flow</a:t>
            </a:r>
          </a:p>
          <a:p>
            <a:pPr algn="l">
              <a:lnSpc>
                <a:spcPts val="5467"/>
              </a:lnSpc>
            </a:pPr>
            <a:endParaRPr lang="en-US" sz="6833">
              <a:solidFill>
                <a:srgbClr val="240960"/>
              </a:solidFill>
              <a:latin typeface="Roca One"/>
              <a:ea typeface="Roca One"/>
              <a:cs typeface="Roca One"/>
              <a:sym typeface="Roca One"/>
            </a:endParaRPr>
          </a:p>
        </p:txBody>
      </p:sp>
      <p:grpSp>
        <p:nvGrpSpPr>
          <p:cNvPr id="10" name="Group 10"/>
          <p:cNvGrpSpPr/>
          <p:nvPr/>
        </p:nvGrpSpPr>
        <p:grpSpPr>
          <a:xfrm>
            <a:off x="5005834" y="0"/>
            <a:ext cx="15467439" cy="10431808"/>
            <a:chOff x="0" y="0"/>
            <a:chExt cx="4073729" cy="2747472"/>
          </a:xfrm>
        </p:grpSpPr>
        <p:sp>
          <p:nvSpPr>
            <p:cNvPr id="11" name="Freeform 11"/>
            <p:cNvSpPr/>
            <p:nvPr/>
          </p:nvSpPr>
          <p:spPr>
            <a:xfrm>
              <a:off x="0" y="0"/>
              <a:ext cx="4073729" cy="2747472"/>
            </a:xfrm>
            <a:custGeom>
              <a:avLst/>
              <a:gdLst/>
              <a:ahLst/>
              <a:cxnLst/>
              <a:rect l="l" t="t" r="r" b="b"/>
              <a:pathLst>
                <a:path w="4073729" h="2747472">
                  <a:moveTo>
                    <a:pt x="0" y="0"/>
                  </a:moveTo>
                  <a:lnTo>
                    <a:pt x="4073729" y="0"/>
                  </a:lnTo>
                  <a:lnTo>
                    <a:pt x="407372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12" name="TextBox 12"/>
            <p:cNvSpPr txBox="1"/>
            <p:nvPr/>
          </p:nvSpPr>
          <p:spPr>
            <a:xfrm>
              <a:off x="0" y="-38100"/>
              <a:ext cx="4073729" cy="2785572"/>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736798" y="1122743"/>
            <a:ext cx="867861" cy="164071"/>
          </a:xfrm>
          <a:prstGeom prst="rect">
            <a:avLst/>
          </a:prstGeom>
        </p:spPr>
        <p:txBody>
          <a:bodyPr lIns="0" tIns="0" rIns="0" bIns="0" rtlCol="0" anchor="t">
            <a:spAutoFit/>
          </a:bodyPr>
          <a:lstStyle/>
          <a:p>
            <a:pPr algn="l">
              <a:lnSpc>
                <a:spcPts val="1259"/>
              </a:lnSpc>
            </a:pPr>
            <a:r>
              <a:rPr lang="en-US" sz="1234">
                <a:solidFill>
                  <a:srgbClr val="240960"/>
                </a:solidFill>
                <a:latin typeface="Ahsing"/>
                <a:ea typeface="Ahsing"/>
                <a:cs typeface="Ahsing"/>
                <a:sym typeface="Ahsing"/>
              </a:rPr>
              <a:t>EchoPay</a:t>
            </a:r>
          </a:p>
        </p:txBody>
      </p:sp>
      <p:sp>
        <p:nvSpPr>
          <p:cNvPr id="14" name="Freeform 14"/>
          <p:cNvSpPr/>
          <p:nvPr/>
        </p:nvSpPr>
        <p:spPr>
          <a:xfrm>
            <a:off x="1319464" y="1103693"/>
            <a:ext cx="311469" cy="256538"/>
          </a:xfrm>
          <a:custGeom>
            <a:avLst/>
            <a:gdLst/>
            <a:ahLst/>
            <a:cxnLst/>
            <a:rect l="l" t="t" r="r" b="b"/>
            <a:pathLst>
              <a:path w="311469" h="256538">
                <a:moveTo>
                  <a:pt x="0" y="0"/>
                </a:moveTo>
                <a:lnTo>
                  <a:pt x="311470" y="0"/>
                </a:lnTo>
                <a:lnTo>
                  <a:pt x="311470" y="256537"/>
                </a:lnTo>
                <a:lnTo>
                  <a:pt x="0" y="2565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777169" y="0"/>
            <a:ext cx="17078418" cy="10287000"/>
          </a:xfrm>
          <a:custGeom>
            <a:avLst/>
            <a:gdLst/>
            <a:ahLst/>
            <a:cxnLst/>
            <a:rect l="l" t="t" r="r" b="b"/>
            <a:pathLst>
              <a:path w="17078418" h="10287000">
                <a:moveTo>
                  <a:pt x="0" y="0"/>
                </a:moveTo>
                <a:lnTo>
                  <a:pt x="17078418" y="0"/>
                </a:lnTo>
                <a:lnTo>
                  <a:pt x="17078418" y="10287000"/>
                </a:lnTo>
                <a:lnTo>
                  <a:pt x="0" y="10287000"/>
                </a:lnTo>
                <a:lnTo>
                  <a:pt x="0" y="0"/>
                </a:lnTo>
                <a:close/>
              </a:path>
            </a:pathLst>
          </a:custGeom>
          <a:blipFill>
            <a:blip r:embed="rId2"/>
            <a:stretch>
              <a:fillRect t="-3322" b="-3137"/>
            </a:stretch>
          </a:blipFill>
        </p:spPr>
      </p:sp>
      <p:grpSp>
        <p:nvGrpSpPr>
          <p:cNvPr id="3" name="Group 3"/>
          <p:cNvGrpSpPr/>
          <p:nvPr/>
        </p:nvGrpSpPr>
        <p:grpSpPr>
          <a:xfrm>
            <a:off x="15499548" y="7423304"/>
            <a:ext cx="3436055" cy="343605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807791" y="-780073"/>
            <a:ext cx="4320066" cy="4254862"/>
            <a:chOff x="0" y="0"/>
            <a:chExt cx="812800" cy="800532"/>
          </a:xfrm>
        </p:grpSpPr>
        <p:sp>
          <p:nvSpPr>
            <p:cNvPr id="7" name="Freeform 7"/>
            <p:cNvSpPr/>
            <p:nvPr/>
          </p:nvSpPr>
          <p:spPr>
            <a:xfrm>
              <a:off x="0" y="0"/>
              <a:ext cx="812800" cy="800532"/>
            </a:xfrm>
            <a:custGeom>
              <a:avLst/>
              <a:gdLst/>
              <a:ahLst/>
              <a:cxnLst/>
              <a:rect l="l" t="t" r="r" b="b"/>
              <a:pathLst>
                <a:path w="812800" h="800532">
                  <a:moveTo>
                    <a:pt x="406400" y="0"/>
                  </a:moveTo>
                  <a:cubicBezTo>
                    <a:pt x="181951" y="0"/>
                    <a:pt x="0" y="179205"/>
                    <a:pt x="0" y="400266"/>
                  </a:cubicBezTo>
                  <a:cubicBezTo>
                    <a:pt x="0" y="621327"/>
                    <a:pt x="181951" y="800532"/>
                    <a:pt x="406400" y="800532"/>
                  </a:cubicBezTo>
                  <a:cubicBezTo>
                    <a:pt x="630849" y="800532"/>
                    <a:pt x="812800" y="621327"/>
                    <a:pt x="812800" y="400266"/>
                  </a:cubicBezTo>
                  <a:cubicBezTo>
                    <a:pt x="812800" y="179205"/>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8" name="TextBox 8"/>
            <p:cNvSpPr txBox="1"/>
            <p:nvPr/>
          </p:nvSpPr>
          <p:spPr>
            <a:xfrm>
              <a:off x="76200" y="36950"/>
              <a:ext cx="660400" cy="68853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6775571" y="7013900"/>
            <a:ext cx="2160033" cy="2127431"/>
            <a:chOff x="0" y="0"/>
            <a:chExt cx="812800" cy="800532"/>
          </a:xfrm>
        </p:grpSpPr>
        <p:sp>
          <p:nvSpPr>
            <p:cNvPr id="10" name="Freeform 10"/>
            <p:cNvSpPr/>
            <p:nvPr/>
          </p:nvSpPr>
          <p:spPr>
            <a:xfrm>
              <a:off x="0" y="0"/>
              <a:ext cx="812800" cy="800532"/>
            </a:xfrm>
            <a:custGeom>
              <a:avLst/>
              <a:gdLst/>
              <a:ahLst/>
              <a:cxnLst/>
              <a:rect l="l" t="t" r="r" b="b"/>
              <a:pathLst>
                <a:path w="812800" h="800532">
                  <a:moveTo>
                    <a:pt x="406400" y="0"/>
                  </a:moveTo>
                  <a:cubicBezTo>
                    <a:pt x="181951" y="0"/>
                    <a:pt x="0" y="179205"/>
                    <a:pt x="0" y="400266"/>
                  </a:cubicBezTo>
                  <a:cubicBezTo>
                    <a:pt x="0" y="621327"/>
                    <a:pt x="181951" y="800532"/>
                    <a:pt x="406400" y="800532"/>
                  </a:cubicBezTo>
                  <a:cubicBezTo>
                    <a:pt x="630849" y="800532"/>
                    <a:pt x="812800" y="621327"/>
                    <a:pt x="812800" y="400266"/>
                  </a:cubicBezTo>
                  <a:cubicBezTo>
                    <a:pt x="812800" y="179205"/>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1" name="TextBox 11"/>
            <p:cNvSpPr txBox="1"/>
            <p:nvPr/>
          </p:nvSpPr>
          <p:spPr>
            <a:xfrm>
              <a:off x="76200" y="36950"/>
              <a:ext cx="660400" cy="688532"/>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8100000">
            <a:off x="1085660" y="-1446453"/>
            <a:ext cx="3834457" cy="3675788"/>
            <a:chOff x="0" y="0"/>
            <a:chExt cx="1828491" cy="1752828"/>
          </a:xfrm>
        </p:grpSpPr>
        <p:sp>
          <p:nvSpPr>
            <p:cNvPr id="13" name="Freeform 13"/>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14" name="TextBox 14"/>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2055841" y="897074"/>
            <a:ext cx="5377369" cy="14615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Information architect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rot="35999">
            <a:off x="1293068" y="1805770"/>
            <a:ext cx="3323726" cy="6747865"/>
          </a:xfrm>
          <a:custGeom>
            <a:avLst/>
            <a:gdLst/>
            <a:ahLst/>
            <a:cxnLst/>
            <a:rect l="l" t="t" r="r" b="b"/>
            <a:pathLst>
              <a:path w="3323726" h="6747865">
                <a:moveTo>
                  <a:pt x="0" y="34071"/>
                </a:moveTo>
                <a:lnTo>
                  <a:pt x="3253417" y="0"/>
                </a:lnTo>
                <a:lnTo>
                  <a:pt x="3323727" y="6713794"/>
                </a:lnTo>
                <a:lnTo>
                  <a:pt x="70310" y="6747865"/>
                </a:lnTo>
                <a:lnTo>
                  <a:pt x="0" y="34071"/>
                </a:lnTo>
                <a:close/>
              </a:path>
            </a:pathLst>
          </a:custGeom>
          <a:blipFill>
            <a:blip r:embed="rId2"/>
            <a:stretch>
              <a:fillRect b="-266"/>
            </a:stretch>
          </a:blipFill>
        </p:spPr>
      </p:sp>
      <p:sp>
        <p:nvSpPr>
          <p:cNvPr id="3" name="Freeform 3"/>
          <p:cNvSpPr/>
          <p:nvPr/>
        </p:nvSpPr>
        <p:spPr>
          <a:xfrm>
            <a:off x="9689625" y="1822621"/>
            <a:ext cx="3215136" cy="6786566"/>
          </a:xfrm>
          <a:custGeom>
            <a:avLst/>
            <a:gdLst/>
            <a:ahLst/>
            <a:cxnLst/>
            <a:rect l="l" t="t" r="r" b="b"/>
            <a:pathLst>
              <a:path w="3215136" h="6786566">
                <a:moveTo>
                  <a:pt x="0" y="0"/>
                </a:moveTo>
                <a:lnTo>
                  <a:pt x="3215136" y="0"/>
                </a:lnTo>
                <a:lnTo>
                  <a:pt x="3215136" y="6786566"/>
                </a:lnTo>
                <a:lnTo>
                  <a:pt x="0" y="6786566"/>
                </a:lnTo>
                <a:lnTo>
                  <a:pt x="0" y="0"/>
                </a:lnTo>
                <a:close/>
              </a:path>
            </a:pathLst>
          </a:custGeom>
          <a:blipFill>
            <a:blip r:embed="rId3"/>
            <a:stretch>
              <a:fillRect/>
            </a:stretch>
          </a:blipFill>
        </p:spPr>
      </p:sp>
      <p:sp>
        <p:nvSpPr>
          <p:cNvPr id="4" name="Freeform 4"/>
          <p:cNvSpPr/>
          <p:nvPr/>
        </p:nvSpPr>
        <p:spPr>
          <a:xfrm>
            <a:off x="5509011" y="1750217"/>
            <a:ext cx="3288419" cy="6786566"/>
          </a:xfrm>
          <a:custGeom>
            <a:avLst/>
            <a:gdLst/>
            <a:ahLst/>
            <a:cxnLst/>
            <a:rect l="l" t="t" r="r" b="b"/>
            <a:pathLst>
              <a:path w="3288419" h="6786566">
                <a:moveTo>
                  <a:pt x="0" y="0"/>
                </a:moveTo>
                <a:lnTo>
                  <a:pt x="3288418" y="0"/>
                </a:lnTo>
                <a:lnTo>
                  <a:pt x="3288418" y="6786566"/>
                </a:lnTo>
                <a:lnTo>
                  <a:pt x="0" y="6786566"/>
                </a:lnTo>
                <a:lnTo>
                  <a:pt x="0" y="0"/>
                </a:lnTo>
                <a:close/>
              </a:path>
            </a:pathLst>
          </a:custGeom>
          <a:blipFill>
            <a:blip r:embed="rId4"/>
            <a:stretch>
              <a:fillRect t="-3924"/>
            </a:stretch>
          </a:blipFill>
        </p:spPr>
      </p:sp>
      <p:sp>
        <p:nvSpPr>
          <p:cNvPr id="5" name="Freeform 5"/>
          <p:cNvSpPr/>
          <p:nvPr/>
        </p:nvSpPr>
        <p:spPr>
          <a:xfrm>
            <a:off x="13800111" y="1822621"/>
            <a:ext cx="3113693" cy="6714162"/>
          </a:xfrm>
          <a:custGeom>
            <a:avLst/>
            <a:gdLst/>
            <a:ahLst/>
            <a:cxnLst/>
            <a:rect l="l" t="t" r="r" b="b"/>
            <a:pathLst>
              <a:path w="3113693" h="6714162">
                <a:moveTo>
                  <a:pt x="0" y="0"/>
                </a:moveTo>
                <a:lnTo>
                  <a:pt x="3113692" y="0"/>
                </a:lnTo>
                <a:lnTo>
                  <a:pt x="3113692" y="6714162"/>
                </a:lnTo>
                <a:lnTo>
                  <a:pt x="0" y="6714162"/>
                </a:lnTo>
                <a:lnTo>
                  <a:pt x="0" y="0"/>
                </a:lnTo>
                <a:close/>
              </a:path>
            </a:pathLst>
          </a:custGeom>
          <a:blipFill>
            <a:blip r:embed="rId5"/>
            <a:stretch>
              <a:fillRect/>
            </a:stretch>
          </a:blipFill>
        </p:spPr>
      </p:sp>
      <p:sp>
        <p:nvSpPr>
          <p:cNvPr id="6" name="TextBox 6"/>
          <p:cNvSpPr txBox="1"/>
          <p:nvPr/>
        </p:nvSpPr>
        <p:spPr>
          <a:xfrm>
            <a:off x="6593881" y="769398"/>
            <a:ext cx="5100237"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Low Fidelity</a:t>
            </a:r>
          </a:p>
        </p:txBody>
      </p:sp>
      <p:sp>
        <p:nvSpPr>
          <p:cNvPr id="7" name="TextBox 7"/>
          <p:cNvSpPr txBox="1"/>
          <p:nvPr/>
        </p:nvSpPr>
        <p:spPr>
          <a:xfrm>
            <a:off x="2588576" y="9015095"/>
            <a:ext cx="732711"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Logo</a:t>
            </a:r>
          </a:p>
        </p:txBody>
      </p:sp>
      <p:sp>
        <p:nvSpPr>
          <p:cNvPr id="8" name="TextBox 8"/>
          <p:cNvSpPr txBox="1"/>
          <p:nvPr/>
        </p:nvSpPr>
        <p:spPr>
          <a:xfrm>
            <a:off x="5648449" y="9015095"/>
            <a:ext cx="3009543"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Language Selection</a:t>
            </a:r>
          </a:p>
        </p:txBody>
      </p:sp>
      <p:sp>
        <p:nvSpPr>
          <p:cNvPr id="9" name="TextBox 9"/>
          <p:cNvSpPr txBox="1"/>
          <p:nvPr/>
        </p:nvSpPr>
        <p:spPr>
          <a:xfrm>
            <a:off x="9707708" y="9015095"/>
            <a:ext cx="3178969"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Voice Assistant Intro</a:t>
            </a:r>
          </a:p>
        </p:txBody>
      </p:sp>
      <p:sp>
        <p:nvSpPr>
          <p:cNvPr id="10" name="TextBox 10"/>
          <p:cNvSpPr txBox="1"/>
          <p:nvPr/>
        </p:nvSpPr>
        <p:spPr>
          <a:xfrm>
            <a:off x="14522388" y="9015095"/>
            <a:ext cx="1669137"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Login Page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324376" y="152400"/>
            <a:ext cx="21133062" cy="10431808"/>
            <a:chOff x="0" y="0"/>
            <a:chExt cx="5565909" cy="2747472"/>
          </a:xfrm>
        </p:grpSpPr>
        <p:sp>
          <p:nvSpPr>
            <p:cNvPr id="3" name="Freeform 3"/>
            <p:cNvSpPr/>
            <p:nvPr/>
          </p:nvSpPr>
          <p:spPr>
            <a:xfrm>
              <a:off x="0" y="0"/>
              <a:ext cx="5565909" cy="2747472"/>
            </a:xfrm>
            <a:custGeom>
              <a:avLst/>
              <a:gdLst/>
              <a:ahLst/>
              <a:cxnLst/>
              <a:rect l="l" t="t" r="r" b="b"/>
              <a:pathLst>
                <a:path w="5565909" h="2747472">
                  <a:moveTo>
                    <a:pt x="0" y="0"/>
                  </a:moveTo>
                  <a:lnTo>
                    <a:pt x="5565909" y="0"/>
                  </a:lnTo>
                  <a:lnTo>
                    <a:pt x="556590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03290" y="1992093"/>
            <a:ext cx="3224282" cy="6752422"/>
          </a:xfrm>
          <a:custGeom>
            <a:avLst/>
            <a:gdLst/>
            <a:ahLst/>
            <a:cxnLst/>
            <a:rect l="l" t="t" r="r" b="b"/>
            <a:pathLst>
              <a:path w="3224282" h="6752422">
                <a:moveTo>
                  <a:pt x="0" y="0"/>
                </a:moveTo>
                <a:lnTo>
                  <a:pt x="3224281" y="0"/>
                </a:lnTo>
                <a:lnTo>
                  <a:pt x="3224281" y="6752422"/>
                </a:lnTo>
                <a:lnTo>
                  <a:pt x="0" y="6752422"/>
                </a:lnTo>
                <a:lnTo>
                  <a:pt x="0" y="0"/>
                </a:lnTo>
                <a:close/>
              </a:path>
            </a:pathLst>
          </a:custGeom>
          <a:blipFill>
            <a:blip r:embed="rId2"/>
            <a:stretch>
              <a:fillRect/>
            </a:stretch>
          </a:blipFill>
        </p:spPr>
      </p:sp>
      <p:sp>
        <p:nvSpPr>
          <p:cNvPr id="6" name="Freeform 6"/>
          <p:cNvSpPr/>
          <p:nvPr/>
        </p:nvSpPr>
        <p:spPr>
          <a:xfrm>
            <a:off x="5736391" y="1992093"/>
            <a:ext cx="3215841" cy="6752422"/>
          </a:xfrm>
          <a:custGeom>
            <a:avLst/>
            <a:gdLst/>
            <a:ahLst/>
            <a:cxnLst/>
            <a:rect l="l" t="t" r="r" b="b"/>
            <a:pathLst>
              <a:path w="3215841" h="6752422">
                <a:moveTo>
                  <a:pt x="0" y="0"/>
                </a:moveTo>
                <a:lnTo>
                  <a:pt x="3215841" y="0"/>
                </a:lnTo>
                <a:lnTo>
                  <a:pt x="3215841" y="6752422"/>
                </a:lnTo>
                <a:lnTo>
                  <a:pt x="0" y="6752422"/>
                </a:lnTo>
                <a:lnTo>
                  <a:pt x="0" y="0"/>
                </a:lnTo>
                <a:close/>
              </a:path>
            </a:pathLst>
          </a:custGeom>
          <a:blipFill>
            <a:blip r:embed="rId3"/>
            <a:stretch>
              <a:fillRect/>
            </a:stretch>
          </a:blipFill>
        </p:spPr>
      </p:sp>
      <p:sp>
        <p:nvSpPr>
          <p:cNvPr id="7" name="Freeform 7"/>
          <p:cNvSpPr/>
          <p:nvPr/>
        </p:nvSpPr>
        <p:spPr>
          <a:xfrm>
            <a:off x="9909877" y="1965021"/>
            <a:ext cx="3160939" cy="6779494"/>
          </a:xfrm>
          <a:custGeom>
            <a:avLst/>
            <a:gdLst/>
            <a:ahLst/>
            <a:cxnLst/>
            <a:rect l="l" t="t" r="r" b="b"/>
            <a:pathLst>
              <a:path w="3160939" h="6779494">
                <a:moveTo>
                  <a:pt x="0" y="0"/>
                </a:moveTo>
                <a:lnTo>
                  <a:pt x="3160939" y="0"/>
                </a:lnTo>
                <a:lnTo>
                  <a:pt x="3160939" y="6779494"/>
                </a:lnTo>
                <a:lnTo>
                  <a:pt x="0" y="6779494"/>
                </a:lnTo>
                <a:lnTo>
                  <a:pt x="0" y="0"/>
                </a:lnTo>
                <a:close/>
              </a:path>
            </a:pathLst>
          </a:custGeom>
          <a:blipFill>
            <a:blip r:embed="rId4"/>
            <a:stretch>
              <a:fillRect/>
            </a:stretch>
          </a:blipFill>
        </p:spPr>
      </p:sp>
      <p:sp>
        <p:nvSpPr>
          <p:cNvPr id="8" name="Freeform 8"/>
          <p:cNvSpPr/>
          <p:nvPr/>
        </p:nvSpPr>
        <p:spPr>
          <a:xfrm>
            <a:off x="13850008" y="1965021"/>
            <a:ext cx="3228734" cy="6779494"/>
          </a:xfrm>
          <a:custGeom>
            <a:avLst/>
            <a:gdLst/>
            <a:ahLst/>
            <a:cxnLst/>
            <a:rect l="l" t="t" r="r" b="b"/>
            <a:pathLst>
              <a:path w="3228734" h="6779494">
                <a:moveTo>
                  <a:pt x="0" y="0"/>
                </a:moveTo>
                <a:lnTo>
                  <a:pt x="3228734" y="0"/>
                </a:lnTo>
                <a:lnTo>
                  <a:pt x="3228734" y="6779494"/>
                </a:lnTo>
                <a:lnTo>
                  <a:pt x="0" y="6779494"/>
                </a:lnTo>
                <a:lnTo>
                  <a:pt x="0" y="0"/>
                </a:lnTo>
                <a:close/>
              </a:path>
            </a:pathLst>
          </a:custGeom>
          <a:blipFill>
            <a:blip r:embed="rId5"/>
            <a:stretch>
              <a:fillRect/>
            </a:stretch>
          </a:blipFill>
        </p:spPr>
      </p:sp>
      <p:sp>
        <p:nvSpPr>
          <p:cNvPr id="9" name="TextBox 9"/>
          <p:cNvSpPr txBox="1"/>
          <p:nvPr/>
        </p:nvSpPr>
        <p:spPr>
          <a:xfrm>
            <a:off x="6593881" y="769398"/>
            <a:ext cx="5100237"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Low Fidelity</a:t>
            </a:r>
          </a:p>
        </p:txBody>
      </p:sp>
      <p:sp>
        <p:nvSpPr>
          <p:cNvPr id="10" name="TextBox 10"/>
          <p:cNvSpPr txBox="1"/>
          <p:nvPr/>
        </p:nvSpPr>
        <p:spPr>
          <a:xfrm>
            <a:off x="1781313" y="9015095"/>
            <a:ext cx="2068235"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Home Screen</a:t>
            </a:r>
          </a:p>
        </p:txBody>
      </p:sp>
      <p:sp>
        <p:nvSpPr>
          <p:cNvPr id="11" name="TextBox 11"/>
          <p:cNvSpPr txBox="1"/>
          <p:nvPr/>
        </p:nvSpPr>
        <p:spPr>
          <a:xfrm>
            <a:off x="6049805" y="9015095"/>
            <a:ext cx="2589014"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Account Balance</a:t>
            </a:r>
          </a:p>
        </p:txBody>
      </p:sp>
      <p:sp>
        <p:nvSpPr>
          <p:cNvPr id="12" name="TextBox 12"/>
          <p:cNvSpPr txBox="1"/>
          <p:nvPr/>
        </p:nvSpPr>
        <p:spPr>
          <a:xfrm>
            <a:off x="9948546" y="9015095"/>
            <a:ext cx="3083600"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Transaction History</a:t>
            </a:r>
          </a:p>
        </p:txBody>
      </p:sp>
      <p:sp>
        <p:nvSpPr>
          <p:cNvPr id="13" name="TextBox 13"/>
          <p:cNvSpPr txBox="1"/>
          <p:nvPr/>
        </p:nvSpPr>
        <p:spPr>
          <a:xfrm>
            <a:off x="14541998" y="9015095"/>
            <a:ext cx="1844754"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QR Scanner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433861" y="-72404"/>
            <a:ext cx="21133062" cy="10431808"/>
            <a:chOff x="0" y="0"/>
            <a:chExt cx="5565909" cy="2747472"/>
          </a:xfrm>
        </p:grpSpPr>
        <p:sp>
          <p:nvSpPr>
            <p:cNvPr id="3" name="Freeform 3"/>
            <p:cNvSpPr/>
            <p:nvPr/>
          </p:nvSpPr>
          <p:spPr>
            <a:xfrm>
              <a:off x="0" y="0"/>
              <a:ext cx="5565909" cy="2747472"/>
            </a:xfrm>
            <a:custGeom>
              <a:avLst/>
              <a:gdLst/>
              <a:ahLst/>
              <a:cxnLst/>
              <a:rect l="l" t="t" r="r" b="b"/>
              <a:pathLst>
                <a:path w="5565909" h="2747472">
                  <a:moveTo>
                    <a:pt x="0" y="0"/>
                  </a:moveTo>
                  <a:lnTo>
                    <a:pt x="5565909" y="0"/>
                  </a:lnTo>
                  <a:lnTo>
                    <a:pt x="556590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333940" y="1826558"/>
            <a:ext cx="3355794" cy="6955014"/>
          </a:xfrm>
          <a:custGeom>
            <a:avLst/>
            <a:gdLst/>
            <a:ahLst/>
            <a:cxnLst/>
            <a:rect l="l" t="t" r="r" b="b"/>
            <a:pathLst>
              <a:path w="3355794" h="6955014">
                <a:moveTo>
                  <a:pt x="0" y="0"/>
                </a:moveTo>
                <a:lnTo>
                  <a:pt x="3355795" y="0"/>
                </a:lnTo>
                <a:lnTo>
                  <a:pt x="3355795" y="6955015"/>
                </a:lnTo>
                <a:lnTo>
                  <a:pt x="0" y="6955015"/>
                </a:lnTo>
                <a:lnTo>
                  <a:pt x="0" y="0"/>
                </a:lnTo>
                <a:close/>
              </a:path>
            </a:pathLst>
          </a:custGeom>
          <a:blipFill>
            <a:blip r:embed="rId2"/>
            <a:stretch>
              <a:fillRect/>
            </a:stretch>
          </a:blipFill>
        </p:spPr>
      </p:sp>
      <p:sp>
        <p:nvSpPr>
          <p:cNvPr id="6" name="Freeform 6"/>
          <p:cNvSpPr/>
          <p:nvPr/>
        </p:nvSpPr>
        <p:spPr>
          <a:xfrm>
            <a:off x="5734373" y="1826558"/>
            <a:ext cx="3355794" cy="6955014"/>
          </a:xfrm>
          <a:custGeom>
            <a:avLst/>
            <a:gdLst/>
            <a:ahLst/>
            <a:cxnLst/>
            <a:rect l="l" t="t" r="r" b="b"/>
            <a:pathLst>
              <a:path w="3355794" h="6955014">
                <a:moveTo>
                  <a:pt x="0" y="0"/>
                </a:moveTo>
                <a:lnTo>
                  <a:pt x="3355794" y="0"/>
                </a:lnTo>
                <a:lnTo>
                  <a:pt x="3355794" y="6955015"/>
                </a:lnTo>
                <a:lnTo>
                  <a:pt x="0" y="6955015"/>
                </a:lnTo>
                <a:lnTo>
                  <a:pt x="0" y="0"/>
                </a:lnTo>
                <a:close/>
              </a:path>
            </a:pathLst>
          </a:custGeom>
          <a:blipFill>
            <a:blip r:embed="rId3"/>
            <a:stretch>
              <a:fillRect/>
            </a:stretch>
          </a:blipFill>
        </p:spPr>
      </p:sp>
      <p:sp>
        <p:nvSpPr>
          <p:cNvPr id="7" name="Freeform 7"/>
          <p:cNvSpPr/>
          <p:nvPr/>
        </p:nvSpPr>
        <p:spPr>
          <a:xfrm>
            <a:off x="9738557" y="1828743"/>
            <a:ext cx="3347101" cy="6955014"/>
          </a:xfrm>
          <a:custGeom>
            <a:avLst/>
            <a:gdLst/>
            <a:ahLst/>
            <a:cxnLst/>
            <a:rect l="l" t="t" r="r" b="b"/>
            <a:pathLst>
              <a:path w="3347101" h="6955014">
                <a:moveTo>
                  <a:pt x="0" y="0"/>
                </a:moveTo>
                <a:lnTo>
                  <a:pt x="3347101" y="0"/>
                </a:lnTo>
                <a:lnTo>
                  <a:pt x="3347101" y="6955014"/>
                </a:lnTo>
                <a:lnTo>
                  <a:pt x="0" y="6955014"/>
                </a:lnTo>
                <a:lnTo>
                  <a:pt x="0" y="0"/>
                </a:lnTo>
                <a:close/>
              </a:path>
            </a:pathLst>
          </a:custGeom>
          <a:blipFill>
            <a:blip r:embed="rId4"/>
            <a:stretch>
              <a:fillRect/>
            </a:stretch>
          </a:blipFill>
        </p:spPr>
      </p:sp>
      <p:sp>
        <p:nvSpPr>
          <p:cNvPr id="8" name="Freeform 8"/>
          <p:cNvSpPr/>
          <p:nvPr/>
        </p:nvSpPr>
        <p:spPr>
          <a:xfrm>
            <a:off x="13733358" y="1826558"/>
            <a:ext cx="3329713" cy="6955014"/>
          </a:xfrm>
          <a:custGeom>
            <a:avLst/>
            <a:gdLst/>
            <a:ahLst/>
            <a:cxnLst/>
            <a:rect l="l" t="t" r="r" b="b"/>
            <a:pathLst>
              <a:path w="3329713" h="6955014">
                <a:moveTo>
                  <a:pt x="0" y="0"/>
                </a:moveTo>
                <a:lnTo>
                  <a:pt x="3329713" y="0"/>
                </a:lnTo>
                <a:lnTo>
                  <a:pt x="3329713" y="6955015"/>
                </a:lnTo>
                <a:lnTo>
                  <a:pt x="0" y="6955015"/>
                </a:lnTo>
                <a:lnTo>
                  <a:pt x="0" y="0"/>
                </a:lnTo>
                <a:close/>
              </a:path>
            </a:pathLst>
          </a:custGeom>
          <a:blipFill>
            <a:blip r:embed="rId5"/>
            <a:stretch>
              <a:fillRect/>
            </a:stretch>
          </a:blipFill>
        </p:spPr>
      </p:sp>
      <p:sp>
        <p:nvSpPr>
          <p:cNvPr id="9" name="TextBox 9"/>
          <p:cNvSpPr txBox="1"/>
          <p:nvPr/>
        </p:nvSpPr>
        <p:spPr>
          <a:xfrm>
            <a:off x="6593881" y="769398"/>
            <a:ext cx="5100237"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Low Fidelity</a:t>
            </a:r>
          </a:p>
        </p:txBody>
      </p:sp>
      <p:sp>
        <p:nvSpPr>
          <p:cNvPr id="10" name="TextBox 10"/>
          <p:cNvSpPr txBox="1"/>
          <p:nvPr/>
        </p:nvSpPr>
        <p:spPr>
          <a:xfrm>
            <a:off x="2409560" y="9015095"/>
            <a:ext cx="1204555"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UPI Pin </a:t>
            </a:r>
          </a:p>
        </p:txBody>
      </p:sp>
      <p:sp>
        <p:nvSpPr>
          <p:cNvPr id="11" name="TextBox 11"/>
          <p:cNvSpPr txBox="1"/>
          <p:nvPr/>
        </p:nvSpPr>
        <p:spPr>
          <a:xfrm>
            <a:off x="5849217" y="9019698"/>
            <a:ext cx="3126105"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Payment Successful</a:t>
            </a:r>
          </a:p>
        </p:txBody>
      </p:sp>
      <p:sp>
        <p:nvSpPr>
          <p:cNvPr id="12" name="TextBox 12"/>
          <p:cNvSpPr txBox="1"/>
          <p:nvPr/>
        </p:nvSpPr>
        <p:spPr>
          <a:xfrm>
            <a:off x="10134805" y="9021882"/>
            <a:ext cx="2554605"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Mobile Recharge</a:t>
            </a:r>
          </a:p>
        </p:txBody>
      </p:sp>
      <p:sp>
        <p:nvSpPr>
          <p:cNvPr id="13" name="TextBox 13"/>
          <p:cNvSpPr txBox="1"/>
          <p:nvPr/>
        </p:nvSpPr>
        <p:spPr>
          <a:xfrm>
            <a:off x="14356656" y="9015095"/>
            <a:ext cx="2083117" cy="438786"/>
          </a:xfrm>
          <a:prstGeom prst="rect">
            <a:avLst/>
          </a:prstGeom>
        </p:spPr>
        <p:txBody>
          <a:bodyPr lIns="0" tIns="0" rIns="0" bIns="0" rtlCol="0" anchor="t">
            <a:spAutoFit/>
          </a:bodyPr>
          <a:lstStyle/>
          <a:p>
            <a:pPr algn="ctr">
              <a:lnSpc>
                <a:spcPts val="3639"/>
              </a:lnSpc>
              <a:spcBef>
                <a:spcPct val="0"/>
              </a:spcBef>
            </a:pPr>
            <a:r>
              <a:rPr lang="en-US" sz="2599">
                <a:solidFill>
                  <a:srgbClr val="240960"/>
                </a:solidFill>
                <a:latin typeface="Roca One"/>
                <a:ea typeface="Roca One"/>
                <a:cs typeface="Roca One"/>
                <a:sym typeface="Roca One"/>
              </a:rPr>
              <a:t>Bill payments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324376" y="152400"/>
            <a:ext cx="21133062" cy="10431808"/>
            <a:chOff x="0" y="0"/>
            <a:chExt cx="5565909" cy="2747472"/>
          </a:xfrm>
        </p:grpSpPr>
        <p:sp>
          <p:nvSpPr>
            <p:cNvPr id="3" name="Freeform 3"/>
            <p:cNvSpPr/>
            <p:nvPr/>
          </p:nvSpPr>
          <p:spPr>
            <a:xfrm>
              <a:off x="0" y="0"/>
              <a:ext cx="5565909" cy="2747472"/>
            </a:xfrm>
            <a:custGeom>
              <a:avLst/>
              <a:gdLst/>
              <a:ahLst/>
              <a:cxnLst/>
              <a:rect l="l" t="t" r="r" b="b"/>
              <a:pathLst>
                <a:path w="5565909" h="2747472">
                  <a:moveTo>
                    <a:pt x="0" y="0"/>
                  </a:moveTo>
                  <a:lnTo>
                    <a:pt x="5565909" y="0"/>
                  </a:lnTo>
                  <a:lnTo>
                    <a:pt x="556590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24000">
            <a:off x="1421204" y="2357243"/>
            <a:ext cx="3212537" cy="6891987"/>
          </a:xfrm>
          <a:custGeom>
            <a:avLst/>
            <a:gdLst/>
            <a:ahLst/>
            <a:cxnLst/>
            <a:rect l="l" t="t" r="r" b="b"/>
            <a:pathLst>
              <a:path w="3212537" h="6891987">
                <a:moveTo>
                  <a:pt x="47962" y="0"/>
                </a:moveTo>
                <a:lnTo>
                  <a:pt x="3212537" y="22093"/>
                </a:lnTo>
                <a:lnTo>
                  <a:pt x="3164576" y="6891986"/>
                </a:lnTo>
                <a:lnTo>
                  <a:pt x="0" y="6869893"/>
                </a:lnTo>
                <a:lnTo>
                  <a:pt x="47962" y="0"/>
                </a:lnTo>
                <a:close/>
              </a:path>
            </a:pathLst>
          </a:custGeom>
          <a:blipFill>
            <a:blip r:embed="rId2"/>
            <a:stretch>
              <a:fillRect l="-777"/>
            </a:stretch>
          </a:blipFill>
        </p:spPr>
      </p:sp>
      <p:sp>
        <p:nvSpPr>
          <p:cNvPr id="6" name="Freeform 6"/>
          <p:cNvSpPr/>
          <p:nvPr/>
        </p:nvSpPr>
        <p:spPr>
          <a:xfrm>
            <a:off x="5764581" y="2428306"/>
            <a:ext cx="3151889" cy="6839592"/>
          </a:xfrm>
          <a:custGeom>
            <a:avLst/>
            <a:gdLst/>
            <a:ahLst/>
            <a:cxnLst/>
            <a:rect l="l" t="t" r="r" b="b"/>
            <a:pathLst>
              <a:path w="3151889" h="6839592">
                <a:moveTo>
                  <a:pt x="0" y="0"/>
                </a:moveTo>
                <a:lnTo>
                  <a:pt x="3151889" y="0"/>
                </a:lnTo>
                <a:lnTo>
                  <a:pt x="3151889" y="6839592"/>
                </a:lnTo>
                <a:lnTo>
                  <a:pt x="0" y="6839592"/>
                </a:lnTo>
                <a:lnTo>
                  <a:pt x="0" y="0"/>
                </a:lnTo>
                <a:close/>
              </a:path>
            </a:pathLst>
          </a:custGeom>
          <a:blipFill>
            <a:blip r:embed="rId3"/>
            <a:stretch>
              <a:fillRect t="-445" r="-333"/>
            </a:stretch>
          </a:blipFill>
        </p:spPr>
      </p:sp>
      <p:sp>
        <p:nvSpPr>
          <p:cNvPr id="7" name="Freeform 7"/>
          <p:cNvSpPr/>
          <p:nvPr/>
        </p:nvSpPr>
        <p:spPr>
          <a:xfrm>
            <a:off x="9721659" y="2428306"/>
            <a:ext cx="3136898" cy="6829994"/>
          </a:xfrm>
          <a:custGeom>
            <a:avLst/>
            <a:gdLst/>
            <a:ahLst/>
            <a:cxnLst/>
            <a:rect l="l" t="t" r="r" b="b"/>
            <a:pathLst>
              <a:path w="3136898" h="6829994">
                <a:moveTo>
                  <a:pt x="0" y="0"/>
                </a:moveTo>
                <a:lnTo>
                  <a:pt x="3136898" y="0"/>
                </a:lnTo>
                <a:lnTo>
                  <a:pt x="3136898" y="6829994"/>
                </a:lnTo>
                <a:lnTo>
                  <a:pt x="0" y="6829994"/>
                </a:lnTo>
                <a:lnTo>
                  <a:pt x="0" y="0"/>
                </a:lnTo>
                <a:close/>
              </a:path>
            </a:pathLst>
          </a:custGeom>
          <a:blipFill>
            <a:blip r:embed="rId4"/>
            <a:stretch>
              <a:fillRect l="-1265" t="-586"/>
            </a:stretch>
          </a:blipFill>
        </p:spPr>
      </p:sp>
      <p:sp>
        <p:nvSpPr>
          <p:cNvPr id="8" name="Freeform 8"/>
          <p:cNvSpPr/>
          <p:nvPr/>
        </p:nvSpPr>
        <p:spPr>
          <a:xfrm>
            <a:off x="14101014" y="2408273"/>
            <a:ext cx="3158286" cy="6829994"/>
          </a:xfrm>
          <a:custGeom>
            <a:avLst/>
            <a:gdLst/>
            <a:ahLst/>
            <a:cxnLst/>
            <a:rect l="l" t="t" r="r" b="b"/>
            <a:pathLst>
              <a:path w="3158286" h="6829994">
                <a:moveTo>
                  <a:pt x="0" y="0"/>
                </a:moveTo>
                <a:lnTo>
                  <a:pt x="3158286" y="0"/>
                </a:lnTo>
                <a:lnTo>
                  <a:pt x="3158286" y="6829994"/>
                </a:lnTo>
                <a:lnTo>
                  <a:pt x="0" y="6829994"/>
                </a:lnTo>
                <a:lnTo>
                  <a:pt x="0" y="0"/>
                </a:lnTo>
                <a:close/>
              </a:path>
            </a:pathLst>
          </a:custGeom>
          <a:blipFill>
            <a:blip r:embed="rId5"/>
            <a:stretch>
              <a:fillRect l="-1206" r="-42170"/>
            </a:stretch>
          </a:blipFill>
        </p:spPr>
      </p:sp>
      <p:sp>
        <p:nvSpPr>
          <p:cNvPr id="9" name="TextBox 9"/>
          <p:cNvSpPr txBox="1"/>
          <p:nvPr/>
        </p:nvSpPr>
        <p:spPr>
          <a:xfrm>
            <a:off x="6011662" y="769398"/>
            <a:ext cx="6264675"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Mid-Fi Screens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218782" y="-72404"/>
            <a:ext cx="21133062" cy="10431808"/>
            <a:chOff x="0" y="0"/>
            <a:chExt cx="5565909" cy="2747472"/>
          </a:xfrm>
        </p:grpSpPr>
        <p:sp>
          <p:nvSpPr>
            <p:cNvPr id="3" name="Freeform 3"/>
            <p:cNvSpPr/>
            <p:nvPr/>
          </p:nvSpPr>
          <p:spPr>
            <a:xfrm>
              <a:off x="0" y="0"/>
              <a:ext cx="5565909" cy="2747472"/>
            </a:xfrm>
            <a:custGeom>
              <a:avLst/>
              <a:gdLst/>
              <a:ahLst/>
              <a:cxnLst/>
              <a:rect l="l" t="t" r="r" b="b"/>
              <a:pathLst>
                <a:path w="5565909" h="2747472">
                  <a:moveTo>
                    <a:pt x="0" y="0"/>
                  </a:moveTo>
                  <a:lnTo>
                    <a:pt x="5565909" y="0"/>
                  </a:lnTo>
                  <a:lnTo>
                    <a:pt x="556590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5006302" y="1545177"/>
            <a:ext cx="3393872" cy="7454214"/>
          </a:xfrm>
          <a:custGeom>
            <a:avLst/>
            <a:gdLst/>
            <a:ahLst/>
            <a:cxnLst/>
            <a:rect l="l" t="t" r="r" b="b"/>
            <a:pathLst>
              <a:path w="3393872" h="7454214">
                <a:moveTo>
                  <a:pt x="0" y="0"/>
                </a:moveTo>
                <a:lnTo>
                  <a:pt x="3393872" y="0"/>
                </a:lnTo>
                <a:lnTo>
                  <a:pt x="3393872" y="7454214"/>
                </a:lnTo>
                <a:lnTo>
                  <a:pt x="0" y="7454214"/>
                </a:lnTo>
                <a:lnTo>
                  <a:pt x="0" y="0"/>
                </a:lnTo>
                <a:close/>
              </a:path>
            </a:pathLst>
          </a:custGeom>
          <a:blipFill>
            <a:blip r:embed="rId2"/>
            <a:stretch>
              <a:fillRect/>
            </a:stretch>
          </a:blipFill>
        </p:spPr>
      </p:sp>
      <p:sp>
        <p:nvSpPr>
          <p:cNvPr id="6" name="Freeform 6"/>
          <p:cNvSpPr/>
          <p:nvPr/>
        </p:nvSpPr>
        <p:spPr>
          <a:xfrm>
            <a:off x="846450" y="1545177"/>
            <a:ext cx="3402405" cy="7454214"/>
          </a:xfrm>
          <a:custGeom>
            <a:avLst/>
            <a:gdLst/>
            <a:ahLst/>
            <a:cxnLst/>
            <a:rect l="l" t="t" r="r" b="b"/>
            <a:pathLst>
              <a:path w="3402405" h="7454214">
                <a:moveTo>
                  <a:pt x="0" y="0"/>
                </a:moveTo>
                <a:lnTo>
                  <a:pt x="3402406" y="0"/>
                </a:lnTo>
                <a:lnTo>
                  <a:pt x="3402406" y="7454214"/>
                </a:lnTo>
                <a:lnTo>
                  <a:pt x="0" y="7454214"/>
                </a:lnTo>
                <a:lnTo>
                  <a:pt x="0" y="0"/>
                </a:lnTo>
                <a:close/>
              </a:path>
            </a:pathLst>
          </a:custGeom>
          <a:blipFill>
            <a:blip r:embed="rId3"/>
            <a:stretch>
              <a:fillRect r="-613"/>
            </a:stretch>
          </a:blipFill>
        </p:spPr>
      </p:sp>
      <p:sp>
        <p:nvSpPr>
          <p:cNvPr id="7" name="Freeform 7"/>
          <p:cNvSpPr/>
          <p:nvPr/>
        </p:nvSpPr>
        <p:spPr>
          <a:xfrm>
            <a:off x="9157621" y="1545177"/>
            <a:ext cx="3471433" cy="7454214"/>
          </a:xfrm>
          <a:custGeom>
            <a:avLst/>
            <a:gdLst/>
            <a:ahLst/>
            <a:cxnLst/>
            <a:rect l="l" t="t" r="r" b="b"/>
            <a:pathLst>
              <a:path w="3471433" h="7454214">
                <a:moveTo>
                  <a:pt x="0" y="0"/>
                </a:moveTo>
                <a:lnTo>
                  <a:pt x="3471433" y="0"/>
                </a:lnTo>
                <a:lnTo>
                  <a:pt x="3471433" y="7454214"/>
                </a:lnTo>
                <a:lnTo>
                  <a:pt x="0" y="7454214"/>
                </a:lnTo>
                <a:lnTo>
                  <a:pt x="0" y="0"/>
                </a:lnTo>
                <a:close/>
              </a:path>
            </a:pathLst>
          </a:custGeom>
          <a:blipFill>
            <a:blip r:embed="rId4"/>
            <a:stretch>
              <a:fillRect l="-1201" t="-1798" r="-1201"/>
            </a:stretch>
          </a:blipFill>
        </p:spPr>
      </p:sp>
      <p:sp>
        <p:nvSpPr>
          <p:cNvPr id="8" name="Freeform 8"/>
          <p:cNvSpPr/>
          <p:nvPr/>
        </p:nvSpPr>
        <p:spPr>
          <a:xfrm>
            <a:off x="13391054" y="1545177"/>
            <a:ext cx="3435810" cy="7454214"/>
          </a:xfrm>
          <a:custGeom>
            <a:avLst/>
            <a:gdLst/>
            <a:ahLst/>
            <a:cxnLst/>
            <a:rect l="l" t="t" r="r" b="b"/>
            <a:pathLst>
              <a:path w="3435810" h="7454214">
                <a:moveTo>
                  <a:pt x="0" y="0"/>
                </a:moveTo>
                <a:lnTo>
                  <a:pt x="3435810" y="0"/>
                </a:lnTo>
                <a:lnTo>
                  <a:pt x="3435810" y="7454214"/>
                </a:lnTo>
                <a:lnTo>
                  <a:pt x="0" y="7454214"/>
                </a:lnTo>
                <a:lnTo>
                  <a:pt x="0" y="0"/>
                </a:lnTo>
                <a:close/>
              </a:path>
            </a:pathLst>
          </a:custGeom>
          <a:blipFill>
            <a:blip r:embed="rId5"/>
            <a:stretch>
              <a:fillRect/>
            </a:stretch>
          </a:blipFill>
        </p:spPr>
      </p:sp>
      <p:sp>
        <p:nvSpPr>
          <p:cNvPr id="9" name="TextBox 9"/>
          <p:cNvSpPr txBox="1"/>
          <p:nvPr/>
        </p:nvSpPr>
        <p:spPr>
          <a:xfrm>
            <a:off x="6011662" y="769398"/>
            <a:ext cx="6264675"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Mid-Fi Screens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028700" y="2382085"/>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2"/>
            <a:stretch>
              <a:fillRect/>
            </a:stretch>
          </a:blipFill>
        </p:spPr>
      </p:sp>
      <p:sp>
        <p:nvSpPr>
          <p:cNvPr id="3" name="TextBox 3"/>
          <p:cNvSpPr txBox="1"/>
          <p:nvPr/>
        </p:nvSpPr>
        <p:spPr>
          <a:xfrm>
            <a:off x="5170763" y="769398"/>
            <a:ext cx="7946475"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Kit:Logo</a:t>
            </a:r>
          </a:p>
        </p:txBody>
      </p:sp>
      <p:sp>
        <p:nvSpPr>
          <p:cNvPr id="4" name="TextBox 4"/>
          <p:cNvSpPr txBox="1"/>
          <p:nvPr/>
        </p:nvSpPr>
        <p:spPr>
          <a:xfrm>
            <a:off x="7799099" y="2565292"/>
            <a:ext cx="10052485" cy="5933394"/>
          </a:xfrm>
          <a:prstGeom prst="rect">
            <a:avLst/>
          </a:prstGeom>
        </p:spPr>
        <p:txBody>
          <a:bodyPr lIns="0" tIns="0" rIns="0" bIns="0" rtlCol="0" anchor="t">
            <a:spAutoFit/>
          </a:bodyPr>
          <a:lstStyle/>
          <a:p>
            <a:pPr algn="ctr">
              <a:lnSpc>
                <a:spcPts val="3713"/>
              </a:lnSpc>
            </a:pPr>
            <a:r>
              <a:rPr lang="en-US" sz="2652">
                <a:solidFill>
                  <a:srgbClr val="240960"/>
                </a:solidFill>
                <a:latin typeface="Roca One"/>
                <a:ea typeface="Roca One"/>
                <a:cs typeface="Roca One"/>
                <a:sym typeface="Roca One"/>
              </a:rPr>
              <a:t>🌀 EchoPay Logo Description</a:t>
            </a:r>
          </a:p>
          <a:p>
            <a:pPr algn="ctr">
              <a:lnSpc>
                <a:spcPts val="3713"/>
              </a:lnSpc>
            </a:pPr>
            <a:endParaRPr lang="en-US" sz="2652">
              <a:solidFill>
                <a:srgbClr val="240960"/>
              </a:solidFill>
              <a:latin typeface="Roca One"/>
              <a:ea typeface="Roca One"/>
              <a:cs typeface="Roca One"/>
              <a:sym typeface="Roca One"/>
            </a:endParaRPr>
          </a:p>
          <a:p>
            <a:pPr algn="ctr">
              <a:lnSpc>
                <a:spcPts val="3713"/>
              </a:lnSpc>
              <a:spcBef>
                <a:spcPct val="0"/>
              </a:spcBef>
            </a:pPr>
            <a:r>
              <a:rPr lang="en-US" sz="2652">
                <a:solidFill>
                  <a:srgbClr val="240960"/>
                </a:solidFill>
                <a:latin typeface="Roca One"/>
                <a:ea typeface="Roca One"/>
                <a:cs typeface="Roca One"/>
                <a:sym typeface="Roca One"/>
              </a:rPr>
              <a:t>The EchoPay logo visually represents the app’s purpose — simplifying UPI payments through voice assistance for elderly users. The circular icon features a soundwave integrated with a dollar symbol ($), symbolizing voice-driven financial transactions. The wave design reflects clarity, communication, and trust, while the cool blue and teal tones convey security, reliability, and modern technology. The bold typography of “ECHO” paired with the sleek “PAY” highlights the fusion of voice (echo) and payment innovation (pay) — making it both friendly and futuristic.</a:t>
            </a:r>
          </a:p>
          <a:p>
            <a:pPr algn="ctr">
              <a:lnSpc>
                <a:spcPts val="2661"/>
              </a:lnSpc>
              <a:spcBef>
                <a:spcPct val="0"/>
              </a:spcBef>
            </a:pPr>
            <a:endParaRPr lang="en-US" sz="2652">
              <a:solidFill>
                <a:srgbClr val="240960"/>
              </a:solidFill>
              <a:latin typeface="Roca One"/>
              <a:ea typeface="Roca One"/>
              <a:cs typeface="Roca One"/>
              <a:sym typeface="Roca One"/>
            </a:endParaRPr>
          </a:p>
        </p:txBody>
      </p:sp>
      <p:grpSp>
        <p:nvGrpSpPr>
          <p:cNvPr id="5" name="Group 5"/>
          <p:cNvGrpSpPr/>
          <p:nvPr/>
        </p:nvGrpSpPr>
        <p:grpSpPr>
          <a:xfrm rot="-8100000">
            <a:off x="-1466683" y="8034850"/>
            <a:ext cx="3834457" cy="3675788"/>
            <a:chOff x="0" y="0"/>
            <a:chExt cx="1828491" cy="1752828"/>
          </a:xfrm>
        </p:grpSpPr>
        <p:sp>
          <p:nvSpPr>
            <p:cNvPr id="6" name="Freeform 6"/>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7" name="TextBox 7"/>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939866" y="-783389"/>
            <a:ext cx="3045046" cy="2954729"/>
            <a:chOff x="0" y="0"/>
            <a:chExt cx="997761" cy="968167"/>
          </a:xfrm>
        </p:grpSpPr>
        <p:sp>
          <p:nvSpPr>
            <p:cNvPr id="9" name="Freeform 9"/>
            <p:cNvSpPr/>
            <p:nvPr/>
          </p:nvSpPr>
          <p:spPr>
            <a:xfrm>
              <a:off x="0" y="0"/>
              <a:ext cx="997761" cy="968167"/>
            </a:xfrm>
            <a:custGeom>
              <a:avLst/>
              <a:gdLst/>
              <a:ahLst/>
              <a:cxnLst/>
              <a:rect l="l" t="t" r="r" b="b"/>
              <a:pathLst>
                <a:path w="997761" h="968167">
                  <a:moveTo>
                    <a:pt x="498880" y="0"/>
                  </a:moveTo>
                  <a:cubicBezTo>
                    <a:pt x="223356" y="0"/>
                    <a:pt x="0" y="216732"/>
                    <a:pt x="0" y="484084"/>
                  </a:cubicBezTo>
                  <a:cubicBezTo>
                    <a:pt x="0" y="751436"/>
                    <a:pt x="223356" y="968167"/>
                    <a:pt x="498880" y="968167"/>
                  </a:cubicBezTo>
                  <a:cubicBezTo>
                    <a:pt x="774405" y="968167"/>
                    <a:pt x="997761" y="751436"/>
                    <a:pt x="997761" y="484084"/>
                  </a:cubicBezTo>
                  <a:cubicBezTo>
                    <a:pt x="997761" y="216732"/>
                    <a:pt x="774405" y="0"/>
                    <a:pt x="498880" y="0"/>
                  </a:cubicBezTo>
                  <a:close/>
                </a:path>
              </a:pathLst>
            </a:custGeom>
            <a:gradFill rotWithShape="1">
              <a:gsLst>
                <a:gs pos="0">
                  <a:srgbClr val="3C67BF">
                    <a:alpha val="96000"/>
                  </a:srgbClr>
                </a:gs>
                <a:gs pos="100000">
                  <a:srgbClr val="F7ACFF">
                    <a:alpha val="96000"/>
                  </a:srgbClr>
                </a:gs>
              </a:gsLst>
              <a:lin ang="0"/>
            </a:gradFill>
          </p:spPr>
        </p:sp>
        <p:sp>
          <p:nvSpPr>
            <p:cNvPr id="10" name="TextBox 10"/>
            <p:cNvSpPr txBox="1"/>
            <p:nvPr/>
          </p:nvSpPr>
          <p:spPr>
            <a:xfrm>
              <a:off x="93540" y="52666"/>
              <a:ext cx="810681" cy="824736"/>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62256" y="8498686"/>
            <a:ext cx="2443563" cy="24435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820561" y="-72404"/>
            <a:ext cx="15467439" cy="10431808"/>
            <a:chOff x="0" y="0"/>
            <a:chExt cx="4073729" cy="2747472"/>
          </a:xfrm>
        </p:grpSpPr>
        <p:sp>
          <p:nvSpPr>
            <p:cNvPr id="3" name="Freeform 3"/>
            <p:cNvSpPr/>
            <p:nvPr/>
          </p:nvSpPr>
          <p:spPr>
            <a:xfrm>
              <a:off x="0" y="0"/>
              <a:ext cx="4073729" cy="2747472"/>
            </a:xfrm>
            <a:custGeom>
              <a:avLst/>
              <a:gdLst/>
              <a:ahLst/>
              <a:cxnLst/>
              <a:rect l="l" t="t" r="r" b="b"/>
              <a:pathLst>
                <a:path w="4073729" h="2747472">
                  <a:moveTo>
                    <a:pt x="0" y="0"/>
                  </a:moveTo>
                  <a:lnTo>
                    <a:pt x="4073729" y="0"/>
                  </a:lnTo>
                  <a:lnTo>
                    <a:pt x="4073729" y="2747472"/>
                  </a:lnTo>
                  <a:lnTo>
                    <a:pt x="0" y="2747472"/>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4073729" cy="2785572"/>
            </a:xfrm>
            <a:prstGeom prst="rect">
              <a:avLst/>
            </a:prstGeom>
          </p:spPr>
          <p:txBody>
            <a:bodyPr lIns="50800" tIns="50800" rIns="50800" bIns="50800" rtlCol="0" anchor="ctr"/>
            <a:lstStyle/>
            <a:p>
              <a:pPr algn="ctr">
                <a:lnSpc>
                  <a:spcPts val="2659"/>
                </a:lnSpc>
              </a:pPr>
              <a:endParaRPr/>
            </a:p>
          </p:txBody>
        </p:sp>
      </p:grpSp>
      <p:grpSp>
        <p:nvGrpSpPr>
          <p:cNvPr id="5" name="Group 5"/>
          <p:cNvGrpSpPr>
            <a:grpSpLocks noChangeAspect="1"/>
          </p:cNvGrpSpPr>
          <p:nvPr/>
        </p:nvGrpSpPr>
        <p:grpSpPr>
          <a:xfrm>
            <a:off x="4558026" y="2371419"/>
            <a:ext cx="9171948" cy="6886881"/>
            <a:chOff x="0" y="0"/>
            <a:chExt cx="8456930" cy="6350000"/>
          </a:xfrm>
        </p:grpSpPr>
        <p:sp>
          <p:nvSpPr>
            <p:cNvPr id="6" name="Freeform 6"/>
            <p:cNvSpPr/>
            <p:nvPr/>
          </p:nvSpPr>
          <p:spPr>
            <a:xfrm>
              <a:off x="0" y="0"/>
              <a:ext cx="8456930" cy="6350000"/>
            </a:xfrm>
            <a:custGeom>
              <a:avLst/>
              <a:gdLst/>
              <a:ahLst/>
              <a:cxnLst/>
              <a:rect l="l" t="t" r="r" b="b"/>
              <a:pathLst>
                <a:path w="8456930" h="6350000">
                  <a:moveTo>
                    <a:pt x="8456930" y="355600"/>
                  </a:moveTo>
                  <a:lnTo>
                    <a:pt x="8456930" y="637540"/>
                  </a:lnTo>
                  <a:lnTo>
                    <a:pt x="8455661" y="5728970"/>
                  </a:lnTo>
                  <a:lnTo>
                    <a:pt x="8455661" y="5994400"/>
                  </a:lnTo>
                  <a:cubicBezTo>
                    <a:pt x="8455661" y="6189980"/>
                    <a:pt x="8295641" y="6350000"/>
                    <a:pt x="8100061" y="6350000"/>
                  </a:cubicBezTo>
                  <a:lnTo>
                    <a:pt x="355600" y="6350000"/>
                  </a:lnTo>
                  <a:cubicBezTo>
                    <a:pt x="160020" y="6350000"/>
                    <a:pt x="0" y="6189980"/>
                    <a:pt x="0" y="5994400"/>
                  </a:cubicBezTo>
                  <a:lnTo>
                    <a:pt x="0" y="638810"/>
                  </a:lnTo>
                  <a:cubicBezTo>
                    <a:pt x="0" y="637540"/>
                    <a:pt x="0" y="638810"/>
                    <a:pt x="0" y="637540"/>
                  </a:cubicBezTo>
                  <a:cubicBezTo>
                    <a:pt x="0" y="636270"/>
                    <a:pt x="0" y="636270"/>
                    <a:pt x="0" y="636270"/>
                  </a:cubicBezTo>
                  <a:lnTo>
                    <a:pt x="0" y="355600"/>
                  </a:lnTo>
                  <a:cubicBezTo>
                    <a:pt x="0" y="160020"/>
                    <a:pt x="160020" y="0"/>
                    <a:pt x="355600" y="0"/>
                  </a:cubicBezTo>
                  <a:lnTo>
                    <a:pt x="8101330" y="0"/>
                  </a:lnTo>
                  <a:cubicBezTo>
                    <a:pt x="8296910" y="0"/>
                    <a:pt x="8456930" y="160020"/>
                    <a:pt x="8456930" y="355600"/>
                  </a:cubicBezTo>
                  <a:close/>
                </a:path>
              </a:pathLst>
            </a:custGeom>
            <a:solidFill>
              <a:srgbClr val="1B1464"/>
            </a:solidFill>
          </p:spPr>
        </p:sp>
        <p:sp>
          <p:nvSpPr>
            <p:cNvPr id="7" name="Freeform 7"/>
            <p:cNvSpPr/>
            <p:nvPr/>
          </p:nvSpPr>
          <p:spPr>
            <a:xfrm>
              <a:off x="828040" y="265430"/>
              <a:ext cx="175260" cy="196850"/>
            </a:xfrm>
            <a:custGeom>
              <a:avLst/>
              <a:gdLst/>
              <a:ahLst/>
              <a:cxnLst/>
              <a:rect l="l" t="t" r="r" b="b"/>
              <a:pathLst>
                <a:path w="175260" h="196850">
                  <a:moveTo>
                    <a:pt x="0" y="196850"/>
                  </a:moveTo>
                  <a:lnTo>
                    <a:pt x="175260" y="196850"/>
                  </a:lnTo>
                  <a:lnTo>
                    <a:pt x="175260" y="0"/>
                  </a:lnTo>
                  <a:lnTo>
                    <a:pt x="165100" y="0"/>
                  </a:lnTo>
                  <a:lnTo>
                    <a:pt x="165100" y="171450"/>
                  </a:lnTo>
                  <a:cubicBezTo>
                    <a:pt x="165100" y="179070"/>
                    <a:pt x="158750" y="186690"/>
                    <a:pt x="149860" y="186690"/>
                  </a:cubicBezTo>
                  <a:lnTo>
                    <a:pt x="0" y="186690"/>
                  </a:lnTo>
                  <a:lnTo>
                    <a:pt x="0" y="196850"/>
                  </a:lnTo>
                  <a:close/>
                </a:path>
              </a:pathLst>
            </a:custGeom>
            <a:solidFill>
              <a:srgbClr val="FFC5DE"/>
            </a:solidFill>
          </p:spPr>
        </p:sp>
        <p:sp>
          <p:nvSpPr>
            <p:cNvPr id="8" name="Freeform 8"/>
            <p:cNvSpPr/>
            <p:nvPr/>
          </p:nvSpPr>
          <p:spPr>
            <a:xfrm>
              <a:off x="786130" y="224790"/>
              <a:ext cx="175260" cy="196850"/>
            </a:xfrm>
            <a:custGeom>
              <a:avLst/>
              <a:gdLst/>
              <a:ahLst/>
              <a:cxnLst/>
              <a:rect l="l" t="t" r="r" b="b"/>
              <a:pathLst>
                <a:path w="175260" h="196850">
                  <a:moveTo>
                    <a:pt x="0" y="0"/>
                  </a:moveTo>
                  <a:lnTo>
                    <a:pt x="175260" y="0"/>
                  </a:lnTo>
                  <a:lnTo>
                    <a:pt x="175260" y="196850"/>
                  </a:lnTo>
                  <a:lnTo>
                    <a:pt x="0" y="196850"/>
                  </a:lnTo>
                  <a:close/>
                </a:path>
              </a:pathLst>
            </a:custGeom>
            <a:solidFill>
              <a:srgbClr val="FFC5DE"/>
            </a:solidFill>
          </p:spPr>
        </p:sp>
        <p:sp>
          <p:nvSpPr>
            <p:cNvPr id="9" name="Freeform 9"/>
            <p:cNvSpPr/>
            <p:nvPr/>
          </p:nvSpPr>
          <p:spPr>
            <a:xfrm>
              <a:off x="683260" y="5888990"/>
              <a:ext cx="2155190" cy="287020"/>
            </a:xfrm>
            <a:custGeom>
              <a:avLst/>
              <a:gdLst/>
              <a:ahLst/>
              <a:cxnLst/>
              <a:rect l="l" t="t" r="r" b="b"/>
              <a:pathLst>
                <a:path w="2155190" h="287020">
                  <a:moveTo>
                    <a:pt x="2011680" y="0"/>
                  </a:moveTo>
                  <a:lnTo>
                    <a:pt x="143510" y="0"/>
                  </a:lnTo>
                  <a:cubicBezTo>
                    <a:pt x="64770" y="0"/>
                    <a:pt x="0" y="64770"/>
                    <a:pt x="0" y="143510"/>
                  </a:cubicBezTo>
                  <a:cubicBezTo>
                    <a:pt x="0" y="222250"/>
                    <a:pt x="64770" y="287020"/>
                    <a:pt x="143510" y="287020"/>
                  </a:cubicBezTo>
                  <a:lnTo>
                    <a:pt x="2012950" y="287020"/>
                  </a:lnTo>
                  <a:cubicBezTo>
                    <a:pt x="2091690" y="287020"/>
                    <a:pt x="2155190" y="222250"/>
                    <a:pt x="2155190" y="143510"/>
                  </a:cubicBezTo>
                  <a:cubicBezTo>
                    <a:pt x="2155190" y="64770"/>
                    <a:pt x="2090420" y="0"/>
                    <a:pt x="2011680" y="0"/>
                  </a:cubicBezTo>
                  <a:close/>
                </a:path>
              </a:pathLst>
            </a:custGeom>
            <a:solidFill>
              <a:srgbClr val="FFC5DE"/>
            </a:solidFill>
          </p:spPr>
        </p:sp>
        <p:sp>
          <p:nvSpPr>
            <p:cNvPr id="10" name="Freeform 10"/>
            <p:cNvSpPr/>
            <p:nvPr/>
          </p:nvSpPr>
          <p:spPr>
            <a:xfrm>
              <a:off x="31750" y="31750"/>
              <a:ext cx="8392160" cy="590550"/>
            </a:xfrm>
            <a:custGeom>
              <a:avLst/>
              <a:gdLst/>
              <a:ahLst/>
              <a:cxnLst/>
              <a:rect l="l" t="t" r="r" b="b"/>
              <a:pathLst>
                <a:path w="8392160" h="590550">
                  <a:moveTo>
                    <a:pt x="0" y="590550"/>
                  </a:moveTo>
                  <a:lnTo>
                    <a:pt x="8392160" y="590550"/>
                  </a:lnTo>
                  <a:lnTo>
                    <a:pt x="8392160" y="323850"/>
                  </a:lnTo>
                  <a:cubicBezTo>
                    <a:pt x="8392160" y="146050"/>
                    <a:pt x="8247380" y="0"/>
                    <a:pt x="8068310" y="0"/>
                  </a:cubicBezTo>
                  <a:lnTo>
                    <a:pt x="323850" y="0"/>
                  </a:lnTo>
                  <a:cubicBezTo>
                    <a:pt x="144780" y="0"/>
                    <a:pt x="0" y="144780"/>
                    <a:pt x="0" y="323850"/>
                  </a:cubicBezTo>
                  <a:lnTo>
                    <a:pt x="0" y="590550"/>
                  </a:lnTo>
                  <a:close/>
                  <a:moveTo>
                    <a:pt x="1182370" y="297180"/>
                  </a:moveTo>
                  <a:lnTo>
                    <a:pt x="1426210" y="297180"/>
                  </a:lnTo>
                  <a:cubicBezTo>
                    <a:pt x="1435100" y="297180"/>
                    <a:pt x="1441450" y="304800"/>
                    <a:pt x="1441450" y="312420"/>
                  </a:cubicBezTo>
                  <a:cubicBezTo>
                    <a:pt x="1441450" y="321310"/>
                    <a:pt x="1433830" y="327660"/>
                    <a:pt x="1426210" y="327660"/>
                  </a:cubicBezTo>
                  <a:lnTo>
                    <a:pt x="1182370" y="327660"/>
                  </a:lnTo>
                  <a:cubicBezTo>
                    <a:pt x="1173480" y="327660"/>
                    <a:pt x="1167130" y="320040"/>
                    <a:pt x="1167130" y="312420"/>
                  </a:cubicBezTo>
                  <a:cubicBezTo>
                    <a:pt x="1167130" y="303530"/>
                    <a:pt x="1174750" y="297180"/>
                    <a:pt x="1182370" y="297180"/>
                  </a:cubicBezTo>
                  <a:close/>
                  <a:moveTo>
                    <a:pt x="723900" y="177800"/>
                  </a:moveTo>
                  <a:cubicBezTo>
                    <a:pt x="723900" y="170180"/>
                    <a:pt x="730250" y="162560"/>
                    <a:pt x="739140" y="162560"/>
                  </a:cubicBezTo>
                  <a:lnTo>
                    <a:pt x="946150" y="162560"/>
                  </a:lnTo>
                  <a:cubicBezTo>
                    <a:pt x="953770" y="162560"/>
                    <a:pt x="961390" y="168910"/>
                    <a:pt x="961390" y="177800"/>
                  </a:cubicBezTo>
                  <a:lnTo>
                    <a:pt x="961390" y="203200"/>
                  </a:lnTo>
                  <a:lnTo>
                    <a:pt x="986790" y="203200"/>
                  </a:lnTo>
                  <a:cubicBezTo>
                    <a:pt x="994410" y="203200"/>
                    <a:pt x="1002030" y="209550"/>
                    <a:pt x="1002030" y="218440"/>
                  </a:cubicBezTo>
                  <a:lnTo>
                    <a:pt x="1002030" y="445770"/>
                  </a:lnTo>
                  <a:cubicBezTo>
                    <a:pt x="1002030" y="453390"/>
                    <a:pt x="995680" y="461010"/>
                    <a:pt x="986790" y="461010"/>
                  </a:cubicBezTo>
                  <a:lnTo>
                    <a:pt x="779780" y="461010"/>
                  </a:lnTo>
                  <a:cubicBezTo>
                    <a:pt x="772160" y="461010"/>
                    <a:pt x="764540" y="454660"/>
                    <a:pt x="764540" y="445770"/>
                  </a:cubicBezTo>
                  <a:lnTo>
                    <a:pt x="764540" y="420370"/>
                  </a:lnTo>
                  <a:lnTo>
                    <a:pt x="739140" y="420370"/>
                  </a:lnTo>
                  <a:cubicBezTo>
                    <a:pt x="730250" y="420370"/>
                    <a:pt x="723900" y="414020"/>
                    <a:pt x="723900" y="405130"/>
                  </a:cubicBezTo>
                  <a:lnTo>
                    <a:pt x="723900" y="177800"/>
                  </a:lnTo>
                  <a:close/>
                  <a:moveTo>
                    <a:pt x="289560" y="165100"/>
                  </a:moveTo>
                  <a:cubicBezTo>
                    <a:pt x="295910" y="158750"/>
                    <a:pt x="306070" y="160020"/>
                    <a:pt x="311150" y="166370"/>
                  </a:cubicBezTo>
                  <a:lnTo>
                    <a:pt x="421640" y="288290"/>
                  </a:lnTo>
                  <a:lnTo>
                    <a:pt x="532130" y="166370"/>
                  </a:lnTo>
                  <a:cubicBezTo>
                    <a:pt x="538480" y="160020"/>
                    <a:pt x="547370" y="160020"/>
                    <a:pt x="553720" y="165100"/>
                  </a:cubicBezTo>
                  <a:cubicBezTo>
                    <a:pt x="560070" y="171450"/>
                    <a:pt x="560070" y="180340"/>
                    <a:pt x="554990" y="186690"/>
                  </a:cubicBezTo>
                  <a:lnTo>
                    <a:pt x="441960" y="311150"/>
                  </a:lnTo>
                  <a:lnTo>
                    <a:pt x="554990" y="435610"/>
                  </a:lnTo>
                  <a:cubicBezTo>
                    <a:pt x="561340" y="441960"/>
                    <a:pt x="560070" y="452120"/>
                    <a:pt x="553720" y="457200"/>
                  </a:cubicBezTo>
                  <a:cubicBezTo>
                    <a:pt x="551180" y="459740"/>
                    <a:pt x="547370" y="461010"/>
                    <a:pt x="543560" y="461010"/>
                  </a:cubicBezTo>
                  <a:cubicBezTo>
                    <a:pt x="539750" y="461010"/>
                    <a:pt x="534670" y="459740"/>
                    <a:pt x="532130" y="455930"/>
                  </a:cubicBezTo>
                  <a:lnTo>
                    <a:pt x="421640" y="334010"/>
                  </a:lnTo>
                  <a:lnTo>
                    <a:pt x="311150" y="457200"/>
                  </a:lnTo>
                  <a:cubicBezTo>
                    <a:pt x="308610" y="461010"/>
                    <a:pt x="303530" y="462280"/>
                    <a:pt x="299720" y="462280"/>
                  </a:cubicBezTo>
                  <a:cubicBezTo>
                    <a:pt x="295910" y="462280"/>
                    <a:pt x="292100" y="461010"/>
                    <a:pt x="289560" y="458470"/>
                  </a:cubicBezTo>
                  <a:cubicBezTo>
                    <a:pt x="283210" y="452120"/>
                    <a:pt x="283210" y="441960"/>
                    <a:pt x="288290" y="435610"/>
                  </a:cubicBezTo>
                  <a:lnTo>
                    <a:pt x="401320" y="311150"/>
                  </a:lnTo>
                  <a:lnTo>
                    <a:pt x="288290" y="186690"/>
                  </a:lnTo>
                  <a:cubicBezTo>
                    <a:pt x="281940" y="180340"/>
                    <a:pt x="283210" y="170180"/>
                    <a:pt x="289560" y="165100"/>
                  </a:cubicBezTo>
                  <a:close/>
                </a:path>
              </a:pathLst>
            </a:custGeom>
            <a:solidFill>
              <a:srgbClr val="FFC5DE"/>
            </a:solidFill>
          </p:spPr>
        </p:sp>
        <p:sp>
          <p:nvSpPr>
            <p:cNvPr id="11" name="Freeform 11"/>
            <p:cNvSpPr/>
            <p:nvPr/>
          </p:nvSpPr>
          <p:spPr>
            <a:xfrm>
              <a:off x="31750" y="652780"/>
              <a:ext cx="8393430" cy="5059680"/>
            </a:xfrm>
            <a:custGeom>
              <a:avLst/>
              <a:gdLst/>
              <a:ahLst/>
              <a:cxnLst/>
              <a:rect l="l" t="t" r="r" b="b"/>
              <a:pathLst>
                <a:path w="8393430" h="5059680">
                  <a:moveTo>
                    <a:pt x="0" y="0"/>
                  </a:moveTo>
                  <a:lnTo>
                    <a:pt x="8393430" y="0"/>
                  </a:lnTo>
                  <a:lnTo>
                    <a:pt x="8393430" y="5059680"/>
                  </a:lnTo>
                  <a:lnTo>
                    <a:pt x="0" y="5059680"/>
                  </a:lnTo>
                  <a:close/>
                </a:path>
              </a:pathLst>
            </a:custGeom>
            <a:blipFill>
              <a:blip r:embed="rId2"/>
              <a:stretch>
                <a:fillRect t="-4367" b="-4367"/>
              </a:stretch>
            </a:blipFill>
          </p:spPr>
        </p:sp>
        <p:sp>
          <p:nvSpPr>
            <p:cNvPr id="12" name="Freeform 12"/>
            <p:cNvSpPr/>
            <p:nvPr/>
          </p:nvSpPr>
          <p:spPr>
            <a:xfrm>
              <a:off x="31750" y="5744210"/>
              <a:ext cx="8393430" cy="574040"/>
            </a:xfrm>
            <a:custGeom>
              <a:avLst/>
              <a:gdLst/>
              <a:ahLst/>
              <a:cxnLst/>
              <a:rect l="l" t="t" r="r" b="b"/>
              <a:pathLst>
                <a:path w="8393430" h="574040">
                  <a:moveTo>
                    <a:pt x="8393430" y="0"/>
                  </a:moveTo>
                  <a:lnTo>
                    <a:pt x="0" y="0"/>
                  </a:lnTo>
                  <a:cubicBezTo>
                    <a:pt x="0" y="68580"/>
                    <a:pt x="0" y="157480"/>
                    <a:pt x="0" y="250190"/>
                  </a:cubicBezTo>
                  <a:cubicBezTo>
                    <a:pt x="0" y="427990"/>
                    <a:pt x="144780" y="574040"/>
                    <a:pt x="323850" y="574040"/>
                  </a:cubicBezTo>
                  <a:lnTo>
                    <a:pt x="8068310" y="574040"/>
                  </a:lnTo>
                  <a:cubicBezTo>
                    <a:pt x="8247380" y="574040"/>
                    <a:pt x="8393430" y="429260"/>
                    <a:pt x="8393430" y="250190"/>
                  </a:cubicBezTo>
                  <a:lnTo>
                    <a:pt x="8393430" y="0"/>
                  </a:lnTo>
                  <a:close/>
                  <a:moveTo>
                    <a:pt x="435610" y="401320"/>
                  </a:moveTo>
                  <a:cubicBezTo>
                    <a:pt x="433070" y="406400"/>
                    <a:pt x="426720" y="410210"/>
                    <a:pt x="421640" y="410210"/>
                  </a:cubicBezTo>
                  <a:cubicBezTo>
                    <a:pt x="419100" y="410210"/>
                    <a:pt x="416560" y="410210"/>
                    <a:pt x="414020" y="408940"/>
                  </a:cubicBezTo>
                  <a:lnTo>
                    <a:pt x="199390" y="300990"/>
                  </a:lnTo>
                  <a:cubicBezTo>
                    <a:pt x="194310" y="298450"/>
                    <a:pt x="190500" y="293370"/>
                    <a:pt x="190500" y="287020"/>
                  </a:cubicBezTo>
                  <a:cubicBezTo>
                    <a:pt x="190500" y="280670"/>
                    <a:pt x="194310" y="275590"/>
                    <a:pt x="199390" y="273050"/>
                  </a:cubicBezTo>
                  <a:lnTo>
                    <a:pt x="414020" y="166370"/>
                  </a:lnTo>
                  <a:cubicBezTo>
                    <a:pt x="421640" y="162560"/>
                    <a:pt x="430530" y="165100"/>
                    <a:pt x="435610" y="173990"/>
                  </a:cubicBezTo>
                  <a:cubicBezTo>
                    <a:pt x="438150" y="180340"/>
                    <a:pt x="435610" y="190500"/>
                    <a:pt x="427990" y="194310"/>
                  </a:cubicBezTo>
                  <a:lnTo>
                    <a:pt x="241300" y="287020"/>
                  </a:lnTo>
                  <a:lnTo>
                    <a:pt x="427990" y="379730"/>
                  </a:lnTo>
                  <a:cubicBezTo>
                    <a:pt x="435610" y="383540"/>
                    <a:pt x="439420" y="392430"/>
                    <a:pt x="435610" y="401320"/>
                  </a:cubicBezTo>
                  <a:close/>
                  <a:moveTo>
                    <a:pt x="2663190" y="462280"/>
                  </a:moveTo>
                  <a:lnTo>
                    <a:pt x="795020" y="462280"/>
                  </a:lnTo>
                  <a:cubicBezTo>
                    <a:pt x="698500" y="462280"/>
                    <a:pt x="619760" y="383540"/>
                    <a:pt x="619760" y="287020"/>
                  </a:cubicBezTo>
                  <a:cubicBezTo>
                    <a:pt x="619760" y="190501"/>
                    <a:pt x="698500" y="111760"/>
                    <a:pt x="795020" y="111760"/>
                  </a:cubicBezTo>
                  <a:lnTo>
                    <a:pt x="2664460" y="111760"/>
                  </a:lnTo>
                  <a:cubicBezTo>
                    <a:pt x="2760980" y="111760"/>
                    <a:pt x="2838450" y="190501"/>
                    <a:pt x="2838450" y="287020"/>
                  </a:cubicBezTo>
                  <a:cubicBezTo>
                    <a:pt x="2838450" y="383540"/>
                    <a:pt x="2759710" y="462280"/>
                    <a:pt x="2663190" y="462280"/>
                  </a:cubicBezTo>
                  <a:close/>
                  <a:moveTo>
                    <a:pt x="8194040" y="300990"/>
                  </a:moveTo>
                  <a:lnTo>
                    <a:pt x="7979410" y="407670"/>
                  </a:lnTo>
                  <a:cubicBezTo>
                    <a:pt x="7976870" y="408940"/>
                    <a:pt x="7974330" y="408940"/>
                    <a:pt x="7971790" y="408940"/>
                  </a:cubicBezTo>
                  <a:cubicBezTo>
                    <a:pt x="7965440" y="408940"/>
                    <a:pt x="7960360" y="405130"/>
                    <a:pt x="7957820" y="400050"/>
                  </a:cubicBezTo>
                  <a:cubicBezTo>
                    <a:pt x="7954011" y="392430"/>
                    <a:pt x="7956551" y="382270"/>
                    <a:pt x="7965440" y="378460"/>
                  </a:cubicBezTo>
                  <a:lnTo>
                    <a:pt x="8152130" y="285750"/>
                  </a:lnTo>
                  <a:lnTo>
                    <a:pt x="7965440" y="193040"/>
                  </a:lnTo>
                  <a:cubicBezTo>
                    <a:pt x="7957820" y="189230"/>
                    <a:pt x="7954010" y="180340"/>
                    <a:pt x="7957820" y="171450"/>
                  </a:cubicBezTo>
                  <a:cubicBezTo>
                    <a:pt x="7961630" y="163830"/>
                    <a:pt x="7970520" y="160020"/>
                    <a:pt x="7979411" y="163830"/>
                  </a:cubicBezTo>
                  <a:lnTo>
                    <a:pt x="8194041" y="270510"/>
                  </a:lnTo>
                  <a:cubicBezTo>
                    <a:pt x="8199121" y="275590"/>
                    <a:pt x="8202931" y="281940"/>
                    <a:pt x="8202931" y="287020"/>
                  </a:cubicBezTo>
                  <a:cubicBezTo>
                    <a:pt x="8202930" y="293370"/>
                    <a:pt x="8199120" y="298450"/>
                    <a:pt x="8194040" y="300990"/>
                  </a:cubicBezTo>
                  <a:close/>
                </a:path>
              </a:pathLst>
            </a:custGeom>
            <a:solidFill>
              <a:srgbClr val="FFFFFF"/>
            </a:solidFill>
          </p:spPr>
        </p:sp>
      </p:grpSp>
      <p:sp>
        <p:nvSpPr>
          <p:cNvPr id="13" name="TextBox 13"/>
          <p:cNvSpPr txBox="1"/>
          <p:nvPr/>
        </p:nvSpPr>
        <p:spPr>
          <a:xfrm>
            <a:off x="4959054" y="769398"/>
            <a:ext cx="8369891"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Icons</a:t>
            </a:r>
          </a:p>
        </p:txBody>
      </p:sp>
      <p:sp>
        <p:nvSpPr>
          <p:cNvPr id="14" name="TextBox 14"/>
          <p:cNvSpPr txBox="1"/>
          <p:nvPr/>
        </p:nvSpPr>
        <p:spPr>
          <a:xfrm>
            <a:off x="12040213" y="2421669"/>
            <a:ext cx="1294805" cy="688976"/>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Ahsing"/>
                <a:ea typeface="Ahsing"/>
                <a:cs typeface="Ahsing"/>
                <a:sym typeface="Ahsing"/>
              </a:rPr>
              <a:t>Icons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254548" y="-72404"/>
            <a:ext cx="15467439" cy="10431808"/>
            <a:chOff x="0" y="0"/>
            <a:chExt cx="4073729" cy="2747472"/>
          </a:xfrm>
        </p:grpSpPr>
        <p:sp>
          <p:nvSpPr>
            <p:cNvPr id="3" name="Freeform 3"/>
            <p:cNvSpPr/>
            <p:nvPr/>
          </p:nvSpPr>
          <p:spPr>
            <a:xfrm>
              <a:off x="0" y="0"/>
              <a:ext cx="4073729" cy="2747472"/>
            </a:xfrm>
            <a:custGeom>
              <a:avLst/>
              <a:gdLst/>
              <a:ahLst/>
              <a:cxnLst/>
              <a:rect l="l" t="t" r="r" b="b"/>
              <a:pathLst>
                <a:path w="4073729" h="2747472">
                  <a:moveTo>
                    <a:pt x="24025" y="0"/>
                  </a:moveTo>
                  <a:lnTo>
                    <a:pt x="4049704" y="0"/>
                  </a:lnTo>
                  <a:cubicBezTo>
                    <a:pt x="4056075" y="0"/>
                    <a:pt x="4062186" y="2531"/>
                    <a:pt x="4066692" y="7037"/>
                  </a:cubicBezTo>
                  <a:cubicBezTo>
                    <a:pt x="4071198" y="11543"/>
                    <a:pt x="4073729" y="17654"/>
                    <a:pt x="4073729" y="24025"/>
                  </a:cubicBezTo>
                  <a:lnTo>
                    <a:pt x="4073729" y="2723447"/>
                  </a:lnTo>
                  <a:cubicBezTo>
                    <a:pt x="4073729" y="2736716"/>
                    <a:pt x="4062972" y="2747472"/>
                    <a:pt x="4049704" y="2747472"/>
                  </a:cubicBezTo>
                  <a:lnTo>
                    <a:pt x="24025" y="2747472"/>
                  </a:lnTo>
                  <a:cubicBezTo>
                    <a:pt x="17654" y="2747472"/>
                    <a:pt x="11543" y="2744941"/>
                    <a:pt x="7037" y="2740435"/>
                  </a:cubicBezTo>
                  <a:cubicBezTo>
                    <a:pt x="2531" y="2735930"/>
                    <a:pt x="0" y="2729819"/>
                    <a:pt x="0" y="2723447"/>
                  </a:cubicBezTo>
                  <a:lnTo>
                    <a:pt x="0" y="24025"/>
                  </a:lnTo>
                  <a:cubicBezTo>
                    <a:pt x="0" y="10757"/>
                    <a:pt x="10757" y="0"/>
                    <a:pt x="24025"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4073729" cy="27855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3511031" y="2492076"/>
            <a:ext cx="2896046" cy="6248029"/>
          </a:xfrm>
          <a:custGeom>
            <a:avLst/>
            <a:gdLst/>
            <a:ahLst/>
            <a:cxnLst/>
            <a:rect l="l" t="t" r="r" b="b"/>
            <a:pathLst>
              <a:path w="2896046" h="6248029">
                <a:moveTo>
                  <a:pt x="0" y="0"/>
                </a:moveTo>
                <a:lnTo>
                  <a:pt x="2896046" y="0"/>
                </a:lnTo>
                <a:lnTo>
                  <a:pt x="2896046" y="6248029"/>
                </a:lnTo>
                <a:lnTo>
                  <a:pt x="0" y="6248029"/>
                </a:lnTo>
                <a:lnTo>
                  <a:pt x="0" y="0"/>
                </a:lnTo>
                <a:close/>
              </a:path>
            </a:pathLst>
          </a:custGeom>
          <a:blipFill>
            <a:blip r:embed="rId2"/>
            <a:stretch>
              <a:fillRect/>
            </a:stretch>
          </a:blipFill>
        </p:spPr>
      </p:sp>
      <p:sp>
        <p:nvSpPr>
          <p:cNvPr id="6" name="TextBox 6"/>
          <p:cNvSpPr txBox="1"/>
          <p:nvPr/>
        </p:nvSpPr>
        <p:spPr>
          <a:xfrm>
            <a:off x="4959054" y="769398"/>
            <a:ext cx="8369891"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Grid</a:t>
            </a:r>
          </a:p>
        </p:txBody>
      </p:sp>
      <p:sp>
        <p:nvSpPr>
          <p:cNvPr id="7" name="AutoShape 7"/>
          <p:cNvSpPr/>
          <p:nvPr/>
        </p:nvSpPr>
        <p:spPr>
          <a:xfrm>
            <a:off x="6407077" y="5585331"/>
            <a:ext cx="4581189" cy="30759"/>
          </a:xfrm>
          <a:prstGeom prst="line">
            <a:avLst/>
          </a:prstGeom>
          <a:ln w="38100" cap="flat">
            <a:gradFill>
              <a:gsLst>
                <a:gs pos="0">
                  <a:srgbClr val="5B45B5">
                    <a:alpha val="100000"/>
                  </a:srgbClr>
                </a:gs>
                <a:gs pos="100000">
                  <a:srgbClr val="8875D7">
                    <a:alpha val="100000"/>
                  </a:srgbClr>
                </a:gs>
              </a:gsLst>
              <a:lin ang="0"/>
            </a:gradFill>
            <a:prstDash val="solid"/>
            <a:headEnd type="none" w="sm" len="sm"/>
            <a:tailEnd type="none" w="sm" len="sm"/>
          </a:ln>
        </p:spPr>
      </p:sp>
      <p:sp>
        <p:nvSpPr>
          <p:cNvPr id="8" name="TextBox 8"/>
          <p:cNvSpPr txBox="1"/>
          <p:nvPr/>
        </p:nvSpPr>
        <p:spPr>
          <a:xfrm>
            <a:off x="11594719" y="4180990"/>
            <a:ext cx="2726293" cy="2794001"/>
          </a:xfrm>
          <a:prstGeom prst="rect">
            <a:avLst/>
          </a:prstGeom>
        </p:spPr>
        <p:txBody>
          <a:bodyPr lIns="0" tIns="0" rIns="0" bIns="0" rtlCol="0" anchor="t">
            <a:spAutoFit/>
          </a:bodyPr>
          <a:lstStyle/>
          <a:p>
            <a:pPr algn="ctr">
              <a:lnSpc>
                <a:spcPts val="5599"/>
              </a:lnSpc>
            </a:pPr>
            <a:r>
              <a:rPr lang="en-US" sz="3999">
                <a:solidFill>
                  <a:srgbClr val="240960"/>
                </a:solidFill>
                <a:latin typeface="Roca One"/>
                <a:ea typeface="Roca One"/>
                <a:cs typeface="Roca One"/>
                <a:sym typeface="Roca One"/>
              </a:rPr>
              <a:t>Grid:  </a:t>
            </a:r>
          </a:p>
          <a:p>
            <a:pPr algn="ctr">
              <a:lnSpc>
                <a:spcPts val="5599"/>
              </a:lnSpc>
            </a:pPr>
            <a:r>
              <a:rPr lang="en-US" sz="3999">
                <a:solidFill>
                  <a:srgbClr val="240960"/>
                </a:solidFill>
                <a:latin typeface="Roca One"/>
                <a:ea typeface="Roca One"/>
                <a:cs typeface="Roca One"/>
                <a:sym typeface="Roca One"/>
              </a:rPr>
              <a:t>Column : 4 </a:t>
            </a:r>
          </a:p>
          <a:p>
            <a:pPr algn="ctr">
              <a:lnSpc>
                <a:spcPts val="5599"/>
              </a:lnSpc>
            </a:pPr>
            <a:r>
              <a:rPr lang="en-US" sz="3999">
                <a:solidFill>
                  <a:srgbClr val="240960"/>
                </a:solidFill>
                <a:latin typeface="Roca One"/>
                <a:ea typeface="Roca One"/>
                <a:cs typeface="Roca One"/>
                <a:sym typeface="Roca One"/>
              </a:rPr>
              <a:t>  Margin : 16</a:t>
            </a:r>
          </a:p>
          <a:p>
            <a:pPr algn="ctr">
              <a:lnSpc>
                <a:spcPts val="5599"/>
              </a:lnSpc>
              <a:spcBef>
                <a:spcPct val="0"/>
              </a:spcBef>
            </a:pPr>
            <a:r>
              <a:rPr lang="en-US" sz="3999">
                <a:solidFill>
                  <a:srgbClr val="240960"/>
                </a:solidFill>
                <a:latin typeface="Roca One"/>
                <a:ea typeface="Roca One"/>
                <a:cs typeface="Roca One"/>
                <a:sym typeface="Roca One"/>
              </a:rPr>
              <a:t>Gutter : 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6" name="Freeform 6"/>
          <p:cNvSpPr/>
          <p:nvPr/>
        </p:nvSpPr>
        <p:spPr>
          <a:xfrm>
            <a:off x="11274416" y="3331636"/>
            <a:ext cx="4536405" cy="3092341"/>
          </a:xfrm>
          <a:custGeom>
            <a:avLst/>
            <a:gdLst/>
            <a:ahLst/>
            <a:cxnLst/>
            <a:rect l="l" t="t" r="r" b="b"/>
            <a:pathLst>
              <a:path w="4793771" h="3267781">
                <a:moveTo>
                  <a:pt x="3758476" y="2388987"/>
                </a:moveTo>
                <a:cubicBezTo>
                  <a:pt x="3777145" y="2379652"/>
                  <a:pt x="3795601" y="2369892"/>
                  <a:pt x="3813797" y="2359622"/>
                </a:cubicBezTo>
                <a:cubicBezTo>
                  <a:pt x="4346006" y="2059225"/>
                  <a:pt x="4793771" y="1415561"/>
                  <a:pt x="4539726" y="792606"/>
                </a:cubicBezTo>
                <a:cubicBezTo>
                  <a:pt x="4416115" y="489497"/>
                  <a:pt x="4124250" y="253294"/>
                  <a:pt x="3798022" y="226479"/>
                </a:cubicBezTo>
                <a:cubicBezTo>
                  <a:pt x="3416210" y="195095"/>
                  <a:pt x="3057000" y="433700"/>
                  <a:pt x="2673902" y="434869"/>
                </a:cubicBezTo>
                <a:cubicBezTo>
                  <a:pt x="2150947" y="436467"/>
                  <a:pt x="1697967" y="0"/>
                  <a:pt x="1175295" y="17260"/>
                </a:cubicBezTo>
                <a:cubicBezTo>
                  <a:pt x="926093" y="25490"/>
                  <a:pt x="686885" y="141037"/>
                  <a:pt x="505621" y="312257"/>
                </a:cubicBezTo>
                <a:cubicBezTo>
                  <a:pt x="324357" y="483477"/>
                  <a:pt x="198176" y="707277"/>
                  <a:pt x="117968" y="943375"/>
                </a:cubicBezTo>
                <a:cubicBezTo>
                  <a:pt x="33113" y="1193148"/>
                  <a:pt x="0" y="1477082"/>
                  <a:pt x="114600" y="1714681"/>
                </a:cubicBezTo>
                <a:cubicBezTo>
                  <a:pt x="225927" y="1945498"/>
                  <a:pt x="455959" y="2093480"/>
                  <a:pt x="684103" y="2210167"/>
                </a:cubicBezTo>
                <a:cubicBezTo>
                  <a:pt x="912247" y="2326854"/>
                  <a:pt x="1155656" y="2428529"/>
                  <a:pt x="1335979" y="2610604"/>
                </a:cubicBezTo>
                <a:cubicBezTo>
                  <a:pt x="1526733" y="2803211"/>
                  <a:pt x="1646549" y="3083819"/>
                  <a:pt x="1897397" y="3186566"/>
                </a:cubicBezTo>
                <a:cubicBezTo>
                  <a:pt x="2095678" y="3267781"/>
                  <a:pt x="2326648" y="3211079"/>
                  <a:pt x="2512645" y="3104699"/>
                </a:cubicBezTo>
                <a:cubicBezTo>
                  <a:pt x="2698634" y="2998322"/>
                  <a:pt x="2853882" y="2846534"/>
                  <a:pt x="3026221" y="2719221"/>
                </a:cubicBezTo>
                <a:cubicBezTo>
                  <a:pt x="3243833" y="2558464"/>
                  <a:pt x="3518795" y="2508816"/>
                  <a:pt x="3758476" y="2388987"/>
                </a:cubicBezTo>
                <a:close/>
              </a:path>
            </a:pathLst>
          </a:custGeom>
          <a:solidFill>
            <a:srgbClr val="3C2FAF"/>
          </a:solidFill>
          <a:ln w="12700">
            <a:solidFill>
              <a:srgbClr val="000000"/>
            </a:solidFill>
          </a:ln>
        </p:spPr>
      </p:sp>
      <p:grpSp>
        <p:nvGrpSpPr>
          <p:cNvPr id="2" name="Group 2"/>
          <p:cNvGrpSpPr>
            <a:grpSpLocks noChangeAspect="1"/>
          </p:cNvGrpSpPr>
          <p:nvPr/>
        </p:nvGrpSpPr>
        <p:grpSpPr>
          <a:xfrm>
            <a:off x="2686943" y="3385515"/>
            <a:ext cx="4249381" cy="3040115"/>
            <a:chOff x="0" y="0"/>
            <a:chExt cx="4584192" cy="3279648"/>
          </a:xfrm>
        </p:grpSpPr>
        <p:sp>
          <p:nvSpPr>
            <p:cNvPr id="3" name="Freeform 3"/>
            <p:cNvSpPr/>
            <p:nvPr/>
          </p:nvSpPr>
          <p:spPr>
            <a:xfrm>
              <a:off x="0" y="0"/>
              <a:ext cx="4584192" cy="3279648"/>
            </a:xfrm>
            <a:custGeom>
              <a:avLst/>
              <a:gdLst/>
              <a:ahLst/>
              <a:cxnLst/>
              <a:rect l="l" t="t" r="r" b="b"/>
              <a:pathLst>
                <a:path w="4584192" h="3279648">
                  <a:moveTo>
                    <a:pt x="4584192" y="3279648"/>
                  </a:moveTo>
                  <a:lnTo>
                    <a:pt x="0" y="3279648"/>
                  </a:lnTo>
                  <a:lnTo>
                    <a:pt x="0" y="0"/>
                  </a:lnTo>
                  <a:lnTo>
                    <a:pt x="4584192" y="0"/>
                  </a:lnTo>
                  <a:lnTo>
                    <a:pt x="4584192" y="3279648"/>
                  </a:lnTo>
                  <a:close/>
                </a:path>
              </a:pathLst>
            </a:custGeom>
            <a:blipFill>
              <a:blip r:embed="rId2"/>
              <a:stretch>
                <a:fillRect l="-29" r="-29"/>
              </a:stretch>
            </a:blipFill>
          </p:spPr>
        </p:sp>
        <p:sp>
          <p:nvSpPr>
            <p:cNvPr id="4" name="Freeform 4"/>
            <p:cNvSpPr/>
            <p:nvPr/>
          </p:nvSpPr>
          <p:spPr>
            <a:xfrm>
              <a:off x="63980" y="23119"/>
              <a:ext cx="4450362" cy="3189732"/>
            </a:xfrm>
            <a:custGeom>
              <a:avLst/>
              <a:gdLst/>
              <a:ahLst/>
              <a:cxnLst/>
              <a:rect l="l" t="t" r="r" b="b"/>
              <a:pathLst>
                <a:path w="4450362" h="3189732">
                  <a:moveTo>
                    <a:pt x="1683722" y="191573"/>
                  </a:moveTo>
                  <a:cubicBezTo>
                    <a:pt x="1630586" y="213467"/>
                    <a:pt x="1578238" y="237063"/>
                    <a:pt x="1526818" y="262011"/>
                  </a:cubicBezTo>
                  <a:cubicBezTo>
                    <a:pt x="1354653" y="345546"/>
                    <a:pt x="1184946" y="404118"/>
                    <a:pt x="990617" y="383530"/>
                  </a:cubicBezTo>
                  <a:cubicBezTo>
                    <a:pt x="739285" y="356903"/>
                    <a:pt x="448733" y="330008"/>
                    <a:pt x="269970" y="508681"/>
                  </a:cubicBezTo>
                  <a:cubicBezTo>
                    <a:pt x="138854" y="639732"/>
                    <a:pt x="113725" y="844052"/>
                    <a:pt x="132070" y="1028527"/>
                  </a:cubicBezTo>
                  <a:cubicBezTo>
                    <a:pt x="150414" y="1213003"/>
                    <a:pt x="204488" y="1394155"/>
                    <a:pt x="202568" y="1579531"/>
                  </a:cubicBezTo>
                  <a:cubicBezTo>
                    <a:pt x="200122" y="1815750"/>
                    <a:pt x="107385" y="2040354"/>
                    <a:pt x="55443" y="2270805"/>
                  </a:cubicBezTo>
                  <a:cubicBezTo>
                    <a:pt x="3500" y="2501255"/>
                    <a:pt x="0" y="2765828"/>
                    <a:pt x="150410" y="2947981"/>
                  </a:cubicBezTo>
                  <a:cubicBezTo>
                    <a:pt x="350030" y="3189732"/>
                    <a:pt x="727375" y="3179629"/>
                    <a:pt x="1023317" y="3076166"/>
                  </a:cubicBezTo>
                  <a:cubicBezTo>
                    <a:pt x="1319260" y="2972702"/>
                    <a:pt x="1596862" y="2797070"/>
                    <a:pt x="1909477" y="2773458"/>
                  </a:cubicBezTo>
                  <a:cubicBezTo>
                    <a:pt x="2389121" y="2737229"/>
                    <a:pt x="2833277" y="3066330"/>
                    <a:pt x="3314271" y="3062191"/>
                  </a:cubicBezTo>
                  <a:cubicBezTo>
                    <a:pt x="3922471" y="3056959"/>
                    <a:pt x="4427849" y="2465033"/>
                    <a:pt x="4439106" y="1856885"/>
                  </a:cubicBezTo>
                  <a:cubicBezTo>
                    <a:pt x="4450362" y="1248737"/>
                    <a:pt x="4043930" y="682399"/>
                    <a:pt x="3510131" y="390850"/>
                  </a:cubicBezTo>
                  <a:cubicBezTo>
                    <a:pt x="3230877" y="238328"/>
                    <a:pt x="2942566" y="89503"/>
                    <a:pt x="2623518" y="44904"/>
                  </a:cubicBezTo>
                  <a:cubicBezTo>
                    <a:pt x="2302293" y="0"/>
                    <a:pt x="1980719" y="69200"/>
                    <a:pt x="1683722" y="191573"/>
                  </a:cubicBezTo>
                  <a:close/>
                </a:path>
              </a:pathLst>
            </a:custGeom>
            <a:solidFill>
              <a:srgbClr val="A5F3B5"/>
            </a:solidFill>
            <a:ln w="12700">
              <a:solidFill>
                <a:srgbClr val="000000"/>
              </a:solidFill>
            </a:ln>
          </p:spPr>
          <p:txBody>
            <a:bodyPr/>
            <a:lstStyle/>
            <a:p>
              <a:endParaRPr lang="en-IN" dirty="0"/>
            </a:p>
          </p:txBody>
        </p:sp>
      </p:grpSp>
      <p:sp>
        <p:nvSpPr>
          <p:cNvPr id="8" name="TextBox 8"/>
          <p:cNvSpPr txBox="1"/>
          <p:nvPr/>
        </p:nvSpPr>
        <p:spPr>
          <a:xfrm>
            <a:off x="4811634" y="769398"/>
            <a:ext cx="86647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Color</a:t>
            </a:r>
          </a:p>
        </p:txBody>
      </p:sp>
      <p:sp>
        <p:nvSpPr>
          <p:cNvPr id="9" name="TextBox 9"/>
          <p:cNvSpPr txBox="1"/>
          <p:nvPr/>
        </p:nvSpPr>
        <p:spPr>
          <a:xfrm>
            <a:off x="3339990" y="6541269"/>
            <a:ext cx="2701690"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#A7F4B3</a:t>
            </a:r>
          </a:p>
        </p:txBody>
      </p:sp>
      <p:sp>
        <p:nvSpPr>
          <p:cNvPr id="10" name="TextBox 10"/>
          <p:cNvSpPr txBox="1"/>
          <p:nvPr/>
        </p:nvSpPr>
        <p:spPr>
          <a:xfrm>
            <a:off x="12302232" y="6701486"/>
            <a:ext cx="2348270" cy="718145"/>
          </a:xfrm>
          <a:prstGeom prst="rect">
            <a:avLst/>
          </a:prstGeom>
        </p:spPr>
        <p:txBody>
          <a:bodyPr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#3727AC</a:t>
            </a:r>
          </a:p>
        </p:txBody>
      </p:sp>
      <p:sp>
        <p:nvSpPr>
          <p:cNvPr id="11" name="TextBox 11"/>
          <p:cNvSpPr txBox="1"/>
          <p:nvPr/>
        </p:nvSpPr>
        <p:spPr>
          <a:xfrm>
            <a:off x="3025413" y="4507132"/>
            <a:ext cx="3566998"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Action icons</a:t>
            </a:r>
          </a:p>
        </p:txBody>
      </p:sp>
      <p:sp>
        <p:nvSpPr>
          <p:cNvPr id="12" name="TextBox 12"/>
          <p:cNvSpPr txBox="1"/>
          <p:nvPr/>
        </p:nvSpPr>
        <p:spPr>
          <a:xfrm>
            <a:off x="11663471" y="3993879"/>
            <a:ext cx="3625792" cy="1436291"/>
          </a:xfrm>
          <a:prstGeom prst="rect">
            <a:avLst/>
          </a:prstGeom>
        </p:spPr>
        <p:txBody>
          <a:bodyPr wrap="square" lIns="0" tIns="0" rIns="0" bIns="0" rtlCol="0" anchor="t">
            <a:spAutoFit/>
          </a:bodyPr>
          <a:lstStyle/>
          <a:p>
            <a:pPr algn="ctr">
              <a:lnSpc>
                <a:spcPts val="5599"/>
              </a:lnSpc>
            </a:pPr>
            <a:r>
              <a:rPr lang="en-US" sz="3999" dirty="0">
                <a:solidFill>
                  <a:srgbClr val="240960"/>
                </a:solidFill>
                <a:latin typeface="Roca One"/>
                <a:ea typeface="Roca One"/>
                <a:cs typeface="Roca One"/>
                <a:sym typeface="Roca One"/>
              </a:rPr>
              <a:t>Buttons,</a:t>
            </a:r>
          </a:p>
          <a:p>
            <a:pPr algn="ctr">
              <a:lnSpc>
                <a:spcPts val="5599"/>
              </a:lnSpc>
              <a:spcBef>
                <a:spcPct val="0"/>
              </a:spcBef>
            </a:pPr>
            <a:r>
              <a:rPr lang="en-US" sz="3999" dirty="0">
                <a:solidFill>
                  <a:srgbClr val="240960"/>
                </a:solidFill>
                <a:latin typeface="Roca One"/>
                <a:ea typeface="Roca One"/>
                <a:cs typeface="Roca One"/>
                <a:sym typeface="Roca One"/>
              </a:rPr>
              <a:t> highlights</a:t>
            </a:r>
          </a:p>
        </p:txBody>
      </p:sp>
      <p:grpSp>
        <p:nvGrpSpPr>
          <p:cNvPr id="13" name="Group 13"/>
          <p:cNvGrpSpPr/>
          <p:nvPr/>
        </p:nvGrpSpPr>
        <p:grpSpPr>
          <a:xfrm rot="-8100000">
            <a:off x="467423" y="7793405"/>
            <a:ext cx="2621714" cy="2743095"/>
            <a:chOff x="0" y="0"/>
            <a:chExt cx="1828491" cy="1752828"/>
          </a:xfrm>
        </p:grpSpPr>
        <p:sp>
          <p:nvSpPr>
            <p:cNvPr id="14" name="Freeform 14"/>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15" name="TextBox 15"/>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195344" y="894"/>
            <a:ext cx="3045046" cy="2954729"/>
            <a:chOff x="0" y="0"/>
            <a:chExt cx="997761" cy="968167"/>
          </a:xfrm>
        </p:grpSpPr>
        <p:sp>
          <p:nvSpPr>
            <p:cNvPr id="17" name="Freeform 17"/>
            <p:cNvSpPr/>
            <p:nvPr/>
          </p:nvSpPr>
          <p:spPr>
            <a:xfrm>
              <a:off x="0" y="0"/>
              <a:ext cx="997761" cy="968167"/>
            </a:xfrm>
            <a:custGeom>
              <a:avLst/>
              <a:gdLst/>
              <a:ahLst/>
              <a:cxnLst/>
              <a:rect l="l" t="t" r="r" b="b"/>
              <a:pathLst>
                <a:path w="997761" h="968167">
                  <a:moveTo>
                    <a:pt x="498880" y="0"/>
                  </a:moveTo>
                  <a:cubicBezTo>
                    <a:pt x="223356" y="0"/>
                    <a:pt x="0" y="216732"/>
                    <a:pt x="0" y="484084"/>
                  </a:cubicBezTo>
                  <a:cubicBezTo>
                    <a:pt x="0" y="751436"/>
                    <a:pt x="223356" y="968167"/>
                    <a:pt x="498880" y="968167"/>
                  </a:cubicBezTo>
                  <a:cubicBezTo>
                    <a:pt x="774405" y="968167"/>
                    <a:pt x="997761" y="751436"/>
                    <a:pt x="997761" y="484084"/>
                  </a:cubicBezTo>
                  <a:cubicBezTo>
                    <a:pt x="997761" y="216732"/>
                    <a:pt x="774405" y="0"/>
                    <a:pt x="498880" y="0"/>
                  </a:cubicBezTo>
                  <a:close/>
                </a:path>
              </a:pathLst>
            </a:custGeom>
            <a:gradFill rotWithShape="1">
              <a:gsLst>
                <a:gs pos="0">
                  <a:srgbClr val="3C67BF">
                    <a:alpha val="96000"/>
                  </a:srgbClr>
                </a:gs>
                <a:gs pos="100000">
                  <a:srgbClr val="F7ACFF">
                    <a:alpha val="96000"/>
                  </a:srgbClr>
                </a:gs>
              </a:gsLst>
              <a:lin ang="0"/>
            </a:gradFill>
          </p:spPr>
        </p:sp>
        <p:sp>
          <p:nvSpPr>
            <p:cNvPr id="18" name="TextBox 18"/>
            <p:cNvSpPr txBox="1"/>
            <p:nvPr/>
          </p:nvSpPr>
          <p:spPr>
            <a:xfrm>
              <a:off x="93540" y="52666"/>
              <a:ext cx="810681" cy="824736"/>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7770480">
            <a:off x="-1340248" y="7757561"/>
            <a:ext cx="2443563" cy="24435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rot="-3885368">
            <a:off x="13715499" y="-1537543"/>
            <a:ext cx="3834457" cy="3675788"/>
            <a:chOff x="0" y="0"/>
            <a:chExt cx="1828491" cy="1752828"/>
          </a:xfrm>
        </p:grpSpPr>
        <p:sp>
          <p:nvSpPr>
            <p:cNvPr id="23" name="Freeform 23"/>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4" name="TextBox 24"/>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2544002">
            <a:off x="3957739" y="213935"/>
            <a:ext cx="1670534" cy="1539262"/>
            <a:chOff x="0" y="0"/>
            <a:chExt cx="1828491" cy="1752828"/>
          </a:xfrm>
        </p:grpSpPr>
        <p:sp>
          <p:nvSpPr>
            <p:cNvPr id="26" name="Freeform 26"/>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7" name="TextBox 27"/>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3" name="Freeform 3"/>
          <p:cNvSpPr/>
          <p:nvPr/>
        </p:nvSpPr>
        <p:spPr>
          <a:xfrm>
            <a:off x="9593743" y="2013850"/>
            <a:ext cx="4776287" cy="3255863"/>
          </a:xfrm>
          <a:custGeom>
            <a:avLst/>
            <a:gdLst/>
            <a:ahLst/>
            <a:cxnLst/>
            <a:rect l="l" t="t" r="r" b="b"/>
            <a:pathLst>
              <a:path w="4793771" h="3267781">
                <a:moveTo>
                  <a:pt x="3758476" y="2388987"/>
                </a:moveTo>
                <a:cubicBezTo>
                  <a:pt x="3777145" y="2379652"/>
                  <a:pt x="3795601" y="2369892"/>
                  <a:pt x="3813797" y="2359622"/>
                </a:cubicBezTo>
                <a:cubicBezTo>
                  <a:pt x="4346006" y="2059225"/>
                  <a:pt x="4793771" y="1415561"/>
                  <a:pt x="4539726" y="792606"/>
                </a:cubicBezTo>
                <a:cubicBezTo>
                  <a:pt x="4416115" y="489497"/>
                  <a:pt x="4124250" y="253294"/>
                  <a:pt x="3798022" y="226479"/>
                </a:cubicBezTo>
                <a:cubicBezTo>
                  <a:pt x="3416210" y="195095"/>
                  <a:pt x="3057000" y="433700"/>
                  <a:pt x="2673902" y="434869"/>
                </a:cubicBezTo>
                <a:cubicBezTo>
                  <a:pt x="2150947" y="436467"/>
                  <a:pt x="1697967" y="0"/>
                  <a:pt x="1175295" y="17260"/>
                </a:cubicBezTo>
                <a:cubicBezTo>
                  <a:pt x="926093" y="25490"/>
                  <a:pt x="686885" y="141037"/>
                  <a:pt x="505621" y="312257"/>
                </a:cubicBezTo>
                <a:cubicBezTo>
                  <a:pt x="324357" y="483477"/>
                  <a:pt x="198176" y="707277"/>
                  <a:pt x="117968" y="943375"/>
                </a:cubicBezTo>
                <a:cubicBezTo>
                  <a:pt x="33113" y="1193148"/>
                  <a:pt x="0" y="1477082"/>
                  <a:pt x="114600" y="1714681"/>
                </a:cubicBezTo>
                <a:cubicBezTo>
                  <a:pt x="225927" y="1945498"/>
                  <a:pt x="455959" y="2093480"/>
                  <a:pt x="684103" y="2210167"/>
                </a:cubicBezTo>
                <a:cubicBezTo>
                  <a:pt x="912247" y="2326854"/>
                  <a:pt x="1155656" y="2428529"/>
                  <a:pt x="1335979" y="2610604"/>
                </a:cubicBezTo>
                <a:cubicBezTo>
                  <a:pt x="1526733" y="2803211"/>
                  <a:pt x="1646549" y="3083819"/>
                  <a:pt x="1897397" y="3186566"/>
                </a:cubicBezTo>
                <a:cubicBezTo>
                  <a:pt x="2095678" y="3267781"/>
                  <a:pt x="2326648" y="3211079"/>
                  <a:pt x="2512645" y="3104699"/>
                </a:cubicBezTo>
                <a:cubicBezTo>
                  <a:pt x="2698634" y="2998322"/>
                  <a:pt x="2853882" y="2846534"/>
                  <a:pt x="3026221" y="2719221"/>
                </a:cubicBezTo>
                <a:cubicBezTo>
                  <a:pt x="3243833" y="2558464"/>
                  <a:pt x="3518795" y="2508816"/>
                  <a:pt x="3758476" y="2388987"/>
                </a:cubicBezTo>
                <a:close/>
              </a:path>
            </a:pathLst>
          </a:custGeom>
          <a:solidFill>
            <a:srgbClr val="8091FB"/>
          </a:solidFill>
          <a:ln w="12700">
            <a:solidFill>
              <a:srgbClr val="000000"/>
            </a:solidFill>
          </a:ln>
        </p:spPr>
        <p:txBody>
          <a:bodyPr/>
          <a:lstStyle/>
          <a:p>
            <a:endParaRPr lang="en-IN" dirty="0"/>
          </a:p>
        </p:txBody>
      </p:sp>
      <p:grpSp>
        <p:nvGrpSpPr>
          <p:cNvPr id="5" name="Group 5"/>
          <p:cNvGrpSpPr>
            <a:grpSpLocks noChangeAspect="1"/>
          </p:cNvGrpSpPr>
          <p:nvPr/>
        </p:nvGrpSpPr>
        <p:grpSpPr>
          <a:xfrm>
            <a:off x="13806571" y="5167832"/>
            <a:ext cx="4062591" cy="3274810"/>
            <a:chOff x="0" y="0"/>
            <a:chExt cx="4605527" cy="3712464"/>
          </a:xfrm>
        </p:grpSpPr>
        <p:sp>
          <p:nvSpPr>
            <p:cNvPr id="6" name="Freeform 6"/>
            <p:cNvSpPr/>
            <p:nvPr/>
          </p:nvSpPr>
          <p:spPr>
            <a:xfrm>
              <a:off x="0" y="0"/>
              <a:ext cx="4605527" cy="3712464"/>
            </a:xfrm>
            <a:custGeom>
              <a:avLst/>
              <a:gdLst/>
              <a:ahLst/>
              <a:cxnLst/>
              <a:rect l="l" t="t" r="r" b="b"/>
              <a:pathLst>
                <a:path w="4605527" h="3712464">
                  <a:moveTo>
                    <a:pt x="4605527" y="3712464"/>
                  </a:moveTo>
                  <a:lnTo>
                    <a:pt x="0" y="3712464"/>
                  </a:lnTo>
                  <a:lnTo>
                    <a:pt x="0" y="0"/>
                  </a:lnTo>
                  <a:lnTo>
                    <a:pt x="4605527" y="0"/>
                  </a:lnTo>
                  <a:lnTo>
                    <a:pt x="4605527" y="3712464"/>
                  </a:lnTo>
                  <a:close/>
                </a:path>
              </a:pathLst>
            </a:custGeom>
            <a:blipFill>
              <a:blip r:embed="rId2"/>
              <a:stretch>
                <a:fillRect l="-67" r="-67"/>
              </a:stretch>
            </a:blipFill>
          </p:spPr>
        </p:sp>
        <p:sp>
          <p:nvSpPr>
            <p:cNvPr id="7" name="Freeform 7"/>
            <p:cNvSpPr/>
            <p:nvPr/>
          </p:nvSpPr>
          <p:spPr>
            <a:xfrm>
              <a:off x="44741" y="-24384"/>
              <a:ext cx="4526947" cy="3651107"/>
            </a:xfrm>
            <a:custGeom>
              <a:avLst/>
              <a:gdLst/>
              <a:ahLst/>
              <a:cxnLst/>
              <a:rect l="l" t="t" r="r" b="b"/>
              <a:pathLst>
                <a:path w="4526947" h="3651107">
                  <a:moveTo>
                    <a:pt x="2641386" y="3618544"/>
                  </a:moveTo>
                  <a:cubicBezTo>
                    <a:pt x="2240620" y="3651108"/>
                    <a:pt x="1838727" y="3569536"/>
                    <a:pt x="1453413" y="3454612"/>
                  </a:cubicBezTo>
                  <a:cubicBezTo>
                    <a:pt x="1161920" y="3367672"/>
                    <a:pt x="870095" y="3257995"/>
                    <a:pt x="635273" y="3064637"/>
                  </a:cubicBezTo>
                  <a:cubicBezTo>
                    <a:pt x="300543" y="2789014"/>
                    <a:pt x="112896" y="2363359"/>
                    <a:pt x="58919" y="1933123"/>
                  </a:cubicBezTo>
                  <a:cubicBezTo>
                    <a:pt x="0" y="1463506"/>
                    <a:pt x="97051" y="962320"/>
                    <a:pt x="389363" y="590080"/>
                  </a:cubicBezTo>
                  <a:cubicBezTo>
                    <a:pt x="681674" y="217839"/>
                    <a:pt x="1184181" y="0"/>
                    <a:pt x="1644781" y="108864"/>
                  </a:cubicBezTo>
                  <a:cubicBezTo>
                    <a:pt x="1961698" y="183769"/>
                    <a:pt x="2227591" y="396412"/>
                    <a:pt x="2459922" y="624599"/>
                  </a:cubicBezTo>
                  <a:cubicBezTo>
                    <a:pt x="2692255" y="852789"/>
                    <a:pt x="2905450" y="1104561"/>
                    <a:pt x="3173128" y="1290023"/>
                  </a:cubicBezTo>
                  <a:cubicBezTo>
                    <a:pt x="3393050" y="1442396"/>
                    <a:pt x="3643019" y="1545182"/>
                    <a:pt x="3874124" y="1679990"/>
                  </a:cubicBezTo>
                  <a:cubicBezTo>
                    <a:pt x="4105232" y="1814798"/>
                    <a:pt x="4325731" y="1992340"/>
                    <a:pt x="4432106" y="2237839"/>
                  </a:cubicBezTo>
                  <a:cubicBezTo>
                    <a:pt x="4526947" y="2456722"/>
                    <a:pt x="4479206" y="2666180"/>
                    <a:pt x="4356655" y="2859725"/>
                  </a:cubicBezTo>
                  <a:cubicBezTo>
                    <a:pt x="4333250" y="2896688"/>
                    <a:pt x="4308155" y="2931855"/>
                    <a:pt x="4281520" y="2965317"/>
                  </a:cubicBezTo>
                  <a:cubicBezTo>
                    <a:pt x="3903003" y="3440859"/>
                    <a:pt x="3213362" y="3572068"/>
                    <a:pt x="2641386" y="3618544"/>
                  </a:cubicBezTo>
                  <a:close/>
                  <a:moveTo>
                    <a:pt x="4223409" y="1187779"/>
                  </a:moveTo>
                  <a:cubicBezTo>
                    <a:pt x="4291389" y="1161310"/>
                    <a:pt x="4355485" y="1108141"/>
                    <a:pt x="4362212" y="1031173"/>
                  </a:cubicBezTo>
                  <a:cubicBezTo>
                    <a:pt x="4365996" y="987881"/>
                    <a:pt x="4355004" y="944757"/>
                    <a:pt x="4342804" y="903049"/>
                  </a:cubicBezTo>
                  <a:cubicBezTo>
                    <a:pt x="4247225" y="576292"/>
                    <a:pt x="4015401" y="20573"/>
                    <a:pt x="3585291" y="86123"/>
                  </a:cubicBezTo>
                  <a:cubicBezTo>
                    <a:pt x="3477023" y="102624"/>
                    <a:pt x="3376057" y="151054"/>
                    <a:pt x="3282599" y="208149"/>
                  </a:cubicBezTo>
                  <a:cubicBezTo>
                    <a:pt x="3172632" y="275330"/>
                    <a:pt x="3062352" y="368672"/>
                    <a:pt x="3044759" y="496331"/>
                  </a:cubicBezTo>
                  <a:cubicBezTo>
                    <a:pt x="3027857" y="618964"/>
                    <a:pt x="3102238" y="735455"/>
                    <a:pt x="3186304" y="826324"/>
                  </a:cubicBezTo>
                  <a:cubicBezTo>
                    <a:pt x="3332401" y="984246"/>
                    <a:pt x="3530408" y="1091965"/>
                    <a:pt x="3737932" y="1144730"/>
                  </a:cubicBezTo>
                  <a:cubicBezTo>
                    <a:pt x="3858914" y="1175490"/>
                    <a:pt x="3992751" y="1213094"/>
                    <a:pt x="4118093" y="1209270"/>
                  </a:cubicBezTo>
                  <a:cubicBezTo>
                    <a:pt x="4153352" y="1208193"/>
                    <a:pt x="4189754" y="1200880"/>
                    <a:pt x="4223409" y="1187779"/>
                  </a:cubicBezTo>
                  <a:close/>
                </a:path>
              </a:pathLst>
            </a:custGeom>
            <a:solidFill>
              <a:schemeClr val="tx1">
                <a:lumMod val="95000"/>
                <a:lumOff val="5000"/>
              </a:schemeClr>
            </a:solidFill>
            <a:ln w="12700">
              <a:solidFill>
                <a:srgbClr val="000000"/>
              </a:solidFill>
            </a:ln>
          </p:spPr>
        </p:sp>
      </p:grpSp>
      <p:grpSp>
        <p:nvGrpSpPr>
          <p:cNvPr id="8" name="Group 8"/>
          <p:cNvGrpSpPr>
            <a:grpSpLocks noChangeAspect="1"/>
          </p:cNvGrpSpPr>
          <p:nvPr/>
        </p:nvGrpSpPr>
        <p:grpSpPr>
          <a:xfrm>
            <a:off x="1724671" y="2189889"/>
            <a:ext cx="2399408" cy="3514759"/>
            <a:chOff x="0" y="0"/>
            <a:chExt cx="3121151" cy="4572000"/>
          </a:xfrm>
        </p:grpSpPr>
        <p:sp>
          <p:nvSpPr>
            <p:cNvPr id="9" name="Freeform 9"/>
            <p:cNvSpPr/>
            <p:nvPr/>
          </p:nvSpPr>
          <p:spPr>
            <a:xfrm>
              <a:off x="-70578" y="-8778"/>
              <a:ext cx="3278105" cy="4655625"/>
            </a:xfrm>
            <a:custGeom>
              <a:avLst/>
              <a:gdLst/>
              <a:ahLst/>
              <a:cxnLst/>
              <a:rect l="l" t="t" r="r" b="b"/>
              <a:pathLst>
                <a:path w="3278105" h="4655625">
                  <a:moveTo>
                    <a:pt x="3007927" y="2018410"/>
                  </a:moveTo>
                  <a:cubicBezTo>
                    <a:pt x="3245879" y="2605877"/>
                    <a:pt x="3278105" y="3310148"/>
                    <a:pt x="2944999" y="3849391"/>
                  </a:cubicBezTo>
                  <a:cubicBezTo>
                    <a:pt x="2628231" y="4362184"/>
                    <a:pt x="1990732" y="4655625"/>
                    <a:pt x="1394931" y="4564222"/>
                  </a:cubicBezTo>
                  <a:cubicBezTo>
                    <a:pt x="799131" y="4472818"/>
                    <a:pt x="279396" y="4002659"/>
                    <a:pt x="127545" y="3419367"/>
                  </a:cubicBezTo>
                  <a:cubicBezTo>
                    <a:pt x="0" y="2929447"/>
                    <a:pt x="116868" y="2412943"/>
                    <a:pt x="233720" y="1920362"/>
                  </a:cubicBezTo>
                  <a:cubicBezTo>
                    <a:pt x="314981" y="1577807"/>
                    <a:pt x="396243" y="1235251"/>
                    <a:pt x="477504" y="892697"/>
                  </a:cubicBezTo>
                  <a:cubicBezTo>
                    <a:pt x="515540" y="732357"/>
                    <a:pt x="554376" y="569883"/>
                    <a:pt x="632813" y="424956"/>
                  </a:cubicBezTo>
                  <a:cubicBezTo>
                    <a:pt x="711251" y="280029"/>
                    <a:pt x="835342" y="152246"/>
                    <a:pt x="993481" y="105870"/>
                  </a:cubicBezTo>
                  <a:cubicBezTo>
                    <a:pt x="1289031" y="19193"/>
                    <a:pt x="1571895" y="177038"/>
                    <a:pt x="1812975" y="384157"/>
                  </a:cubicBezTo>
                  <a:cubicBezTo>
                    <a:pt x="2321875" y="821370"/>
                    <a:pt x="2755754" y="1395833"/>
                    <a:pt x="3007927" y="2018410"/>
                  </a:cubicBezTo>
                  <a:close/>
                  <a:moveTo>
                    <a:pt x="2834112" y="862095"/>
                  </a:moveTo>
                  <a:cubicBezTo>
                    <a:pt x="2907400" y="829650"/>
                    <a:pt x="2960650" y="763387"/>
                    <a:pt x="2970227" y="661891"/>
                  </a:cubicBezTo>
                  <a:cubicBezTo>
                    <a:pt x="2978688" y="572197"/>
                    <a:pt x="2943644" y="475081"/>
                    <a:pt x="2879754" y="411174"/>
                  </a:cubicBezTo>
                  <a:cubicBezTo>
                    <a:pt x="2826427" y="357831"/>
                    <a:pt x="2755379" y="326919"/>
                    <a:pt x="2710427" y="265078"/>
                  </a:cubicBezTo>
                  <a:cubicBezTo>
                    <a:pt x="2669257" y="208441"/>
                    <a:pt x="2655523" y="132921"/>
                    <a:pt x="2611443" y="78902"/>
                  </a:cubicBezTo>
                  <a:cubicBezTo>
                    <a:pt x="2565878" y="23068"/>
                    <a:pt x="2492839" y="0"/>
                    <a:pt x="2429104" y="11777"/>
                  </a:cubicBezTo>
                  <a:cubicBezTo>
                    <a:pt x="2365369" y="23555"/>
                    <a:pt x="2310963" y="66505"/>
                    <a:pt x="2272482" y="121300"/>
                  </a:cubicBezTo>
                  <a:cubicBezTo>
                    <a:pt x="2051350" y="436194"/>
                    <a:pt x="2355359" y="853804"/>
                    <a:pt x="2683324" y="884068"/>
                  </a:cubicBezTo>
                  <a:cubicBezTo>
                    <a:pt x="2737457" y="889065"/>
                    <a:pt x="2789498" y="881846"/>
                    <a:pt x="2834112" y="862095"/>
                  </a:cubicBezTo>
                  <a:close/>
                </a:path>
              </a:pathLst>
            </a:custGeom>
            <a:solidFill>
              <a:srgbClr val="FFFFFF"/>
            </a:solidFill>
            <a:ln w="12700">
              <a:solidFill>
                <a:srgbClr val="000000"/>
              </a:solidFill>
            </a:ln>
          </p:spPr>
        </p:sp>
        <p:sp>
          <p:nvSpPr>
            <p:cNvPr id="10" name="Freeform 10"/>
            <p:cNvSpPr/>
            <p:nvPr/>
          </p:nvSpPr>
          <p:spPr>
            <a:xfrm>
              <a:off x="1532" y="3"/>
              <a:ext cx="3119619" cy="4571997"/>
            </a:xfrm>
            <a:custGeom>
              <a:avLst/>
              <a:gdLst/>
              <a:ahLst/>
              <a:cxnLst/>
              <a:rect l="l" t="t" r="r" b="b"/>
              <a:pathLst>
                <a:path w="3119619" h="4571997">
                  <a:moveTo>
                    <a:pt x="3119619" y="4571997"/>
                  </a:moveTo>
                  <a:lnTo>
                    <a:pt x="0" y="4571997"/>
                  </a:lnTo>
                  <a:lnTo>
                    <a:pt x="0" y="0"/>
                  </a:lnTo>
                  <a:lnTo>
                    <a:pt x="3119619" y="0"/>
                  </a:lnTo>
                  <a:lnTo>
                    <a:pt x="3119619" y="4571997"/>
                  </a:lnTo>
                  <a:close/>
                </a:path>
              </a:pathLst>
            </a:custGeom>
            <a:blipFill>
              <a:blip r:embed="rId3"/>
              <a:stretch>
                <a:fillRect l="-12" r="-12"/>
              </a:stretch>
            </a:blipFill>
          </p:spPr>
        </p:sp>
      </p:grpSp>
      <p:sp>
        <p:nvSpPr>
          <p:cNvPr id="11" name="TextBox 11"/>
          <p:cNvSpPr txBox="1"/>
          <p:nvPr/>
        </p:nvSpPr>
        <p:spPr>
          <a:xfrm>
            <a:off x="4811634" y="769398"/>
            <a:ext cx="813311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color</a:t>
            </a:r>
          </a:p>
        </p:txBody>
      </p:sp>
      <p:sp>
        <p:nvSpPr>
          <p:cNvPr id="12" name="TextBox 12"/>
          <p:cNvSpPr txBox="1"/>
          <p:nvPr/>
        </p:nvSpPr>
        <p:spPr>
          <a:xfrm>
            <a:off x="1492958" y="5867577"/>
            <a:ext cx="2760738"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#FFFFFF</a:t>
            </a:r>
          </a:p>
        </p:txBody>
      </p:sp>
      <p:sp>
        <p:nvSpPr>
          <p:cNvPr id="13" name="TextBox 13"/>
          <p:cNvSpPr txBox="1"/>
          <p:nvPr/>
        </p:nvSpPr>
        <p:spPr>
          <a:xfrm>
            <a:off x="10558600" y="5302416"/>
            <a:ext cx="2507648" cy="666849"/>
          </a:xfrm>
          <a:prstGeom prst="rect">
            <a:avLst/>
          </a:prstGeom>
        </p:spPr>
        <p:txBody>
          <a:bodyPr wrap="square" lIns="0" tIns="0" rIns="0" bIns="0" rtlCol="0" anchor="t">
            <a:spAutoFit/>
          </a:bodyPr>
          <a:lstStyle/>
          <a:p>
            <a:pPr algn="ctr">
              <a:lnSpc>
                <a:spcPts val="5177"/>
              </a:lnSpc>
              <a:spcBef>
                <a:spcPct val="0"/>
              </a:spcBef>
            </a:pPr>
            <a:r>
              <a:rPr lang="en-US" sz="3697" dirty="0">
                <a:solidFill>
                  <a:srgbClr val="240960"/>
                </a:solidFill>
                <a:latin typeface="Roca One"/>
                <a:ea typeface="Roca One"/>
                <a:cs typeface="Roca One"/>
                <a:sym typeface="Roca One"/>
              </a:rPr>
              <a:t>#8091FB</a:t>
            </a:r>
          </a:p>
        </p:txBody>
      </p:sp>
      <p:sp>
        <p:nvSpPr>
          <p:cNvPr id="14" name="TextBox 14"/>
          <p:cNvSpPr txBox="1"/>
          <p:nvPr/>
        </p:nvSpPr>
        <p:spPr>
          <a:xfrm>
            <a:off x="14554200" y="8504629"/>
            <a:ext cx="3080221"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#000000</a:t>
            </a:r>
          </a:p>
        </p:txBody>
      </p:sp>
      <p:grpSp>
        <p:nvGrpSpPr>
          <p:cNvPr id="15" name="Group 15"/>
          <p:cNvGrpSpPr>
            <a:grpSpLocks noChangeAspect="1"/>
          </p:cNvGrpSpPr>
          <p:nvPr/>
        </p:nvGrpSpPr>
        <p:grpSpPr>
          <a:xfrm>
            <a:off x="4790829" y="5246196"/>
            <a:ext cx="4062591" cy="3274810"/>
            <a:chOff x="0" y="0"/>
            <a:chExt cx="4605527" cy="3712464"/>
          </a:xfrm>
        </p:grpSpPr>
        <p:sp>
          <p:nvSpPr>
            <p:cNvPr id="16" name="Freeform 16"/>
            <p:cNvSpPr/>
            <p:nvPr/>
          </p:nvSpPr>
          <p:spPr>
            <a:xfrm>
              <a:off x="0" y="0"/>
              <a:ext cx="4605527" cy="3712464"/>
            </a:xfrm>
            <a:custGeom>
              <a:avLst/>
              <a:gdLst/>
              <a:ahLst/>
              <a:cxnLst/>
              <a:rect l="l" t="t" r="r" b="b"/>
              <a:pathLst>
                <a:path w="4605527" h="3712464">
                  <a:moveTo>
                    <a:pt x="4605527" y="3712464"/>
                  </a:moveTo>
                  <a:lnTo>
                    <a:pt x="0" y="3712464"/>
                  </a:lnTo>
                  <a:lnTo>
                    <a:pt x="0" y="0"/>
                  </a:lnTo>
                  <a:lnTo>
                    <a:pt x="4605527" y="0"/>
                  </a:lnTo>
                  <a:lnTo>
                    <a:pt x="4605527" y="3712464"/>
                  </a:lnTo>
                  <a:close/>
                </a:path>
              </a:pathLst>
            </a:custGeom>
            <a:blipFill>
              <a:blip r:embed="rId2"/>
              <a:stretch>
                <a:fillRect l="-67" r="-67"/>
              </a:stretch>
            </a:blipFill>
          </p:spPr>
        </p:sp>
        <p:sp>
          <p:nvSpPr>
            <p:cNvPr id="17" name="Freeform 17"/>
            <p:cNvSpPr/>
            <p:nvPr/>
          </p:nvSpPr>
          <p:spPr>
            <a:xfrm>
              <a:off x="44741" y="-24384"/>
              <a:ext cx="4526947" cy="3651107"/>
            </a:xfrm>
            <a:custGeom>
              <a:avLst/>
              <a:gdLst/>
              <a:ahLst/>
              <a:cxnLst/>
              <a:rect l="l" t="t" r="r" b="b"/>
              <a:pathLst>
                <a:path w="4526947" h="3651107">
                  <a:moveTo>
                    <a:pt x="2641386" y="3618544"/>
                  </a:moveTo>
                  <a:cubicBezTo>
                    <a:pt x="2240620" y="3651108"/>
                    <a:pt x="1838727" y="3569536"/>
                    <a:pt x="1453413" y="3454612"/>
                  </a:cubicBezTo>
                  <a:cubicBezTo>
                    <a:pt x="1161920" y="3367672"/>
                    <a:pt x="870095" y="3257995"/>
                    <a:pt x="635273" y="3064637"/>
                  </a:cubicBezTo>
                  <a:cubicBezTo>
                    <a:pt x="300543" y="2789014"/>
                    <a:pt x="112896" y="2363359"/>
                    <a:pt x="58919" y="1933123"/>
                  </a:cubicBezTo>
                  <a:cubicBezTo>
                    <a:pt x="0" y="1463506"/>
                    <a:pt x="97051" y="962320"/>
                    <a:pt x="389363" y="590080"/>
                  </a:cubicBezTo>
                  <a:cubicBezTo>
                    <a:pt x="681674" y="217839"/>
                    <a:pt x="1184181" y="0"/>
                    <a:pt x="1644781" y="108864"/>
                  </a:cubicBezTo>
                  <a:cubicBezTo>
                    <a:pt x="1961698" y="183769"/>
                    <a:pt x="2227591" y="396412"/>
                    <a:pt x="2459922" y="624599"/>
                  </a:cubicBezTo>
                  <a:cubicBezTo>
                    <a:pt x="2692255" y="852789"/>
                    <a:pt x="2905450" y="1104561"/>
                    <a:pt x="3173128" y="1290023"/>
                  </a:cubicBezTo>
                  <a:cubicBezTo>
                    <a:pt x="3393050" y="1442396"/>
                    <a:pt x="3643019" y="1545182"/>
                    <a:pt x="3874124" y="1679990"/>
                  </a:cubicBezTo>
                  <a:cubicBezTo>
                    <a:pt x="4105232" y="1814798"/>
                    <a:pt x="4325731" y="1992340"/>
                    <a:pt x="4432106" y="2237839"/>
                  </a:cubicBezTo>
                  <a:cubicBezTo>
                    <a:pt x="4526947" y="2456722"/>
                    <a:pt x="4479206" y="2666180"/>
                    <a:pt x="4356655" y="2859725"/>
                  </a:cubicBezTo>
                  <a:cubicBezTo>
                    <a:pt x="4333250" y="2896688"/>
                    <a:pt x="4308155" y="2931855"/>
                    <a:pt x="4281520" y="2965317"/>
                  </a:cubicBezTo>
                  <a:cubicBezTo>
                    <a:pt x="3903003" y="3440859"/>
                    <a:pt x="3213362" y="3572068"/>
                    <a:pt x="2641386" y="3618544"/>
                  </a:cubicBezTo>
                  <a:close/>
                  <a:moveTo>
                    <a:pt x="4223409" y="1187779"/>
                  </a:moveTo>
                  <a:cubicBezTo>
                    <a:pt x="4291389" y="1161310"/>
                    <a:pt x="4355485" y="1108141"/>
                    <a:pt x="4362212" y="1031173"/>
                  </a:cubicBezTo>
                  <a:cubicBezTo>
                    <a:pt x="4365996" y="987881"/>
                    <a:pt x="4355004" y="944757"/>
                    <a:pt x="4342804" y="903049"/>
                  </a:cubicBezTo>
                  <a:cubicBezTo>
                    <a:pt x="4247225" y="576292"/>
                    <a:pt x="4015401" y="20573"/>
                    <a:pt x="3585291" y="86123"/>
                  </a:cubicBezTo>
                  <a:cubicBezTo>
                    <a:pt x="3477023" y="102624"/>
                    <a:pt x="3376057" y="151054"/>
                    <a:pt x="3282599" y="208149"/>
                  </a:cubicBezTo>
                  <a:cubicBezTo>
                    <a:pt x="3172632" y="275330"/>
                    <a:pt x="3062352" y="368672"/>
                    <a:pt x="3044759" y="496331"/>
                  </a:cubicBezTo>
                  <a:cubicBezTo>
                    <a:pt x="3027857" y="618964"/>
                    <a:pt x="3102238" y="735455"/>
                    <a:pt x="3186304" y="826324"/>
                  </a:cubicBezTo>
                  <a:cubicBezTo>
                    <a:pt x="3332401" y="984246"/>
                    <a:pt x="3530408" y="1091965"/>
                    <a:pt x="3737932" y="1144730"/>
                  </a:cubicBezTo>
                  <a:cubicBezTo>
                    <a:pt x="3858914" y="1175490"/>
                    <a:pt x="3992751" y="1213094"/>
                    <a:pt x="4118093" y="1209270"/>
                  </a:cubicBezTo>
                  <a:cubicBezTo>
                    <a:pt x="4153352" y="1208193"/>
                    <a:pt x="4189754" y="1200880"/>
                    <a:pt x="4223409" y="1187779"/>
                  </a:cubicBezTo>
                  <a:close/>
                </a:path>
              </a:pathLst>
            </a:custGeom>
            <a:solidFill>
              <a:srgbClr val="E0F4FF"/>
            </a:solidFill>
            <a:ln w="12700">
              <a:solidFill>
                <a:srgbClr val="000000"/>
              </a:solidFill>
            </a:ln>
          </p:spPr>
        </p:sp>
      </p:grpSp>
      <p:sp>
        <p:nvSpPr>
          <p:cNvPr id="18" name="TextBox 18"/>
          <p:cNvSpPr txBox="1"/>
          <p:nvPr/>
        </p:nvSpPr>
        <p:spPr>
          <a:xfrm>
            <a:off x="5943081" y="8836228"/>
            <a:ext cx="2176582"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#E0F4FF</a:t>
            </a:r>
          </a:p>
        </p:txBody>
      </p:sp>
      <p:sp>
        <p:nvSpPr>
          <p:cNvPr id="19" name="TextBox 19"/>
          <p:cNvSpPr txBox="1"/>
          <p:nvPr/>
        </p:nvSpPr>
        <p:spPr>
          <a:xfrm>
            <a:off x="5159377" y="6591300"/>
            <a:ext cx="2960285" cy="711273"/>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Background</a:t>
            </a:r>
          </a:p>
        </p:txBody>
      </p:sp>
      <p:sp>
        <p:nvSpPr>
          <p:cNvPr id="20" name="TextBox 20"/>
          <p:cNvSpPr txBox="1"/>
          <p:nvPr/>
        </p:nvSpPr>
        <p:spPr>
          <a:xfrm>
            <a:off x="1445420" y="3689404"/>
            <a:ext cx="2950629" cy="974626"/>
          </a:xfrm>
          <a:prstGeom prst="rect">
            <a:avLst/>
          </a:prstGeom>
        </p:spPr>
        <p:txBody>
          <a:bodyPr wrap="square" lIns="0" tIns="0" rIns="0" bIns="0" rtlCol="0" anchor="t">
            <a:spAutoFit/>
          </a:bodyPr>
          <a:lstStyle/>
          <a:p>
            <a:pPr algn="ctr">
              <a:lnSpc>
                <a:spcPts val="3770"/>
              </a:lnSpc>
            </a:pPr>
            <a:r>
              <a:rPr lang="en-US" sz="2693" dirty="0">
                <a:solidFill>
                  <a:srgbClr val="240960"/>
                </a:solidFill>
                <a:latin typeface="Roca One"/>
                <a:ea typeface="Roca One"/>
                <a:cs typeface="Roca One"/>
                <a:sym typeface="Roca One"/>
              </a:rPr>
              <a:t>Card</a:t>
            </a:r>
          </a:p>
          <a:p>
            <a:pPr algn="ctr">
              <a:lnSpc>
                <a:spcPts val="3770"/>
              </a:lnSpc>
              <a:spcBef>
                <a:spcPct val="0"/>
              </a:spcBef>
            </a:pPr>
            <a:r>
              <a:rPr lang="en-US" sz="2693" dirty="0">
                <a:solidFill>
                  <a:srgbClr val="240960"/>
                </a:solidFill>
                <a:latin typeface="Roca One"/>
                <a:ea typeface="Roca One"/>
                <a:cs typeface="Roca One"/>
                <a:sym typeface="Roca One"/>
              </a:rPr>
              <a:t> backgrounds</a:t>
            </a:r>
          </a:p>
        </p:txBody>
      </p:sp>
      <p:sp>
        <p:nvSpPr>
          <p:cNvPr id="21" name="TextBox 21"/>
          <p:cNvSpPr txBox="1"/>
          <p:nvPr/>
        </p:nvSpPr>
        <p:spPr>
          <a:xfrm>
            <a:off x="14189795" y="6469562"/>
            <a:ext cx="2989897" cy="1436291"/>
          </a:xfrm>
          <a:prstGeom prst="rect">
            <a:avLst/>
          </a:prstGeom>
        </p:spPr>
        <p:txBody>
          <a:bodyPr lIns="0" tIns="0" rIns="0" bIns="0" rtlCol="0" anchor="t">
            <a:spAutoFit/>
          </a:bodyPr>
          <a:lstStyle/>
          <a:p>
            <a:pPr algn="ctr">
              <a:lnSpc>
                <a:spcPts val="5599"/>
              </a:lnSpc>
            </a:pPr>
            <a:r>
              <a:rPr lang="en-US" sz="3999" dirty="0">
                <a:solidFill>
                  <a:schemeClr val="bg1">
                    <a:lumMod val="95000"/>
                  </a:schemeClr>
                </a:solidFill>
                <a:latin typeface="Roca One"/>
                <a:ea typeface="Roca One"/>
                <a:cs typeface="Roca One"/>
                <a:sym typeface="Roca One"/>
              </a:rPr>
              <a:t>Background </a:t>
            </a:r>
          </a:p>
          <a:p>
            <a:pPr algn="ctr">
              <a:lnSpc>
                <a:spcPts val="5599"/>
              </a:lnSpc>
              <a:spcBef>
                <a:spcPct val="0"/>
              </a:spcBef>
            </a:pPr>
            <a:r>
              <a:rPr lang="en-US" sz="3999" dirty="0">
                <a:solidFill>
                  <a:schemeClr val="bg1">
                    <a:lumMod val="95000"/>
                  </a:schemeClr>
                </a:solidFill>
                <a:latin typeface="Roca One"/>
                <a:ea typeface="Roca One"/>
                <a:cs typeface="Roca One"/>
                <a:sym typeface="Roca One"/>
              </a:rPr>
              <a:t>bottom</a:t>
            </a:r>
          </a:p>
        </p:txBody>
      </p:sp>
      <p:sp>
        <p:nvSpPr>
          <p:cNvPr id="22" name="TextBox 22"/>
          <p:cNvSpPr txBox="1"/>
          <p:nvPr/>
        </p:nvSpPr>
        <p:spPr>
          <a:xfrm>
            <a:off x="9737423" y="3003399"/>
            <a:ext cx="4120634" cy="1384301"/>
          </a:xfrm>
          <a:prstGeom prst="rect">
            <a:avLst/>
          </a:prstGeom>
        </p:spPr>
        <p:txBody>
          <a:bodyPr lIns="0" tIns="0" rIns="0" bIns="0" rtlCol="0" anchor="t">
            <a:spAutoFit/>
          </a:bodyPr>
          <a:lstStyle/>
          <a:p>
            <a:pPr algn="ctr">
              <a:lnSpc>
                <a:spcPts val="5599"/>
              </a:lnSpc>
            </a:pPr>
            <a:r>
              <a:rPr lang="en-US" sz="3999" dirty="0">
                <a:solidFill>
                  <a:srgbClr val="240960"/>
                </a:solidFill>
                <a:latin typeface="Roca One"/>
                <a:ea typeface="Roca One"/>
                <a:cs typeface="Roca One"/>
                <a:sym typeface="Roca One"/>
              </a:rPr>
              <a:t>Microphone area </a:t>
            </a:r>
          </a:p>
          <a:p>
            <a:pPr algn="ctr">
              <a:lnSpc>
                <a:spcPts val="5599"/>
              </a:lnSpc>
              <a:spcBef>
                <a:spcPct val="0"/>
              </a:spcBef>
            </a:pPr>
            <a:r>
              <a:rPr lang="en-US" sz="3999" dirty="0">
                <a:solidFill>
                  <a:srgbClr val="240960"/>
                </a:solidFill>
                <a:latin typeface="Roca One"/>
                <a:ea typeface="Roca One"/>
                <a:cs typeface="Roca One"/>
                <a:sym typeface="Roca One"/>
              </a:rPr>
              <a:t>background</a:t>
            </a:r>
          </a:p>
        </p:txBody>
      </p:sp>
      <p:grpSp>
        <p:nvGrpSpPr>
          <p:cNvPr id="23" name="Group 23"/>
          <p:cNvGrpSpPr/>
          <p:nvPr/>
        </p:nvGrpSpPr>
        <p:grpSpPr>
          <a:xfrm rot="-8100000">
            <a:off x="-176453" y="7786831"/>
            <a:ext cx="3834457" cy="3675788"/>
            <a:chOff x="0" y="0"/>
            <a:chExt cx="1828491" cy="1752828"/>
          </a:xfrm>
        </p:grpSpPr>
        <p:sp>
          <p:nvSpPr>
            <p:cNvPr id="24" name="Freeform 24"/>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5" name="TextBox 25"/>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7770480">
            <a:off x="-663736" y="8070851"/>
            <a:ext cx="2443563" cy="244356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2544002">
            <a:off x="3841189" y="-139893"/>
            <a:ext cx="1762699" cy="1689759"/>
            <a:chOff x="0" y="0"/>
            <a:chExt cx="1828491" cy="1752828"/>
          </a:xfrm>
        </p:grpSpPr>
        <p:sp>
          <p:nvSpPr>
            <p:cNvPr id="30" name="Freeform 30"/>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31" name="TextBox 31"/>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16347743" y="153294"/>
            <a:ext cx="3189757" cy="2954729"/>
            <a:chOff x="0" y="0"/>
            <a:chExt cx="997761" cy="968167"/>
          </a:xfrm>
        </p:grpSpPr>
        <p:sp>
          <p:nvSpPr>
            <p:cNvPr id="33" name="Freeform 33"/>
            <p:cNvSpPr/>
            <p:nvPr/>
          </p:nvSpPr>
          <p:spPr>
            <a:xfrm>
              <a:off x="0" y="0"/>
              <a:ext cx="997761" cy="968167"/>
            </a:xfrm>
            <a:custGeom>
              <a:avLst/>
              <a:gdLst/>
              <a:ahLst/>
              <a:cxnLst/>
              <a:rect l="l" t="t" r="r" b="b"/>
              <a:pathLst>
                <a:path w="997761" h="968167">
                  <a:moveTo>
                    <a:pt x="498880" y="0"/>
                  </a:moveTo>
                  <a:cubicBezTo>
                    <a:pt x="223356" y="0"/>
                    <a:pt x="0" y="216732"/>
                    <a:pt x="0" y="484084"/>
                  </a:cubicBezTo>
                  <a:cubicBezTo>
                    <a:pt x="0" y="751436"/>
                    <a:pt x="223356" y="968167"/>
                    <a:pt x="498880" y="968167"/>
                  </a:cubicBezTo>
                  <a:cubicBezTo>
                    <a:pt x="774405" y="968167"/>
                    <a:pt x="997761" y="751436"/>
                    <a:pt x="997761" y="484084"/>
                  </a:cubicBezTo>
                  <a:cubicBezTo>
                    <a:pt x="997761" y="216732"/>
                    <a:pt x="774405" y="0"/>
                    <a:pt x="498880" y="0"/>
                  </a:cubicBezTo>
                  <a:close/>
                </a:path>
              </a:pathLst>
            </a:custGeom>
            <a:gradFill rotWithShape="1">
              <a:gsLst>
                <a:gs pos="0">
                  <a:srgbClr val="3C67BF">
                    <a:alpha val="96000"/>
                  </a:srgbClr>
                </a:gs>
                <a:gs pos="100000">
                  <a:srgbClr val="F7ACFF">
                    <a:alpha val="96000"/>
                  </a:srgbClr>
                </a:gs>
              </a:gsLst>
              <a:lin ang="0"/>
            </a:gradFill>
          </p:spPr>
        </p:sp>
        <p:sp>
          <p:nvSpPr>
            <p:cNvPr id="34" name="TextBox 34"/>
            <p:cNvSpPr txBox="1"/>
            <p:nvPr/>
          </p:nvSpPr>
          <p:spPr>
            <a:xfrm>
              <a:off x="93540" y="52666"/>
              <a:ext cx="810681" cy="824736"/>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rot="-3885368">
            <a:off x="13867899" y="-1385143"/>
            <a:ext cx="3834457" cy="3675788"/>
            <a:chOff x="0" y="0"/>
            <a:chExt cx="1828491" cy="1752828"/>
          </a:xfrm>
        </p:grpSpPr>
        <p:sp>
          <p:nvSpPr>
            <p:cNvPr id="36" name="Freeform 36"/>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37" name="TextBox 37"/>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53836" y="2995206"/>
            <a:ext cx="3882462" cy="2148294"/>
            <a:chOff x="0" y="0"/>
            <a:chExt cx="4572000" cy="2529839"/>
          </a:xfrm>
        </p:grpSpPr>
        <p:sp>
          <p:nvSpPr>
            <p:cNvPr id="3" name="Freeform 3"/>
            <p:cNvSpPr/>
            <p:nvPr/>
          </p:nvSpPr>
          <p:spPr>
            <a:xfrm>
              <a:off x="-22950" y="-378"/>
              <a:ext cx="4665471" cy="2565352"/>
            </a:xfrm>
            <a:custGeom>
              <a:avLst/>
              <a:gdLst/>
              <a:ahLst/>
              <a:cxnLst/>
              <a:rect l="l" t="t" r="r" b="b"/>
              <a:pathLst>
                <a:path w="4665471" h="2565352">
                  <a:moveTo>
                    <a:pt x="3161896" y="1601376"/>
                  </a:moveTo>
                  <a:cubicBezTo>
                    <a:pt x="2912021" y="1654596"/>
                    <a:pt x="2701290" y="1785489"/>
                    <a:pt x="2473042" y="1892926"/>
                  </a:cubicBezTo>
                  <a:cubicBezTo>
                    <a:pt x="2014959" y="2108550"/>
                    <a:pt x="1523332" y="2338106"/>
                    <a:pt x="1023570" y="2256971"/>
                  </a:cubicBezTo>
                  <a:cubicBezTo>
                    <a:pt x="493720" y="2170952"/>
                    <a:pt x="47847" y="1690879"/>
                    <a:pt x="23924" y="1154705"/>
                  </a:cubicBezTo>
                  <a:cubicBezTo>
                    <a:pt x="0" y="618533"/>
                    <a:pt x="419209" y="91441"/>
                    <a:pt x="950620" y="15656"/>
                  </a:cubicBezTo>
                  <a:cubicBezTo>
                    <a:pt x="1025878" y="4923"/>
                    <a:pt x="1101924" y="461"/>
                    <a:pt x="1177913" y="379"/>
                  </a:cubicBezTo>
                  <a:cubicBezTo>
                    <a:pt x="1536843" y="0"/>
                    <a:pt x="1889885" y="91409"/>
                    <a:pt x="2235183" y="179989"/>
                  </a:cubicBezTo>
                  <a:cubicBezTo>
                    <a:pt x="2566878" y="265079"/>
                    <a:pt x="2883222" y="280092"/>
                    <a:pt x="3222486" y="230948"/>
                  </a:cubicBezTo>
                  <a:cubicBezTo>
                    <a:pt x="3470021" y="195092"/>
                    <a:pt x="3743517" y="101807"/>
                    <a:pt x="3994303" y="154063"/>
                  </a:cubicBezTo>
                  <a:cubicBezTo>
                    <a:pt x="4261838" y="209810"/>
                    <a:pt x="4500596" y="416655"/>
                    <a:pt x="4571368" y="683849"/>
                  </a:cubicBezTo>
                  <a:cubicBezTo>
                    <a:pt x="4665471" y="1039120"/>
                    <a:pt x="4471576" y="1431513"/>
                    <a:pt x="4105766" y="1517392"/>
                  </a:cubicBezTo>
                  <a:cubicBezTo>
                    <a:pt x="4067119" y="1526465"/>
                    <a:pt x="4028167" y="1533535"/>
                    <a:pt x="3988981" y="1539093"/>
                  </a:cubicBezTo>
                  <a:cubicBezTo>
                    <a:pt x="3716967" y="1577685"/>
                    <a:pt x="3433631" y="1543499"/>
                    <a:pt x="3161896" y="1601376"/>
                  </a:cubicBezTo>
                  <a:close/>
                  <a:moveTo>
                    <a:pt x="3717619" y="2239481"/>
                  </a:moveTo>
                  <a:cubicBezTo>
                    <a:pt x="3742238" y="2130997"/>
                    <a:pt x="3700129" y="2012529"/>
                    <a:pt x="3611683" y="1939483"/>
                  </a:cubicBezTo>
                  <a:cubicBezTo>
                    <a:pt x="3525186" y="1868045"/>
                    <a:pt x="3405285" y="1843275"/>
                    <a:pt x="3294691" y="1862124"/>
                  </a:cubicBezTo>
                  <a:cubicBezTo>
                    <a:pt x="3184095" y="1880975"/>
                    <a:pt x="3082903" y="1940496"/>
                    <a:pt x="3002724" y="2018957"/>
                  </a:cubicBezTo>
                  <a:cubicBezTo>
                    <a:pt x="2919060" y="2100826"/>
                    <a:pt x="2853887" y="2219759"/>
                    <a:pt x="2886531" y="2332163"/>
                  </a:cubicBezTo>
                  <a:cubicBezTo>
                    <a:pt x="2911702" y="2418833"/>
                    <a:pt x="2991486" y="2481715"/>
                    <a:pt x="3077995" y="2507482"/>
                  </a:cubicBezTo>
                  <a:cubicBezTo>
                    <a:pt x="3272291" y="2565351"/>
                    <a:pt x="3569296" y="2505673"/>
                    <a:pt x="3682988" y="2323591"/>
                  </a:cubicBezTo>
                  <a:cubicBezTo>
                    <a:pt x="3699600" y="2296987"/>
                    <a:pt x="3711012" y="2268594"/>
                    <a:pt x="3717619" y="2239481"/>
                  </a:cubicBezTo>
                  <a:close/>
                </a:path>
              </a:pathLst>
            </a:custGeom>
            <a:solidFill>
              <a:srgbClr val="00A861"/>
            </a:solidFill>
            <a:ln w="12700">
              <a:solidFill>
                <a:srgbClr val="000000"/>
              </a:solidFill>
            </a:ln>
          </p:spPr>
        </p:sp>
        <p:sp>
          <p:nvSpPr>
            <p:cNvPr id="4" name="Freeform 4"/>
            <p:cNvSpPr/>
            <p:nvPr/>
          </p:nvSpPr>
          <p:spPr>
            <a:xfrm>
              <a:off x="0" y="720"/>
              <a:ext cx="4572000" cy="2528399"/>
            </a:xfrm>
            <a:custGeom>
              <a:avLst/>
              <a:gdLst/>
              <a:ahLst/>
              <a:cxnLst/>
              <a:rect l="l" t="t" r="r" b="b"/>
              <a:pathLst>
                <a:path w="4572000" h="2528399">
                  <a:moveTo>
                    <a:pt x="4572000" y="2528399"/>
                  </a:moveTo>
                  <a:lnTo>
                    <a:pt x="0" y="2528399"/>
                  </a:lnTo>
                  <a:lnTo>
                    <a:pt x="0" y="0"/>
                  </a:lnTo>
                  <a:lnTo>
                    <a:pt x="4572000" y="0"/>
                  </a:lnTo>
                  <a:lnTo>
                    <a:pt x="4572000" y="2528399"/>
                  </a:lnTo>
                  <a:close/>
                </a:path>
              </a:pathLst>
            </a:custGeom>
            <a:blipFill>
              <a:blip r:embed="rId2"/>
              <a:stretch>
                <a:fillRect t="-66" b="-66"/>
              </a:stretch>
            </a:blipFill>
          </p:spPr>
        </p:sp>
      </p:grpSp>
      <p:grpSp>
        <p:nvGrpSpPr>
          <p:cNvPr id="5" name="Group 5"/>
          <p:cNvGrpSpPr>
            <a:grpSpLocks noChangeAspect="1"/>
          </p:cNvGrpSpPr>
          <p:nvPr/>
        </p:nvGrpSpPr>
        <p:grpSpPr>
          <a:xfrm>
            <a:off x="5413499" y="5717544"/>
            <a:ext cx="3730501" cy="2120285"/>
            <a:chOff x="0" y="0"/>
            <a:chExt cx="4547616" cy="2584704"/>
          </a:xfrm>
        </p:grpSpPr>
        <p:sp>
          <p:nvSpPr>
            <p:cNvPr id="6" name="Freeform 6"/>
            <p:cNvSpPr/>
            <p:nvPr/>
          </p:nvSpPr>
          <p:spPr>
            <a:xfrm>
              <a:off x="0" y="0"/>
              <a:ext cx="4547616" cy="2584704"/>
            </a:xfrm>
            <a:custGeom>
              <a:avLst/>
              <a:gdLst/>
              <a:ahLst/>
              <a:cxnLst/>
              <a:rect l="l" t="t" r="r" b="b"/>
              <a:pathLst>
                <a:path w="4547616" h="2584704">
                  <a:moveTo>
                    <a:pt x="4547616" y="2584704"/>
                  </a:moveTo>
                  <a:lnTo>
                    <a:pt x="0" y="2584704"/>
                  </a:lnTo>
                  <a:lnTo>
                    <a:pt x="0" y="0"/>
                  </a:lnTo>
                  <a:lnTo>
                    <a:pt x="4547616" y="0"/>
                  </a:lnTo>
                  <a:lnTo>
                    <a:pt x="4547616" y="2584704"/>
                  </a:lnTo>
                  <a:close/>
                </a:path>
              </a:pathLst>
            </a:custGeom>
            <a:blipFill>
              <a:blip r:embed="rId3"/>
              <a:stretch>
                <a:fillRect t="-33" b="-33"/>
              </a:stretch>
            </a:blipFill>
          </p:spPr>
        </p:sp>
        <p:sp>
          <p:nvSpPr>
            <p:cNvPr id="7" name="Freeform 7"/>
            <p:cNvSpPr/>
            <p:nvPr/>
          </p:nvSpPr>
          <p:spPr>
            <a:xfrm>
              <a:off x="38418" y="49420"/>
              <a:ext cx="4473128" cy="2451241"/>
            </a:xfrm>
            <a:custGeom>
              <a:avLst/>
              <a:gdLst/>
              <a:ahLst/>
              <a:cxnLst/>
              <a:rect l="l" t="t" r="r" b="b"/>
              <a:pathLst>
                <a:path w="4473128" h="2451241">
                  <a:moveTo>
                    <a:pt x="3806137" y="2224714"/>
                  </a:moveTo>
                  <a:cubicBezTo>
                    <a:pt x="4040534" y="2160616"/>
                    <a:pt x="4250942" y="2021088"/>
                    <a:pt x="4364350" y="1794622"/>
                  </a:cubicBezTo>
                  <a:cubicBezTo>
                    <a:pt x="4473127" y="1577406"/>
                    <a:pt x="4451920" y="1287641"/>
                    <a:pt x="4276200" y="1119887"/>
                  </a:cubicBezTo>
                  <a:cubicBezTo>
                    <a:pt x="4087738" y="939970"/>
                    <a:pt x="3790734" y="940461"/>
                    <a:pt x="3565019" y="810294"/>
                  </a:cubicBezTo>
                  <a:cubicBezTo>
                    <a:pt x="3372524" y="699283"/>
                    <a:pt x="3247955" y="503663"/>
                    <a:pt x="3106075" y="332651"/>
                  </a:cubicBezTo>
                  <a:cubicBezTo>
                    <a:pt x="2964196" y="161639"/>
                    <a:pt x="2774430" y="0"/>
                    <a:pt x="2552260" y="4471"/>
                  </a:cubicBezTo>
                  <a:cubicBezTo>
                    <a:pt x="2397795" y="7580"/>
                    <a:pt x="2258303" y="90694"/>
                    <a:pt x="2119909" y="159367"/>
                  </a:cubicBezTo>
                  <a:cubicBezTo>
                    <a:pt x="1899043" y="268964"/>
                    <a:pt x="1662409" y="346727"/>
                    <a:pt x="1419584" y="389512"/>
                  </a:cubicBezTo>
                  <a:cubicBezTo>
                    <a:pt x="1028401" y="458435"/>
                    <a:pt x="588440" y="451093"/>
                    <a:pt x="293528" y="717158"/>
                  </a:cubicBezTo>
                  <a:cubicBezTo>
                    <a:pt x="90084" y="900701"/>
                    <a:pt x="0" y="1200787"/>
                    <a:pt x="68756" y="1466013"/>
                  </a:cubicBezTo>
                  <a:cubicBezTo>
                    <a:pt x="137511" y="1731237"/>
                    <a:pt x="362060" y="1949786"/>
                    <a:pt x="629074" y="2011318"/>
                  </a:cubicBezTo>
                  <a:cubicBezTo>
                    <a:pt x="813702" y="2053864"/>
                    <a:pt x="1008656" y="2025801"/>
                    <a:pt x="1194116" y="2064574"/>
                  </a:cubicBezTo>
                  <a:cubicBezTo>
                    <a:pt x="1510477" y="2130714"/>
                    <a:pt x="1769446" y="2384148"/>
                    <a:pt x="2090558" y="2420848"/>
                  </a:cubicBezTo>
                  <a:cubicBezTo>
                    <a:pt x="2356471" y="2451241"/>
                    <a:pt x="2612011" y="2327835"/>
                    <a:pt x="2867231" y="2247245"/>
                  </a:cubicBezTo>
                  <a:cubicBezTo>
                    <a:pt x="3041872" y="2192102"/>
                    <a:pt x="3227440" y="2251354"/>
                    <a:pt x="3404183" y="2263564"/>
                  </a:cubicBezTo>
                  <a:cubicBezTo>
                    <a:pt x="3537184" y="2272752"/>
                    <a:pt x="3675392" y="2260467"/>
                    <a:pt x="3806137" y="2224714"/>
                  </a:cubicBezTo>
                  <a:close/>
                </a:path>
              </a:pathLst>
            </a:custGeom>
            <a:solidFill>
              <a:srgbClr val="009EEF"/>
            </a:solidFill>
            <a:ln w="12700">
              <a:solidFill>
                <a:srgbClr val="000000"/>
              </a:solidFill>
            </a:ln>
          </p:spPr>
        </p:sp>
      </p:grpSp>
      <p:sp>
        <p:nvSpPr>
          <p:cNvPr id="8" name="TextBox 8"/>
          <p:cNvSpPr txBox="1"/>
          <p:nvPr/>
        </p:nvSpPr>
        <p:spPr>
          <a:xfrm>
            <a:off x="4811634" y="769398"/>
            <a:ext cx="813311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color</a:t>
            </a:r>
          </a:p>
        </p:txBody>
      </p:sp>
      <p:sp>
        <p:nvSpPr>
          <p:cNvPr id="9" name="TextBox 9"/>
          <p:cNvSpPr txBox="1"/>
          <p:nvPr/>
        </p:nvSpPr>
        <p:spPr>
          <a:xfrm>
            <a:off x="2117967" y="5632734"/>
            <a:ext cx="2126337"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#00A861</a:t>
            </a:r>
          </a:p>
        </p:txBody>
      </p:sp>
      <p:sp>
        <p:nvSpPr>
          <p:cNvPr id="10" name="TextBox 10"/>
          <p:cNvSpPr txBox="1"/>
          <p:nvPr/>
        </p:nvSpPr>
        <p:spPr>
          <a:xfrm>
            <a:off x="6313198" y="8186104"/>
            <a:ext cx="2216706"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#009EEF</a:t>
            </a:r>
          </a:p>
        </p:txBody>
      </p:sp>
      <p:grpSp>
        <p:nvGrpSpPr>
          <p:cNvPr id="11" name="Group 11"/>
          <p:cNvGrpSpPr>
            <a:grpSpLocks noChangeAspect="1"/>
          </p:cNvGrpSpPr>
          <p:nvPr/>
        </p:nvGrpSpPr>
        <p:grpSpPr>
          <a:xfrm>
            <a:off x="9739415" y="2970445"/>
            <a:ext cx="3552490" cy="2496216"/>
            <a:chOff x="0" y="0"/>
            <a:chExt cx="4572000" cy="3212592"/>
          </a:xfrm>
        </p:grpSpPr>
        <p:sp>
          <p:nvSpPr>
            <p:cNvPr id="12" name="Freeform 12"/>
            <p:cNvSpPr/>
            <p:nvPr/>
          </p:nvSpPr>
          <p:spPr>
            <a:xfrm>
              <a:off x="-40875" y="-15335"/>
              <a:ext cx="4793771" cy="3267781"/>
            </a:xfrm>
            <a:custGeom>
              <a:avLst/>
              <a:gdLst/>
              <a:ahLst/>
              <a:cxnLst/>
              <a:rect l="l" t="t" r="r" b="b"/>
              <a:pathLst>
                <a:path w="4793771" h="3267781">
                  <a:moveTo>
                    <a:pt x="3758476" y="2388987"/>
                  </a:moveTo>
                  <a:cubicBezTo>
                    <a:pt x="3777145" y="2379652"/>
                    <a:pt x="3795601" y="2369892"/>
                    <a:pt x="3813797" y="2359622"/>
                  </a:cubicBezTo>
                  <a:cubicBezTo>
                    <a:pt x="4346006" y="2059225"/>
                    <a:pt x="4793771" y="1415561"/>
                    <a:pt x="4539726" y="792606"/>
                  </a:cubicBezTo>
                  <a:cubicBezTo>
                    <a:pt x="4416115" y="489497"/>
                    <a:pt x="4124250" y="253294"/>
                    <a:pt x="3798022" y="226479"/>
                  </a:cubicBezTo>
                  <a:cubicBezTo>
                    <a:pt x="3416210" y="195095"/>
                    <a:pt x="3057000" y="433700"/>
                    <a:pt x="2673902" y="434869"/>
                  </a:cubicBezTo>
                  <a:cubicBezTo>
                    <a:pt x="2150947" y="436467"/>
                    <a:pt x="1697967" y="0"/>
                    <a:pt x="1175295" y="17260"/>
                  </a:cubicBezTo>
                  <a:cubicBezTo>
                    <a:pt x="926093" y="25490"/>
                    <a:pt x="686885" y="141037"/>
                    <a:pt x="505621" y="312257"/>
                  </a:cubicBezTo>
                  <a:cubicBezTo>
                    <a:pt x="324357" y="483477"/>
                    <a:pt x="198176" y="707277"/>
                    <a:pt x="117968" y="943375"/>
                  </a:cubicBezTo>
                  <a:cubicBezTo>
                    <a:pt x="33113" y="1193148"/>
                    <a:pt x="0" y="1477082"/>
                    <a:pt x="114600" y="1714681"/>
                  </a:cubicBezTo>
                  <a:cubicBezTo>
                    <a:pt x="225927" y="1945498"/>
                    <a:pt x="455959" y="2093480"/>
                    <a:pt x="684103" y="2210167"/>
                  </a:cubicBezTo>
                  <a:cubicBezTo>
                    <a:pt x="912247" y="2326854"/>
                    <a:pt x="1155656" y="2428529"/>
                    <a:pt x="1335979" y="2610604"/>
                  </a:cubicBezTo>
                  <a:cubicBezTo>
                    <a:pt x="1526733" y="2803211"/>
                    <a:pt x="1646549" y="3083819"/>
                    <a:pt x="1897397" y="3186566"/>
                  </a:cubicBezTo>
                  <a:cubicBezTo>
                    <a:pt x="2095678" y="3267781"/>
                    <a:pt x="2326648" y="3211079"/>
                    <a:pt x="2512645" y="3104699"/>
                  </a:cubicBezTo>
                  <a:cubicBezTo>
                    <a:pt x="2698634" y="2998322"/>
                    <a:pt x="2853882" y="2846534"/>
                    <a:pt x="3026221" y="2719221"/>
                  </a:cubicBezTo>
                  <a:cubicBezTo>
                    <a:pt x="3243833" y="2558464"/>
                    <a:pt x="3518795" y="2508816"/>
                    <a:pt x="3758476" y="2388987"/>
                  </a:cubicBezTo>
                  <a:close/>
                </a:path>
              </a:pathLst>
            </a:custGeom>
            <a:solidFill>
              <a:srgbClr val="8257FF"/>
            </a:solidFill>
            <a:ln w="12700">
              <a:solidFill>
                <a:srgbClr val="000000"/>
              </a:solidFill>
            </a:ln>
          </p:spPr>
        </p:sp>
        <p:sp>
          <p:nvSpPr>
            <p:cNvPr id="13" name="Freeform 13"/>
            <p:cNvSpPr/>
            <p:nvPr/>
          </p:nvSpPr>
          <p:spPr>
            <a:xfrm>
              <a:off x="0" y="0"/>
              <a:ext cx="4572000" cy="3212592"/>
            </a:xfrm>
            <a:custGeom>
              <a:avLst/>
              <a:gdLst/>
              <a:ahLst/>
              <a:cxnLst/>
              <a:rect l="l" t="t" r="r" b="b"/>
              <a:pathLst>
                <a:path w="4572000" h="3212592">
                  <a:moveTo>
                    <a:pt x="4572000" y="3212592"/>
                  </a:moveTo>
                  <a:lnTo>
                    <a:pt x="0" y="3212592"/>
                  </a:lnTo>
                  <a:lnTo>
                    <a:pt x="0" y="0"/>
                  </a:lnTo>
                  <a:lnTo>
                    <a:pt x="4572000" y="0"/>
                  </a:lnTo>
                  <a:lnTo>
                    <a:pt x="4572000" y="3212592"/>
                  </a:lnTo>
                  <a:close/>
                </a:path>
              </a:pathLst>
            </a:custGeom>
            <a:blipFill>
              <a:blip r:embed="rId4"/>
              <a:stretch>
                <a:fillRect l="-11" r="-11"/>
              </a:stretch>
            </a:blipFill>
          </p:spPr>
        </p:sp>
      </p:grpSp>
      <p:grpSp>
        <p:nvGrpSpPr>
          <p:cNvPr id="14" name="Group 14"/>
          <p:cNvGrpSpPr>
            <a:grpSpLocks noChangeAspect="1"/>
          </p:cNvGrpSpPr>
          <p:nvPr/>
        </p:nvGrpSpPr>
        <p:grpSpPr>
          <a:xfrm>
            <a:off x="14006495" y="5466661"/>
            <a:ext cx="3252805" cy="2622051"/>
            <a:chOff x="0" y="0"/>
            <a:chExt cx="4605527" cy="3712464"/>
          </a:xfrm>
        </p:grpSpPr>
        <p:sp>
          <p:nvSpPr>
            <p:cNvPr id="15" name="Freeform 15"/>
            <p:cNvSpPr/>
            <p:nvPr/>
          </p:nvSpPr>
          <p:spPr>
            <a:xfrm>
              <a:off x="0" y="0"/>
              <a:ext cx="4605527" cy="3712464"/>
            </a:xfrm>
            <a:custGeom>
              <a:avLst/>
              <a:gdLst/>
              <a:ahLst/>
              <a:cxnLst/>
              <a:rect l="l" t="t" r="r" b="b"/>
              <a:pathLst>
                <a:path w="4605527" h="3712464">
                  <a:moveTo>
                    <a:pt x="4605527" y="3712464"/>
                  </a:moveTo>
                  <a:lnTo>
                    <a:pt x="0" y="3712464"/>
                  </a:lnTo>
                  <a:lnTo>
                    <a:pt x="0" y="0"/>
                  </a:lnTo>
                  <a:lnTo>
                    <a:pt x="4605527" y="0"/>
                  </a:lnTo>
                  <a:lnTo>
                    <a:pt x="4605527" y="3712464"/>
                  </a:lnTo>
                  <a:close/>
                </a:path>
              </a:pathLst>
            </a:custGeom>
            <a:blipFill>
              <a:blip r:embed="rId5"/>
              <a:stretch>
                <a:fillRect l="-67" r="-67"/>
              </a:stretch>
            </a:blipFill>
          </p:spPr>
        </p:sp>
        <p:sp>
          <p:nvSpPr>
            <p:cNvPr id="16" name="Freeform 16"/>
            <p:cNvSpPr/>
            <p:nvPr/>
          </p:nvSpPr>
          <p:spPr>
            <a:xfrm>
              <a:off x="44741" y="-24384"/>
              <a:ext cx="4526947" cy="3651107"/>
            </a:xfrm>
            <a:custGeom>
              <a:avLst/>
              <a:gdLst/>
              <a:ahLst/>
              <a:cxnLst/>
              <a:rect l="l" t="t" r="r" b="b"/>
              <a:pathLst>
                <a:path w="4526947" h="3651107">
                  <a:moveTo>
                    <a:pt x="2641386" y="3618544"/>
                  </a:moveTo>
                  <a:cubicBezTo>
                    <a:pt x="2240620" y="3651108"/>
                    <a:pt x="1838727" y="3569536"/>
                    <a:pt x="1453413" y="3454612"/>
                  </a:cubicBezTo>
                  <a:cubicBezTo>
                    <a:pt x="1161920" y="3367672"/>
                    <a:pt x="870095" y="3257995"/>
                    <a:pt x="635273" y="3064637"/>
                  </a:cubicBezTo>
                  <a:cubicBezTo>
                    <a:pt x="300543" y="2789014"/>
                    <a:pt x="112896" y="2363359"/>
                    <a:pt x="58919" y="1933123"/>
                  </a:cubicBezTo>
                  <a:cubicBezTo>
                    <a:pt x="0" y="1463506"/>
                    <a:pt x="97051" y="962320"/>
                    <a:pt x="389363" y="590080"/>
                  </a:cubicBezTo>
                  <a:cubicBezTo>
                    <a:pt x="681674" y="217839"/>
                    <a:pt x="1184181" y="0"/>
                    <a:pt x="1644781" y="108864"/>
                  </a:cubicBezTo>
                  <a:cubicBezTo>
                    <a:pt x="1961698" y="183769"/>
                    <a:pt x="2227591" y="396412"/>
                    <a:pt x="2459922" y="624599"/>
                  </a:cubicBezTo>
                  <a:cubicBezTo>
                    <a:pt x="2692255" y="852789"/>
                    <a:pt x="2905450" y="1104561"/>
                    <a:pt x="3173128" y="1290023"/>
                  </a:cubicBezTo>
                  <a:cubicBezTo>
                    <a:pt x="3393050" y="1442396"/>
                    <a:pt x="3643019" y="1545182"/>
                    <a:pt x="3874124" y="1679990"/>
                  </a:cubicBezTo>
                  <a:cubicBezTo>
                    <a:pt x="4105232" y="1814798"/>
                    <a:pt x="4325731" y="1992340"/>
                    <a:pt x="4432106" y="2237839"/>
                  </a:cubicBezTo>
                  <a:cubicBezTo>
                    <a:pt x="4526947" y="2456722"/>
                    <a:pt x="4479206" y="2666180"/>
                    <a:pt x="4356655" y="2859725"/>
                  </a:cubicBezTo>
                  <a:cubicBezTo>
                    <a:pt x="4333250" y="2896688"/>
                    <a:pt x="4308155" y="2931855"/>
                    <a:pt x="4281520" y="2965317"/>
                  </a:cubicBezTo>
                  <a:cubicBezTo>
                    <a:pt x="3903003" y="3440859"/>
                    <a:pt x="3213362" y="3572068"/>
                    <a:pt x="2641386" y="3618544"/>
                  </a:cubicBezTo>
                  <a:close/>
                  <a:moveTo>
                    <a:pt x="4223409" y="1187779"/>
                  </a:moveTo>
                  <a:cubicBezTo>
                    <a:pt x="4291389" y="1161310"/>
                    <a:pt x="4355485" y="1108141"/>
                    <a:pt x="4362212" y="1031173"/>
                  </a:cubicBezTo>
                  <a:cubicBezTo>
                    <a:pt x="4365996" y="987881"/>
                    <a:pt x="4355004" y="944757"/>
                    <a:pt x="4342804" y="903049"/>
                  </a:cubicBezTo>
                  <a:cubicBezTo>
                    <a:pt x="4247225" y="576292"/>
                    <a:pt x="4015401" y="20573"/>
                    <a:pt x="3585291" y="86123"/>
                  </a:cubicBezTo>
                  <a:cubicBezTo>
                    <a:pt x="3477023" y="102624"/>
                    <a:pt x="3376057" y="151054"/>
                    <a:pt x="3282599" y="208149"/>
                  </a:cubicBezTo>
                  <a:cubicBezTo>
                    <a:pt x="3172632" y="275330"/>
                    <a:pt x="3062352" y="368672"/>
                    <a:pt x="3044759" y="496331"/>
                  </a:cubicBezTo>
                  <a:cubicBezTo>
                    <a:pt x="3027857" y="618964"/>
                    <a:pt x="3102238" y="735455"/>
                    <a:pt x="3186304" y="826324"/>
                  </a:cubicBezTo>
                  <a:cubicBezTo>
                    <a:pt x="3332401" y="984246"/>
                    <a:pt x="3530408" y="1091965"/>
                    <a:pt x="3737932" y="1144730"/>
                  </a:cubicBezTo>
                  <a:cubicBezTo>
                    <a:pt x="3858914" y="1175490"/>
                    <a:pt x="3992751" y="1213094"/>
                    <a:pt x="4118093" y="1209270"/>
                  </a:cubicBezTo>
                  <a:cubicBezTo>
                    <a:pt x="4153352" y="1208193"/>
                    <a:pt x="4189754" y="1200880"/>
                    <a:pt x="4223409" y="1187779"/>
                  </a:cubicBezTo>
                  <a:close/>
                </a:path>
              </a:pathLst>
            </a:custGeom>
            <a:solidFill>
              <a:srgbClr val="FF4920"/>
            </a:solidFill>
            <a:ln w="12700">
              <a:solidFill>
                <a:srgbClr val="000000"/>
              </a:solidFill>
            </a:ln>
          </p:spPr>
        </p:sp>
      </p:grpSp>
      <p:sp>
        <p:nvSpPr>
          <p:cNvPr id="17" name="TextBox 17"/>
          <p:cNvSpPr txBox="1"/>
          <p:nvPr/>
        </p:nvSpPr>
        <p:spPr>
          <a:xfrm>
            <a:off x="10237849" y="5934360"/>
            <a:ext cx="2095381"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#8257FF</a:t>
            </a:r>
          </a:p>
        </p:txBody>
      </p:sp>
      <p:sp>
        <p:nvSpPr>
          <p:cNvPr id="18" name="TextBox 18"/>
          <p:cNvSpPr txBox="1"/>
          <p:nvPr/>
        </p:nvSpPr>
        <p:spPr>
          <a:xfrm>
            <a:off x="14544309" y="8186104"/>
            <a:ext cx="2177177"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#FF4920</a:t>
            </a:r>
          </a:p>
        </p:txBody>
      </p:sp>
      <p:sp>
        <p:nvSpPr>
          <p:cNvPr id="19" name="TextBox 19"/>
          <p:cNvSpPr txBox="1"/>
          <p:nvPr/>
        </p:nvSpPr>
        <p:spPr>
          <a:xfrm>
            <a:off x="7069095" y="1468977"/>
            <a:ext cx="3618190" cy="679451"/>
          </a:xfrm>
          <a:prstGeom prst="rect">
            <a:avLst/>
          </a:prstGeom>
        </p:spPr>
        <p:txBody>
          <a:bodyPr lIns="0" tIns="0" rIns="0" bIns="0" rtlCol="0" anchor="t">
            <a:spAutoFit/>
          </a:bodyPr>
          <a:lstStyle/>
          <a:p>
            <a:pPr algn="ctr">
              <a:lnSpc>
                <a:spcPts val="5599"/>
              </a:lnSpc>
              <a:spcBef>
                <a:spcPct val="0"/>
              </a:spcBef>
            </a:pPr>
            <a:r>
              <a:rPr lang="en-US" sz="3999">
                <a:solidFill>
                  <a:srgbClr val="240960"/>
                </a:solidFill>
                <a:latin typeface="Roca One"/>
                <a:ea typeface="Roca One"/>
                <a:cs typeface="Roca One"/>
                <a:sym typeface="Roca One"/>
              </a:rPr>
              <a:t>Tertitary colors</a:t>
            </a:r>
          </a:p>
        </p:txBody>
      </p:sp>
      <p:grpSp>
        <p:nvGrpSpPr>
          <p:cNvPr id="20" name="Group 20"/>
          <p:cNvGrpSpPr/>
          <p:nvPr/>
        </p:nvGrpSpPr>
        <p:grpSpPr>
          <a:xfrm rot="-8100000">
            <a:off x="-24053" y="7939231"/>
            <a:ext cx="3834457" cy="3675788"/>
            <a:chOff x="0" y="0"/>
            <a:chExt cx="1828491" cy="1752828"/>
          </a:xfrm>
        </p:grpSpPr>
        <p:sp>
          <p:nvSpPr>
            <p:cNvPr id="21" name="Freeform 21"/>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2" name="TextBox 22"/>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rot="7770480">
            <a:off x="-511336" y="8223251"/>
            <a:ext cx="2443563" cy="244356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2544002">
            <a:off x="3930284" y="-67711"/>
            <a:ext cx="1762699" cy="1689759"/>
            <a:chOff x="0" y="0"/>
            <a:chExt cx="1828491" cy="1752828"/>
          </a:xfrm>
        </p:grpSpPr>
        <p:sp>
          <p:nvSpPr>
            <p:cNvPr id="27" name="Freeform 27"/>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28" name="TextBox 28"/>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6500144" y="305694"/>
            <a:ext cx="3045046" cy="2954729"/>
            <a:chOff x="0" y="0"/>
            <a:chExt cx="997761" cy="968167"/>
          </a:xfrm>
        </p:grpSpPr>
        <p:sp>
          <p:nvSpPr>
            <p:cNvPr id="30" name="Freeform 30"/>
            <p:cNvSpPr/>
            <p:nvPr/>
          </p:nvSpPr>
          <p:spPr>
            <a:xfrm>
              <a:off x="0" y="0"/>
              <a:ext cx="997761" cy="968167"/>
            </a:xfrm>
            <a:custGeom>
              <a:avLst/>
              <a:gdLst/>
              <a:ahLst/>
              <a:cxnLst/>
              <a:rect l="l" t="t" r="r" b="b"/>
              <a:pathLst>
                <a:path w="997761" h="968167">
                  <a:moveTo>
                    <a:pt x="498880" y="0"/>
                  </a:moveTo>
                  <a:cubicBezTo>
                    <a:pt x="223356" y="0"/>
                    <a:pt x="0" y="216732"/>
                    <a:pt x="0" y="484084"/>
                  </a:cubicBezTo>
                  <a:cubicBezTo>
                    <a:pt x="0" y="751436"/>
                    <a:pt x="223356" y="968167"/>
                    <a:pt x="498880" y="968167"/>
                  </a:cubicBezTo>
                  <a:cubicBezTo>
                    <a:pt x="774405" y="968167"/>
                    <a:pt x="997761" y="751436"/>
                    <a:pt x="997761" y="484084"/>
                  </a:cubicBezTo>
                  <a:cubicBezTo>
                    <a:pt x="997761" y="216732"/>
                    <a:pt x="774405" y="0"/>
                    <a:pt x="498880" y="0"/>
                  </a:cubicBezTo>
                  <a:close/>
                </a:path>
              </a:pathLst>
            </a:custGeom>
            <a:gradFill rotWithShape="1">
              <a:gsLst>
                <a:gs pos="0">
                  <a:srgbClr val="3C67BF">
                    <a:alpha val="96000"/>
                  </a:srgbClr>
                </a:gs>
                <a:gs pos="100000">
                  <a:srgbClr val="F7ACFF">
                    <a:alpha val="96000"/>
                  </a:srgbClr>
                </a:gs>
              </a:gsLst>
              <a:lin ang="0"/>
            </a:gradFill>
          </p:spPr>
        </p:sp>
        <p:sp>
          <p:nvSpPr>
            <p:cNvPr id="31" name="TextBox 31"/>
            <p:cNvSpPr txBox="1"/>
            <p:nvPr/>
          </p:nvSpPr>
          <p:spPr>
            <a:xfrm>
              <a:off x="93540" y="52666"/>
              <a:ext cx="810681" cy="82473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3885368">
            <a:off x="14020299" y="-1232743"/>
            <a:ext cx="3834457" cy="3675788"/>
            <a:chOff x="0" y="0"/>
            <a:chExt cx="1828491" cy="1752828"/>
          </a:xfrm>
        </p:grpSpPr>
        <p:sp>
          <p:nvSpPr>
            <p:cNvPr id="33" name="Freeform 33"/>
            <p:cNvSpPr/>
            <p:nvPr/>
          </p:nvSpPr>
          <p:spPr>
            <a:xfrm>
              <a:off x="0" y="0"/>
              <a:ext cx="1828491" cy="1752828"/>
            </a:xfrm>
            <a:custGeom>
              <a:avLst/>
              <a:gdLst/>
              <a:ahLst/>
              <a:cxnLst/>
              <a:rect l="l" t="t" r="r" b="b"/>
              <a:pathLst>
                <a:path w="1828491" h="1752828">
                  <a:moveTo>
                    <a:pt x="914245" y="0"/>
                  </a:moveTo>
                  <a:cubicBezTo>
                    <a:pt x="409322" y="0"/>
                    <a:pt x="0" y="392384"/>
                    <a:pt x="0" y="876414"/>
                  </a:cubicBezTo>
                  <a:cubicBezTo>
                    <a:pt x="0" y="1360444"/>
                    <a:pt x="409322" y="1752828"/>
                    <a:pt x="914245" y="1752828"/>
                  </a:cubicBezTo>
                  <a:cubicBezTo>
                    <a:pt x="1419169" y="1752828"/>
                    <a:pt x="1828491" y="1360444"/>
                    <a:pt x="1828491" y="876414"/>
                  </a:cubicBezTo>
                  <a:cubicBezTo>
                    <a:pt x="1828491" y="392384"/>
                    <a:pt x="1419169" y="0"/>
                    <a:pt x="914245" y="0"/>
                  </a:cubicBezTo>
                  <a:close/>
                </a:path>
              </a:pathLst>
            </a:custGeom>
            <a:gradFill rotWithShape="1">
              <a:gsLst>
                <a:gs pos="0">
                  <a:srgbClr val="3C67BF">
                    <a:alpha val="58000"/>
                  </a:srgbClr>
                </a:gs>
                <a:gs pos="50000">
                  <a:srgbClr val="6B4CAF">
                    <a:alpha val="33350"/>
                  </a:srgbClr>
                </a:gs>
                <a:gs pos="100000">
                  <a:srgbClr val="F7ACFF">
                    <a:alpha val="0"/>
                  </a:srgbClr>
                </a:gs>
              </a:gsLst>
              <a:lin ang="0"/>
            </a:gradFill>
          </p:spPr>
        </p:sp>
        <p:sp>
          <p:nvSpPr>
            <p:cNvPr id="34" name="TextBox 34"/>
            <p:cNvSpPr txBox="1"/>
            <p:nvPr/>
          </p:nvSpPr>
          <p:spPr>
            <a:xfrm>
              <a:off x="171421" y="126228"/>
              <a:ext cx="1485649" cy="146227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67194" y="2085975"/>
          <a:ext cx="15892106" cy="7172326"/>
        </p:xfrm>
        <a:graphic>
          <a:graphicData uri="http://schemas.openxmlformats.org/drawingml/2006/table">
            <a:tbl>
              <a:tblPr/>
              <a:tblGrid>
                <a:gridCol w="3276918">
                  <a:extLst>
                    <a:ext uri="{9D8B030D-6E8A-4147-A177-3AD203B41FA5}">
                      <a16:colId xmlns:a16="http://schemas.microsoft.com/office/drawing/2014/main" val="20000"/>
                    </a:ext>
                  </a:extLst>
                </a:gridCol>
                <a:gridCol w="3248539">
                  <a:extLst>
                    <a:ext uri="{9D8B030D-6E8A-4147-A177-3AD203B41FA5}">
                      <a16:colId xmlns:a16="http://schemas.microsoft.com/office/drawing/2014/main" val="20001"/>
                    </a:ext>
                  </a:extLst>
                </a:gridCol>
                <a:gridCol w="3163403">
                  <a:extLst>
                    <a:ext uri="{9D8B030D-6E8A-4147-A177-3AD203B41FA5}">
                      <a16:colId xmlns:a16="http://schemas.microsoft.com/office/drawing/2014/main" val="20002"/>
                    </a:ext>
                  </a:extLst>
                </a:gridCol>
                <a:gridCol w="2960348">
                  <a:extLst>
                    <a:ext uri="{9D8B030D-6E8A-4147-A177-3AD203B41FA5}">
                      <a16:colId xmlns:a16="http://schemas.microsoft.com/office/drawing/2014/main" val="20003"/>
                    </a:ext>
                  </a:extLst>
                </a:gridCol>
                <a:gridCol w="3242898">
                  <a:extLst>
                    <a:ext uri="{9D8B030D-6E8A-4147-A177-3AD203B41FA5}">
                      <a16:colId xmlns:a16="http://schemas.microsoft.com/office/drawing/2014/main" val="20004"/>
                    </a:ext>
                  </a:extLst>
                </a:gridCol>
              </a:tblGrid>
              <a:tr h="1024618">
                <a:tc>
                  <a:txBody>
                    <a:bodyPr/>
                    <a:lstStyle/>
                    <a:p>
                      <a:pPr algn="ctr">
                        <a:lnSpc>
                          <a:spcPts val="265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FONT SIZE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FONT WEIGHT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FONT FAMILY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Canva Sans Bold"/>
                          <a:ea typeface="Canva Sans Bold"/>
                          <a:cs typeface="Canva Sans Bold"/>
                          <a:sym typeface="Canva Sans Bold"/>
                        </a:rPr>
                        <a:t>COLOR SCHEME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4618">
                <a:tc>
                  <a:txBody>
                    <a:bodyPr/>
                    <a:lstStyle/>
                    <a:p>
                      <a:pPr algn="ctr">
                        <a:lnSpc>
                          <a:spcPts val="3639"/>
                        </a:lnSpc>
                        <a:defRPr/>
                      </a:pPr>
                      <a:r>
                        <a:rPr lang="en-US" sz="2599" b="1">
                          <a:solidFill>
                            <a:srgbClr val="000000"/>
                          </a:solidFill>
                          <a:latin typeface="Canva Sans Bold"/>
                          <a:ea typeface="Canva Sans Bold"/>
                          <a:cs typeface="Canva Sans Bold"/>
                          <a:sym typeface="Canva Sans Bold"/>
                        </a:rPr>
                        <a:t>HEADING 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SEMI BOLD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INTER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PRIMARY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4618">
                <a:tc>
                  <a:txBody>
                    <a:bodyPr/>
                    <a:lstStyle/>
                    <a:p>
                      <a:pPr algn="ctr">
                        <a:lnSpc>
                          <a:spcPts val="3639"/>
                        </a:lnSpc>
                        <a:defRPr/>
                      </a:pPr>
                      <a:r>
                        <a:rPr lang="en-US" sz="2599" b="1">
                          <a:solidFill>
                            <a:srgbClr val="000000"/>
                          </a:solidFill>
                          <a:latin typeface="Canva Sans Bold"/>
                          <a:ea typeface="Canva Sans Bold"/>
                          <a:cs typeface="Canva Sans Bold"/>
                          <a:sym typeface="Canva Sans Bold"/>
                        </a:rPr>
                        <a:t>HEADING 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16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SEMI BOLD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INTER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PRIMARY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4618">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HEADING 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14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MEDIUM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ISTOK WEB</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PRIMARY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4618">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BODY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16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REGULAR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INTER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PRIMARY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4618">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CAPTION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12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REGULAR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INTER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MUTED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024618">
                <a:tc>
                  <a:txBody>
                    <a:bodyPr/>
                    <a:lstStyle/>
                    <a:p>
                      <a:pPr algn="ctr">
                        <a:lnSpc>
                          <a:spcPts val="3499"/>
                        </a:lnSpc>
                        <a:defRPr/>
                      </a:pPr>
                      <a:r>
                        <a:rPr lang="en-US" sz="2499" b="1">
                          <a:solidFill>
                            <a:srgbClr val="000000"/>
                          </a:solidFill>
                          <a:latin typeface="Canva Sans Bold"/>
                          <a:ea typeface="Canva Sans Bold"/>
                          <a:cs typeface="Canva Sans Bold"/>
                          <a:sym typeface="Canva Sans Bold"/>
                        </a:rPr>
                        <a:t>BUTTON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16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SEMI BOLD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INTER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Canva Sans"/>
                          <a:ea typeface="Canva Sans"/>
                          <a:cs typeface="Canva Sans"/>
                          <a:sym typeface="Canva Sans"/>
                        </a:rPr>
                        <a:t>SECONDARY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extBox 3"/>
          <p:cNvSpPr txBox="1"/>
          <p:nvPr/>
        </p:nvSpPr>
        <p:spPr>
          <a:xfrm>
            <a:off x="3491730" y="769398"/>
            <a:ext cx="1195520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TYPOGRAPHY</a:t>
            </a:r>
          </a:p>
        </p:txBody>
      </p:sp>
      <p:grpSp>
        <p:nvGrpSpPr>
          <p:cNvPr id="4" name="Group 4"/>
          <p:cNvGrpSpPr/>
          <p:nvPr/>
        </p:nvGrpSpPr>
        <p:grpSpPr>
          <a:xfrm>
            <a:off x="1367194" y="2085975"/>
            <a:ext cx="15892106" cy="7172325"/>
            <a:chOff x="0" y="0"/>
            <a:chExt cx="4185575" cy="1889007"/>
          </a:xfrm>
        </p:grpSpPr>
        <p:sp>
          <p:nvSpPr>
            <p:cNvPr id="5" name="Freeform 5"/>
            <p:cNvSpPr/>
            <p:nvPr/>
          </p:nvSpPr>
          <p:spPr>
            <a:xfrm>
              <a:off x="0" y="0"/>
              <a:ext cx="4185575" cy="1889007"/>
            </a:xfrm>
            <a:custGeom>
              <a:avLst/>
              <a:gdLst/>
              <a:ahLst/>
              <a:cxnLst/>
              <a:rect l="l" t="t" r="r" b="b"/>
              <a:pathLst>
                <a:path w="4185575" h="1889007">
                  <a:moveTo>
                    <a:pt x="0" y="0"/>
                  </a:moveTo>
                  <a:lnTo>
                    <a:pt x="4185575" y="0"/>
                  </a:lnTo>
                  <a:lnTo>
                    <a:pt x="4185575" y="1889007"/>
                  </a:lnTo>
                  <a:lnTo>
                    <a:pt x="0" y="1889007"/>
                  </a:lnTo>
                  <a:close/>
                </a:path>
              </a:pathLst>
            </a:custGeom>
            <a:gradFill rotWithShape="1">
              <a:gsLst>
                <a:gs pos="0">
                  <a:srgbClr val="5B45B5">
                    <a:alpha val="23000"/>
                  </a:srgbClr>
                </a:gs>
                <a:gs pos="100000">
                  <a:srgbClr val="8875D7">
                    <a:alpha val="23000"/>
                  </a:srgbClr>
                </a:gs>
              </a:gsLst>
              <a:lin ang="0"/>
            </a:gradFill>
          </p:spPr>
        </p:sp>
        <p:sp>
          <p:nvSpPr>
            <p:cNvPr id="6" name="TextBox 6"/>
            <p:cNvSpPr txBox="1"/>
            <p:nvPr/>
          </p:nvSpPr>
          <p:spPr>
            <a:xfrm>
              <a:off x="0" y="-38100"/>
              <a:ext cx="4185575" cy="192710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67194" y="2085975"/>
            <a:ext cx="15892106" cy="7172325"/>
            <a:chOff x="0" y="0"/>
            <a:chExt cx="7045760" cy="3179848"/>
          </a:xfrm>
        </p:grpSpPr>
        <p:sp>
          <p:nvSpPr>
            <p:cNvPr id="8" name="Freeform 8"/>
            <p:cNvSpPr/>
            <p:nvPr/>
          </p:nvSpPr>
          <p:spPr>
            <a:xfrm>
              <a:off x="0" y="0"/>
              <a:ext cx="7045760" cy="3179848"/>
            </a:xfrm>
            <a:custGeom>
              <a:avLst/>
              <a:gdLst/>
              <a:ahLst/>
              <a:cxnLst/>
              <a:rect l="l" t="t" r="r" b="b"/>
              <a:pathLst>
                <a:path w="7045760" h="3179848">
                  <a:moveTo>
                    <a:pt x="0" y="0"/>
                  </a:moveTo>
                  <a:lnTo>
                    <a:pt x="7045760" y="0"/>
                  </a:lnTo>
                  <a:lnTo>
                    <a:pt x="7045760" y="3179848"/>
                  </a:lnTo>
                  <a:lnTo>
                    <a:pt x="0" y="3179848"/>
                  </a:lnTo>
                  <a:close/>
                </a:path>
              </a:pathLst>
            </a:custGeom>
            <a:solidFill>
              <a:srgbClr val="000000">
                <a:alpha val="0"/>
              </a:srgbClr>
            </a:solidFill>
            <a:ln w="57150" cap="sq">
              <a:gradFill>
                <a:gsLst>
                  <a:gs pos="0">
                    <a:srgbClr val="5B45B5">
                      <a:alpha val="100000"/>
                    </a:srgbClr>
                  </a:gs>
                  <a:gs pos="100000">
                    <a:srgbClr val="8875D7">
                      <a:alpha val="100000"/>
                    </a:srgbClr>
                  </a:gs>
                </a:gsLst>
                <a:lin ang="0"/>
              </a:gradFill>
              <a:prstDash val="solid"/>
              <a:miter/>
            </a:ln>
          </p:spPr>
        </p:sp>
        <p:sp>
          <p:nvSpPr>
            <p:cNvPr id="9" name="TextBox 9"/>
            <p:cNvSpPr txBox="1"/>
            <p:nvPr/>
          </p:nvSpPr>
          <p:spPr>
            <a:xfrm>
              <a:off x="0" y="-38100"/>
              <a:ext cx="7045760" cy="3217948"/>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5565909" cy="2747472"/>
          </a:xfrm>
        </p:grpSpPr>
        <p:sp>
          <p:nvSpPr>
            <p:cNvPr id="3" name="Freeform 3"/>
            <p:cNvSpPr/>
            <p:nvPr/>
          </p:nvSpPr>
          <p:spPr>
            <a:xfrm>
              <a:off x="0" y="0"/>
              <a:ext cx="5565909" cy="2747472"/>
            </a:xfrm>
            <a:custGeom>
              <a:avLst/>
              <a:gdLst/>
              <a:ahLst/>
              <a:cxnLst/>
              <a:rect l="l" t="t" r="r" b="b"/>
              <a:pathLst>
                <a:path w="5565909" h="2747472">
                  <a:moveTo>
                    <a:pt x="19050" y="0"/>
                  </a:moveTo>
                  <a:lnTo>
                    <a:pt x="5546860" y="0"/>
                  </a:lnTo>
                  <a:cubicBezTo>
                    <a:pt x="5551912" y="0"/>
                    <a:pt x="5556757" y="2007"/>
                    <a:pt x="5560330" y="5580"/>
                  </a:cubicBezTo>
                  <a:cubicBezTo>
                    <a:pt x="5563903" y="9152"/>
                    <a:pt x="5565909" y="13997"/>
                    <a:pt x="5565909" y="19050"/>
                  </a:cubicBezTo>
                  <a:lnTo>
                    <a:pt x="5565909" y="2728422"/>
                  </a:lnTo>
                  <a:cubicBezTo>
                    <a:pt x="5565909" y="2733475"/>
                    <a:pt x="5563903" y="2738320"/>
                    <a:pt x="5560330" y="2741893"/>
                  </a:cubicBezTo>
                  <a:cubicBezTo>
                    <a:pt x="5556757" y="2745465"/>
                    <a:pt x="5551912" y="2747472"/>
                    <a:pt x="5546860" y="2747472"/>
                  </a:cubicBezTo>
                  <a:lnTo>
                    <a:pt x="19050" y="2747472"/>
                  </a:lnTo>
                  <a:cubicBezTo>
                    <a:pt x="13997" y="2747472"/>
                    <a:pt x="9152" y="2745465"/>
                    <a:pt x="5580" y="2741893"/>
                  </a:cubicBezTo>
                  <a:cubicBezTo>
                    <a:pt x="2007" y="2738320"/>
                    <a:pt x="0" y="2733475"/>
                    <a:pt x="0" y="2728422"/>
                  </a:cubicBezTo>
                  <a:lnTo>
                    <a:pt x="0" y="19050"/>
                  </a:lnTo>
                  <a:cubicBezTo>
                    <a:pt x="0" y="13997"/>
                    <a:pt x="2007" y="9152"/>
                    <a:pt x="5580" y="5580"/>
                  </a:cubicBezTo>
                  <a:cubicBezTo>
                    <a:pt x="9152" y="2007"/>
                    <a:pt x="13997" y="0"/>
                    <a:pt x="19050"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403184" y="769398"/>
            <a:ext cx="74816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High-Fi Screens</a:t>
            </a:r>
          </a:p>
        </p:txBody>
      </p:sp>
      <p:sp>
        <p:nvSpPr>
          <p:cNvPr id="10" name="TextBox 10"/>
          <p:cNvSpPr txBox="1"/>
          <p:nvPr/>
        </p:nvSpPr>
        <p:spPr>
          <a:xfrm>
            <a:off x="2475697" y="2101982"/>
            <a:ext cx="1748639"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Logo</a:t>
            </a:r>
          </a:p>
        </p:txBody>
      </p:sp>
      <p:sp>
        <p:nvSpPr>
          <p:cNvPr id="11" name="TextBox 11"/>
          <p:cNvSpPr txBox="1"/>
          <p:nvPr/>
        </p:nvSpPr>
        <p:spPr>
          <a:xfrm>
            <a:off x="11613684" y="2101982"/>
            <a:ext cx="5912316" cy="71814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240960"/>
                </a:solidFill>
                <a:latin typeface="Roca One"/>
                <a:ea typeface="Roca One"/>
                <a:cs typeface="Roca One"/>
                <a:sym typeface="Roca One"/>
              </a:rPr>
              <a:t>Language Selection</a:t>
            </a:r>
          </a:p>
        </p:txBody>
      </p:sp>
      <p:pic>
        <p:nvPicPr>
          <p:cNvPr id="14" name="Picture 13">
            <a:extLst>
              <a:ext uri="{FF2B5EF4-FFF2-40B4-BE49-F238E27FC236}">
                <a16:creationId xmlns:a16="http://schemas.microsoft.com/office/drawing/2014/main" id="{8D76BC3B-4983-A62F-F592-4BF4689DB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2979" y="2962780"/>
            <a:ext cx="3133725" cy="6813122"/>
          </a:xfrm>
          <a:prstGeom prst="rect">
            <a:avLst/>
          </a:prstGeom>
        </p:spPr>
      </p:pic>
      <p:pic>
        <p:nvPicPr>
          <p:cNvPr id="16" name="Picture 15">
            <a:extLst>
              <a:ext uri="{FF2B5EF4-FFF2-40B4-BE49-F238E27FC236}">
                <a16:creationId xmlns:a16="http://schemas.microsoft.com/office/drawing/2014/main" id="{7481B831-C92D-FDE7-886E-FAB56F36E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3155" y="2962780"/>
            <a:ext cx="3133725" cy="681312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a:extLst>
            <a:ext uri="{FF2B5EF4-FFF2-40B4-BE49-F238E27FC236}">
              <a16:creationId xmlns:a16="http://schemas.microsoft.com/office/drawing/2014/main" id="{7A184637-8D06-8B6B-C80E-41C8CE85C1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FF0F67-5966-F429-CD51-D647E9DA83F1}"/>
              </a:ext>
            </a:extLst>
          </p:cNvPr>
          <p:cNvGrpSpPr/>
          <p:nvPr/>
        </p:nvGrpSpPr>
        <p:grpSpPr>
          <a:xfrm>
            <a:off x="0" y="0"/>
            <a:ext cx="18288000" cy="10287000"/>
            <a:chOff x="0" y="0"/>
            <a:chExt cx="5565909" cy="2747472"/>
          </a:xfrm>
        </p:grpSpPr>
        <p:sp>
          <p:nvSpPr>
            <p:cNvPr id="3" name="Freeform 3">
              <a:extLst>
                <a:ext uri="{FF2B5EF4-FFF2-40B4-BE49-F238E27FC236}">
                  <a16:creationId xmlns:a16="http://schemas.microsoft.com/office/drawing/2014/main" id="{3D299415-EEFF-DBBB-1655-7D48D9C2D926}"/>
                </a:ext>
              </a:extLst>
            </p:cNvPr>
            <p:cNvSpPr/>
            <p:nvPr/>
          </p:nvSpPr>
          <p:spPr>
            <a:xfrm>
              <a:off x="0" y="0"/>
              <a:ext cx="5565909" cy="2747472"/>
            </a:xfrm>
            <a:custGeom>
              <a:avLst/>
              <a:gdLst/>
              <a:ahLst/>
              <a:cxnLst/>
              <a:rect l="l" t="t" r="r" b="b"/>
              <a:pathLst>
                <a:path w="5565909" h="2747472">
                  <a:moveTo>
                    <a:pt x="19050" y="0"/>
                  </a:moveTo>
                  <a:lnTo>
                    <a:pt x="5546860" y="0"/>
                  </a:lnTo>
                  <a:cubicBezTo>
                    <a:pt x="5551912" y="0"/>
                    <a:pt x="5556757" y="2007"/>
                    <a:pt x="5560330" y="5580"/>
                  </a:cubicBezTo>
                  <a:cubicBezTo>
                    <a:pt x="5563903" y="9152"/>
                    <a:pt x="5565909" y="13997"/>
                    <a:pt x="5565909" y="19050"/>
                  </a:cubicBezTo>
                  <a:lnTo>
                    <a:pt x="5565909" y="2728422"/>
                  </a:lnTo>
                  <a:cubicBezTo>
                    <a:pt x="5565909" y="2733475"/>
                    <a:pt x="5563903" y="2738320"/>
                    <a:pt x="5560330" y="2741893"/>
                  </a:cubicBezTo>
                  <a:cubicBezTo>
                    <a:pt x="5556757" y="2745465"/>
                    <a:pt x="5551912" y="2747472"/>
                    <a:pt x="5546860" y="2747472"/>
                  </a:cubicBezTo>
                  <a:lnTo>
                    <a:pt x="19050" y="2747472"/>
                  </a:lnTo>
                  <a:cubicBezTo>
                    <a:pt x="13997" y="2747472"/>
                    <a:pt x="9152" y="2745465"/>
                    <a:pt x="5580" y="2741893"/>
                  </a:cubicBezTo>
                  <a:cubicBezTo>
                    <a:pt x="2007" y="2738320"/>
                    <a:pt x="0" y="2733475"/>
                    <a:pt x="0" y="2728422"/>
                  </a:cubicBezTo>
                  <a:lnTo>
                    <a:pt x="0" y="19050"/>
                  </a:lnTo>
                  <a:cubicBezTo>
                    <a:pt x="0" y="13997"/>
                    <a:pt x="2007" y="9152"/>
                    <a:pt x="5580" y="5580"/>
                  </a:cubicBezTo>
                  <a:cubicBezTo>
                    <a:pt x="9152" y="2007"/>
                    <a:pt x="13997" y="0"/>
                    <a:pt x="19050"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a:extLst>
                <a:ext uri="{FF2B5EF4-FFF2-40B4-BE49-F238E27FC236}">
                  <a16:creationId xmlns:a16="http://schemas.microsoft.com/office/drawing/2014/main" id="{CF893D06-8151-ACBB-6FBD-BD41FF45E444}"/>
                </a:ext>
              </a:extLst>
            </p:cNvPr>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9" name="TextBox 9">
            <a:extLst>
              <a:ext uri="{FF2B5EF4-FFF2-40B4-BE49-F238E27FC236}">
                <a16:creationId xmlns:a16="http://schemas.microsoft.com/office/drawing/2014/main" id="{AC5CE8F7-91D9-7797-6A85-ACB0CA87442F}"/>
              </a:ext>
            </a:extLst>
          </p:cNvPr>
          <p:cNvSpPr txBox="1"/>
          <p:nvPr/>
        </p:nvSpPr>
        <p:spPr>
          <a:xfrm>
            <a:off x="5403184" y="769398"/>
            <a:ext cx="74816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High-Fi Screens</a:t>
            </a:r>
          </a:p>
        </p:txBody>
      </p:sp>
      <p:pic>
        <p:nvPicPr>
          <p:cNvPr id="6" name="Picture 5">
            <a:extLst>
              <a:ext uri="{FF2B5EF4-FFF2-40B4-BE49-F238E27FC236}">
                <a16:creationId xmlns:a16="http://schemas.microsoft.com/office/drawing/2014/main" id="{D6850E66-DF95-6120-ADA9-954188B99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4817" y="2509528"/>
            <a:ext cx="3133725" cy="6813122"/>
          </a:xfrm>
          <a:prstGeom prst="rect">
            <a:avLst/>
          </a:prstGeom>
        </p:spPr>
      </p:pic>
      <p:pic>
        <p:nvPicPr>
          <p:cNvPr id="7" name="Picture 6">
            <a:extLst>
              <a:ext uri="{FF2B5EF4-FFF2-40B4-BE49-F238E27FC236}">
                <a16:creationId xmlns:a16="http://schemas.microsoft.com/office/drawing/2014/main" id="{46F69F99-96AE-BD4B-A99A-72724EC2C7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2540535"/>
            <a:ext cx="3121511" cy="6786567"/>
          </a:xfrm>
          <a:prstGeom prst="rect">
            <a:avLst/>
          </a:prstGeom>
        </p:spPr>
      </p:pic>
    </p:spTree>
    <p:extLst>
      <p:ext uri="{BB962C8B-B14F-4D97-AF65-F5344CB8AC3E}">
        <p14:creationId xmlns:p14="http://schemas.microsoft.com/office/powerpoint/2010/main" val="1030157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0480" y="95250"/>
            <a:ext cx="18288000" cy="10096500"/>
            <a:chOff x="0" y="0"/>
            <a:chExt cx="5565909" cy="2747472"/>
          </a:xfrm>
        </p:grpSpPr>
        <p:sp>
          <p:nvSpPr>
            <p:cNvPr id="3" name="Freeform 3"/>
            <p:cNvSpPr/>
            <p:nvPr/>
          </p:nvSpPr>
          <p:spPr>
            <a:xfrm>
              <a:off x="0" y="0"/>
              <a:ext cx="5565909" cy="2747472"/>
            </a:xfrm>
            <a:custGeom>
              <a:avLst/>
              <a:gdLst/>
              <a:ahLst/>
              <a:cxnLst/>
              <a:rect l="l" t="t" r="r" b="b"/>
              <a:pathLst>
                <a:path w="5565909" h="2747472">
                  <a:moveTo>
                    <a:pt x="19050" y="0"/>
                  </a:moveTo>
                  <a:lnTo>
                    <a:pt x="5546860" y="0"/>
                  </a:lnTo>
                  <a:cubicBezTo>
                    <a:pt x="5551912" y="0"/>
                    <a:pt x="5556757" y="2007"/>
                    <a:pt x="5560330" y="5580"/>
                  </a:cubicBezTo>
                  <a:cubicBezTo>
                    <a:pt x="5563903" y="9152"/>
                    <a:pt x="5565909" y="13997"/>
                    <a:pt x="5565909" y="19050"/>
                  </a:cubicBezTo>
                  <a:lnTo>
                    <a:pt x="5565909" y="2728422"/>
                  </a:lnTo>
                  <a:cubicBezTo>
                    <a:pt x="5565909" y="2733475"/>
                    <a:pt x="5563903" y="2738320"/>
                    <a:pt x="5560330" y="2741893"/>
                  </a:cubicBezTo>
                  <a:cubicBezTo>
                    <a:pt x="5556757" y="2745465"/>
                    <a:pt x="5551912" y="2747472"/>
                    <a:pt x="5546860" y="2747472"/>
                  </a:cubicBezTo>
                  <a:lnTo>
                    <a:pt x="19050" y="2747472"/>
                  </a:lnTo>
                  <a:cubicBezTo>
                    <a:pt x="13997" y="2747472"/>
                    <a:pt x="9152" y="2745465"/>
                    <a:pt x="5580" y="2741893"/>
                  </a:cubicBezTo>
                  <a:cubicBezTo>
                    <a:pt x="2007" y="2738320"/>
                    <a:pt x="0" y="2733475"/>
                    <a:pt x="0" y="2728422"/>
                  </a:cubicBezTo>
                  <a:lnTo>
                    <a:pt x="0" y="19050"/>
                  </a:lnTo>
                  <a:cubicBezTo>
                    <a:pt x="0" y="13997"/>
                    <a:pt x="2007" y="9152"/>
                    <a:pt x="5580" y="5580"/>
                  </a:cubicBezTo>
                  <a:cubicBezTo>
                    <a:pt x="9152" y="2007"/>
                    <a:pt x="13997" y="0"/>
                    <a:pt x="19050"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403184" y="769398"/>
            <a:ext cx="74816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High-Fi Screens</a:t>
            </a:r>
          </a:p>
        </p:txBody>
      </p:sp>
      <p:sp>
        <p:nvSpPr>
          <p:cNvPr id="11" name="TextBox 11"/>
          <p:cNvSpPr txBox="1"/>
          <p:nvPr/>
        </p:nvSpPr>
        <p:spPr>
          <a:xfrm>
            <a:off x="14097000" y="1842377"/>
            <a:ext cx="2507584"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Login Page</a:t>
            </a:r>
          </a:p>
        </p:txBody>
      </p:sp>
      <p:sp>
        <p:nvSpPr>
          <p:cNvPr id="14" name="TextBox 11">
            <a:extLst>
              <a:ext uri="{FF2B5EF4-FFF2-40B4-BE49-F238E27FC236}">
                <a16:creationId xmlns:a16="http://schemas.microsoft.com/office/drawing/2014/main" id="{12D5EDC6-6C0F-6667-41D0-EDBCB4C4415B}"/>
              </a:ext>
            </a:extLst>
          </p:cNvPr>
          <p:cNvSpPr txBox="1"/>
          <p:nvPr/>
        </p:nvSpPr>
        <p:spPr>
          <a:xfrm>
            <a:off x="2603876" y="1842376"/>
            <a:ext cx="2507584"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Sign Up Page</a:t>
            </a:r>
          </a:p>
        </p:txBody>
      </p:sp>
      <p:pic>
        <p:nvPicPr>
          <p:cNvPr id="16" name="Picture 15">
            <a:extLst>
              <a:ext uri="{FF2B5EF4-FFF2-40B4-BE49-F238E27FC236}">
                <a16:creationId xmlns:a16="http://schemas.microsoft.com/office/drawing/2014/main" id="{2D03C2C4-E571-D5A8-E251-55FC716A3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6913" y="2731035"/>
            <a:ext cx="3121511" cy="6786567"/>
          </a:xfrm>
          <a:prstGeom prst="rect">
            <a:avLst/>
          </a:prstGeom>
        </p:spPr>
      </p:pic>
      <p:pic>
        <p:nvPicPr>
          <p:cNvPr id="18" name="Picture 17">
            <a:extLst>
              <a:ext uri="{FF2B5EF4-FFF2-40B4-BE49-F238E27FC236}">
                <a16:creationId xmlns:a16="http://schemas.microsoft.com/office/drawing/2014/main" id="{06766233-6F25-C211-F9FB-3BE5DB5CB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00148" y="2716380"/>
            <a:ext cx="3121511" cy="678656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0" y="95250"/>
            <a:ext cx="18288000" cy="10096500"/>
            <a:chOff x="0" y="0"/>
            <a:chExt cx="5565909" cy="2747472"/>
          </a:xfrm>
        </p:grpSpPr>
        <p:sp>
          <p:nvSpPr>
            <p:cNvPr id="3" name="Freeform 3"/>
            <p:cNvSpPr/>
            <p:nvPr/>
          </p:nvSpPr>
          <p:spPr>
            <a:xfrm>
              <a:off x="0" y="0"/>
              <a:ext cx="5565909" cy="2747472"/>
            </a:xfrm>
            <a:custGeom>
              <a:avLst/>
              <a:gdLst/>
              <a:ahLst/>
              <a:cxnLst/>
              <a:rect l="l" t="t" r="r" b="b"/>
              <a:pathLst>
                <a:path w="5565909" h="2747472">
                  <a:moveTo>
                    <a:pt x="19050" y="0"/>
                  </a:moveTo>
                  <a:lnTo>
                    <a:pt x="5546860" y="0"/>
                  </a:lnTo>
                  <a:cubicBezTo>
                    <a:pt x="5551912" y="0"/>
                    <a:pt x="5556757" y="2007"/>
                    <a:pt x="5560330" y="5580"/>
                  </a:cubicBezTo>
                  <a:cubicBezTo>
                    <a:pt x="5563903" y="9152"/>
                    <a:pt x="5565909" y="13997"/>
                    <a:pt x="5565909" y="19050"/>
                  </a:cubicBezTo>
                  <a:lnTo>
                    <a:pt x="5565909" y="2728422"/>
                  </a:lnTo>
                  <a:cubicBezTo>
                    <a:pt x="5565909" y="2733475"/>
                    <a:pt x="5563903" y="2738320"/>
                    <a:pt x="5560330" y="2741893"/>
                  </a:cubicBezTo>
                  <a:cubicBezTo>
                    <a:pt x="5556757" y="2745465"/>
                    <a:pt x="5551912" y="2747472"/>
                    <a:pt x="5546860" y="2747472"/>
                  </a:cubicBezTo>
                  <a:lnTo>
                    <a:pt x="19050" y="2747472"/>
                  </a:lnTo>
                  <a:cubicBezTo>
                    <a:pt x="13997" y="2747472"/>
                    <a:pt x="9152" y="2745465"/>
                    <a:pt x="5580" y="2741893"/>
                  </a:cubicBezTo>
                  <a:cubicBezTo>
                    <a:pt x="2007" y="2738320"/>
                    <a:pt x="0" y="2733475"/>
                    <a:pt x="0" y="2728422"/>
                  </a:cubicBezTo>
                  <a:lnTo>
                    <a:pt x="0" y="19050"/>
                  </a:lnTo>
                  <a:cubicBezTo>
                    <a:pt x="0" y="13997"/>
                    <a:pt x="2007" y="9152"/>
                    <a:pt x="5580" y="5580"/>
                  </a:cubicBezTo>
                  <a:cubicBezTo>
                    <a:pt x="9152" y="2007"/>
                    <a:pt x="13997" y="0"/>
                    <a:pt x="19050"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403184" y="769398"/>
            <a:ext cx="74816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High-Fi Screens</a:t>
            </a:r>
          </a:p>
        </p:txBody>
      </p:sp>
      <p:sp>
        <p:nvSpPr>
          <p:cNvPr id="10" name="TextBox 10"/>
          <p:cNvSpPr txBox="1"/>
          <p:nvPr/>
        </p:nvSpPr>
        <p:spPr>
          <a:xfrm>
            <a:off x="1876891" y="2186200"/>
            <a:ext cx="2916115"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Home Screen</a:t>
            </a:r>
          </a:p>
        </p:txBody>
      </p:sp>
      <p:sp>
        <p:nvSpPr>
          <p:cNvPr id="11" name="TextBox 11"/>
          <p:cNvSpPr txBox="1"/>
          <p:nvPr/>
        </p:nvSpPr>
        <p:spPr>
          <a:xfrm>
            <a:off x="12322472" y="2159900"/>
            <a:ext cx="3755727"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Send money</a:t>
            </a:r>
          </a:p>
        </p:txBody>
      </p:sp>
      <p:pic>
        <p:nvPicPr>
          <p:cNvPr id="13" name="Picture 12">
            <a:extLst>
              <a:ext uri="{FF2B5EF4-FFF2-40B4-BE49-F238E27FC236}">
                <a16:creationId xmlns:a16="http://schemas.microsoft.com/office/drawing/2014/main" id="{EFE528C5-7B25-A3EA-F078-61C92307E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5505" y="2857500"/>
            <a:ext cx="3027501" cy="6582178"/>
          </a:xfrm>
          <a:prstGeom prst="rect">
            <a:avLst/>
          </a:prstGeom>
        </p:spPr>
      </p:pic>
      <p:pic>
        <p:nvPicPr>
          <p:cNvPr id="15" name="Picture 14">
            <a:extLst>
              <a:ext uri="{FF2B5EF4-FFF2-40B4-BE49-F238E27FC236}">
                <a16:creationId xmlns:a16="http://schemas.microsoft.com/office/drawing/2014/main" id="{6EA9093A-53FB-C3A6-1AEA-2FD43D61E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6584" y="2857500"/>
            <a:ext cx="3027501" cy="658217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0" y="268018"/>
            <a:ext cx="18288000" cy="10287000"/>
            <a:chOff x="0" y="0"/>
            <a:chExt cx="5565909" cy="2747472"/>
          </a:xfrm>
        </p:grpSpPr>
        <p:sp>
          <p:nvSpPr>
            <p:cNvPr id="3" name="Freeform 3"/>
            <p:cNvSpPr/>
            <p:nvPr/>
          </p:nvSpPr>
          <p:spPr>
            <a:xfrm>
              <a:off x="0" y="0"/>
              <a:ext cx="5565909" cy="2747472"/>
            </a:xfrm>
            <a:custGeom>
              <a:avLst/>
              <a:gdLst/>
              <a:ahLst/>
              <a:cxnLst/>
              <a:rect l="l" t="t" r="r" b="b"/>
              <a:pathLst>
                <a:path w="5565909" h="2747472">
                  <a:moveTo>
                    <a:pt x="19050" y="0"/>
                  </a:moveTo>
                  <a:lnTo>
                    <a:pt x="5546860" y="0"/>
                  </a:lnTo>
                  <a:cubicBezTo>
                    <a:pt x="5551912" y="0"/>
                    <a:pt x="5556757" y="2007"/>
                    <a:pt x="5560330" y="5580"/>
                  </a:cubicBezTo>
                  <a:cubicBezTo>
                    <a:pt x="5563903" y="9152"/>
                    <a:pt x="5565909" y="13997"/>
                    <a:pt x="5565909" y="19050"/>
                  </a:cubicBezTo>
                  <a:lnTo>
                    <a:pt x="5565909" y="2728422"/>
                  </a:lnTo>
                  <a:cubicBezTo>
                    <a:pt x="5565909" y="2733475"/>
                    <a:pt x="5563903" y="2738320"/>
                    <a:pt x="5560330" y="2741893"/>
                  </a:cubicBezTo>
                  <a:cubicBezTo>
                    <a:pt x="5556757" y="2745465"/>
                    <a:pt x="5551912" y="2747472"/>
                    <a:pt x="5546860" y="2747472"/>
                  </a:cubicBezTo>
                  <a:lnTo>
                    <a:pt x="19050" y="2747472"/>
                  </a:lnTo>
                  <a:cubicBezTo>
                    <a:pt x="13997" y="2747472"/>
                    <a:pt x="9152" y="2745465"/>
                    <a:pt x="5580" y="2741893"/>
                  </a:cubicBezTo>
                  <a:cubicBezTo>
                    <a:pt x="2007" y="2738320"/>
                    <a:pt x="0" y="2733475"/>
                    <a:pt x="0" y="2728422"/>
                  </a:cubicBezTo>
                  <a:lnTo>
                    <a:pt x="0" y="19050"/>
                  </a:lnTo>
                  <a:cubicBezTo>
                    <a:pt x="0" y="13997"/>
                    <a:pt x="2007" y="9152"/>
                    <a:pt x="5580" y="5580"/>
                  </a:cubicBezTo>
                  <a:cubicBezTo>
                    <a:pt x="9152" y="2007"/>
                    <a:pt x="13997" y="0"/>
                    <a:pt x="19050" y="0"/>
                  </a:cubicBezTo>
                  <a:close/>
                </a:path>
              </a:pathLst>
            </a:custGeom>
            <a:gradFill rotWithShape="1">
              <a:gsLst>
                <a:gs pos="0">
                  <a:srgbClr val="F7ACFF">
                    <a:alpha val="0"/>
                  </a:srgbClr>
                </a:gs>
                <a:gs pos="50000">
                  <a:srgbClr val="6B4CAF">
                    <a:alpha val="13225"/>
                  </a:srgbClr>
                </a:gs>
                <a:gs pos="100000">
                  <a:srgbClr val="3C67BF">
                    <a:alpha val="23000"/>
                  </a:srgbClr>
                </a:gs>
              </a:gsLst>
              <a:lin ang="0"/>
            </a:gradFill>
          </p:spPr>
          <p:txBody>
            <a:bodyPr/>
            <a:lstStyle/>
            <a:p>
              <a:endParaRPr lang="en-IN" dirty="0"/>
            </a:p>
          </p:txBody>
        </p:sp>
        <p:sp>
          <p:nvSpPr>
            <p:cNvPr id="4" name="TextBox 4"/>
            <p:cNvSpPr txBox="1"/>
            <p:nvPr/>
          </p:nvSpPr>
          <p:spPr>
            <a:xfrm>
              <a:off x="0" y="-38100"/>
              <a:ext cx="5565909" cy="278557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403184" y="769398"/>
            <a:ext cx="7481633"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High-Fi Screens</a:t>
            </a:r>
          </a:p>
        </p:txBody>
      </p:sp>
      <p:sp>
        <p:nvSpPr>
          <p:cNvPr id="10" name="TextBox 10"/>
          <p:cNvSpPr txBox="1"/>
          <p:nvPr/>
        </p:nvSpPr>
        <p:spPr>
          <a:xfrm>
            <a:off x="1732222" y="2046558"/>
            <a:ext cx="3990085"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Mobile Recharge</a:t>
            </a:r>
          </a:p>
        </p:txBody>
      </p:sp>
      <p:pic>
        <p:nvPicPr>
          <p:cNvPr id="13" name="Picture 12">
            <a:extLst>
              <a:ext uri="{FF2B5EF4-FFF2-40B4-BE49-F238E27FC236}">
                <a16:creationId xmlns:a16="http://schemas.microsoft.com/office/drawing/2014/main" id="{11C1240E-76EA-E545-85EF-A685797263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6221" y="2742253"/>
            <a:ext cx="3346963" cy="7276729"/>
          </a:xfrm>
          <a:prstGeom prst="rect">
            <a:avLst/>
          </a:prstGeom>
        </p:spPr>
      </p:pic>
      <p:pic>
        <p:nvPicPr>
          <p:cNvPr id="14" name="Picture 13">
            <a:extLst>
              <a:ext uri="{FF2B5EF4-FFF2-40B4-BE49-F238E27FC236}">
                <a16:creationId xmlns:a16="http://schemas.microsoft.com/office/drawing/2014/main" id="{D8D12CC0-8CCB-3A9D-5D35-50A434864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4085" y="2939558"/>
            <a:ext cx="3165460" cy="6882118"/>
          </a:xfrm>
          <a:prstGeom prst="rect">
            <a:avLst/>
          </a:prstGeom>
        </p:spPr>
      </p:pic>
      <p:sp>
        <p:nvSpPr>
          <p:cNvPr id="15" name="TextBox 11">
            <a:extLst>
              <a:ext uri="{FF2B5EF4-FFF2-40B4-BE49-F238E27FC236}">
                <a16:creationId xmlns:a16="http://schemas.microsoft.com/office/drawing/2014/main" id="{E0B35E6E-C31C-3C5F-A34C-5A8274AB0147}"/>
              </a:ext>
            </a:extLst>
          </p:cNvPr>
          <p:cNvSpPr txBox="1"/>
          <p:nvPr/>
        </p:nvSpPr>
        <p:spPr>
          <a:xfrm>
            <a:off x="11444615" y="2035450"/>
            <a:ext cx="4724400" cy="461665"/>
          </a:xfrm>
          <a:prstGeom prst="rect">
            <a:avLst/>
          </a:prstGeom>
        </p:spPr>
        <p:txBody>
          <a:bodyPr wrap="square" lIns="0" tIns="0" rIns="0" bIns="0" rtlCol="0" anchor="t">
            <a:spAutoFit/>
          </a:bodyPr>
          <a:lstStyle/>
          <a:p>
            <a:pPr algn="ctr">
              <a:lnSpc>
                <a:spcPts val="3639"/>
              </a:lnSpc>
              <a:spcBef>
                <a:spcPct val="0"/>
              </a:spcBef>
            </a:pPr>
            <a:r>
              <a:rPr lang="en-US" sz="2599" dirty="0">
                <a:solidFill>
                  <a:srgbClr val="240960"/>
                </a:solidFill>
                <a:latin typeface="Roca One"/>
                <a:ea typeface="Roca One"/>
                <a:cs typeface="Roca One"/>
                <a:sym typeface="Roca One"/>
              </a:rPr>
              <a:t>Payment Successful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4" name="AutoShape 4"/>
          <p:cNvSpPr/>
          <p:nvPr/>
        </p:nvSpPr>
        <p:spPr>
          <a:xfrm>
            <a:off x="5541652" y="7581900"/>
            <a:ext cx="2287332" cy="0"/>
          </a:xfrm>
          <a:prstGeom prst="line">
            <a:avLst/>
          </a:prstGeom>
          <a:ln w="38100" cap="flat">
            <a:solidFill>
              <a:srgbClr val="000000"/>
            </a:solidFill>
            <a:prstDash val="solid"/>
            <a:headEnd type="triangle" w="lg" len="med"/>
            <a:tailEnd type="none" w="sm" len="sm"/>
          </a:ln>
        </p:spPr>
      </p:sp>
      <p:sp>
        <p:nvSpPr>
          <p:cNvPr id="5" name="AutoShape 5"/>
          <p:cNvSpPr/>
          <p:nvPr/>
        </p:nvSpPr>
        <p:spPr>
          <a:xfrm>
            <a:off x="5598496" y="9334500"/>
            <a:ext cx="2287332" cy="0"/>
          </a:xfrm>
          <a:prstGeom prst="line">
            <a:avLst/>
          </a:prstGeom>
          <a:ln w="38100" cap="flat">
            <a:solidFill>
              <a:srgbClr val="000000"/>
            </a:solidFill>
            <a:prstDash val="solid"/>
            <a:headEnd type="triangle" w="lg" len="med"/>
            <a:tailEnd type="none" w="sm" len="sm"/>
          </a:ln>
        </p:spPr>
      </p:sp>
      <p:sp>
        <p:nvSpPr>
          <p:cNvPr id="6" name="AutoShape 6"/>
          <p:cNvSpPr/>
          <p:nvPr/>
        </p:nvSpPr>
        <p:spPr>
          <a:xfrm>
            <a:off x="5598496" y="4207880"/>
            <a:ext cx="2725249" cy="0"/>
          </a:xfrm>
          <a:prstGeom prst="line">
            <a:avLst/>
          </a:prstGeom>
          <a:ln w="38100" cap="flat">
            <a:solidFill>
              <a:srgbClr val="000000"/>
            </a:solidFill>
            <a:prstDash val="solid"/>
            <a:headEnd type="triangle" w="lg" len="med"/>
            <a:tailEnd type="none" w="sm" len="sm"/>
          </a:ln>
        </p:spPr>
      </p:sp>
      <p:sp>
        <p:nvSpPr>
          <p:cNvPr id="7" name="AutoShape 7"/>
          <p:cNvSpPr/>
          <p:nvPr/>
        </p:nvSpPr>
        <p:spPr>
          <a:xfrm>
            <a:off x="5676969" y="5269736"/>
            <a:ext cx="2725249" cy="0"/>
          </a:xfrm>
          <a:prstGeom prst="line">
            <a:avLst/>
          </a:prstGeom>
          <a:ln w="38100" cap="flat">
            <a:solidFill>
              <a:srgbClr val="000000"/>
            </a:solidFill>
            <a:prstDash val="solid"/>
            <a:headEnd type="triangle" w="lg" len="med"/>
            <a:tailEnd type="none" w="sm" len="sm"/>
          </a:ln>
        </p:spPr>
      </p:sp>
      <p:sp>
        <p:nvSpPr>
          <p:cNvPr id="8" name="AutoShape 8"/>
          <p:cNvSpPr/>
          <p:nvPr/>
        </p:nvSpPr>
        <p:spPr>
          <a:xfrm>
            <a:off x="5598496" y="6197073"/>
            <a:ext cx="2725249" cy="0"/>
          </a:xfrm>
          <a:prstGeom prst="line">
            <a:avLst/>
          </a:prstGeom>
          <a:ln w="38100" cap="flat">
            <a:solidFill>
              <a:srgbClr val="000000"/>
            </a:solidFill>
            <a:prstDash val="solid"/>
            <a:headEnd type="triangle" w="lg" len="med"/>
            <a:tailEnd type="none" w="sm" len="sm"/>
          </a:ln>
        </p:spPr>
      </p:sp>
      <p:sp>
        <p:nvSpPr>
          <p:cNvPr id="9" name="AutoShape 9"/>
          <p:cNvSpPr/>
          <p:nvPr/>
        </p:nvSpPr>
        <p:spPr>
          <a:xfrm flipH="1">
            <a:off x="10624807" y="3224034"/>
            <a:ext cx="2591536" cy="0"/>
          </a:xfrm>
          <a:prstGeom prst="line">
            <a:avLst/>
          </a:prstGeom>
          <a:ln w="38100" cap="flat">
            <a:solidFill>
              <a:srgbClr val="000000"/>
            </a:solidFill>
            <a:prstDash val="solid"/>
            <a:headEnd type="triangle" w="lg" len="med"/>
            <a:tailEnd type="none" w="sm" len="sm"/>
          </a:ln>
        </p:spPr>
      </p:sp>
      <p:sp>
        <p:nvSpPr>
          <p:cNvPr id="10" name="AutoShape 10"/>
          <p:cNvSpPr/>
          <p:nvPr/>
        </p:nvSpPr>
        <p:spPr>
          <a:xfrm flipH="1">
            <a:off x="10811704" y="4207880"/>
            <a:ext cx="2404639" cy="0"/>
          </a:xfrm>
          <a:prstGeom prst="line">
            <a:avLst/>
          </a:prstGeom>
          <a:ln w="38100" cap="flat">
            <a:solidFill>
              <a:srgbClr val="000000"/>
            </a:solidFill>
            <a:prstDash val="solid"/>
            <a:headEnd type="triangle" w="lg" len="med"/>
            <a:tailEnd type="none" w="sm" len="sm"/>
          </a:ln>
        </p:spPr>
      </p:sp>
      <p:sp>
        <p:nvSpPr>
          <p:cNvPr id="11" name="AutoShape 11"/>
          <p:cNvSpPr/>
          <p:nvPr/>
        </p:nvSpPr>
        <p:spPr>
          <a:xfrm flipH="1">
            <a:off x="10811703" y="5462502"/>
            <a:ext cx="2404639" cy="0"/>
          </a:xfrm>
          <a:prstGeom prst="line">
            <a:avLst/>
          </a:prstGeom>
          <a:ln w="38100" cap="flat">
            <a:solidFill>
              <a:srgbClr val="000000"/>
            </a:solidFill>
            <a:prstDash val="solid"/>
            <a:headEnd type="triangle" w="lg" len="med"/>
            <a:tailEnd type="none" w="sm" len="sm"/>
          </a:ln>
        </p:spPr>
      </p:sp>
      <p:sp>
        <p:nvSpPr>
          <p:cNvPr id="12" name="AutoShape 12"/>
          <p:cNvSpPr/>
          <p:nvPr/>
        </p:nvSpPr>
        <p:spPr>
          <a:xfrm flipH="1">
            <a:off x="10811703" y="6526069"/>
            <a:ext cx="2404639" cy="0"/>
          </a:xfrm>
          <a:prstGeom prst="line">
            <a:avLst/>
          </a:prstGeom>
          <a:ln w="38100" cap="flat">
            <a:solidFill>
              <a:srgbClr val="000000"/>
            </a:solidFill>
            <a:prstDash val="solid"/>
            <a:headEnd type="triangle" w="lg" len="med"/>
            <a:tailEnd type="none" w="sm" len="sm"/>
          </a:ln>
        </p:spPr>
      </p:sp>
      <p:sp>
        <p:nvSpPr>
          <p:cNvPr id="13" name="TextBox 13"/>
          <p:cNvSpPr txBox="1"/>
          <p:nvPr/>
        </p:nvSpPr>
        <p:spPr>
          <a:xfrm>
            <a:off x="4722342" y="2712240"/>
            <a:ext cx="876154"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Logo</a:t>
            </a:r>
          </a:p>
        </p:txBody>
      </p:sp>
      <p:sp>
        <p:nvSpPr>
          <p:cNvPr id="14" name="TextBox 14"/>
          <p:cNvSpPr txBox="1"/>
          <p:nvPr/>
        </p:nvSpPr>
        <p:spPr>
          <a:xfrm>
            <a:off x="2122574" y="3949038"/>
            <a:ext cx="3912751" cy="273685"/>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Roca One"/>
                <a:ea typeface="Roca One"/>
                <a:cs typeface="Roca One"/>
                <a:sym typeface="Roca One"/>
              </a:rPr>
              <a:t>Sending money via phn number/contacts</a:t>
            </a:r>
          </a:p>
        </p:txBody>
      </p:sp>
      <p:sp>
        <p:nvSpPr>
          <p:cNvPr id="15" name="TextBox 15"/>
          <p:cNvSpPr txBox="1"/>
          <p:nvPr/>
        </p:nvSpPr>
        <p:spPr>
          <a:xfrm>
            <a:off x="3659210" y="5150059"/>
            <a:ext cx="2149898"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Mobile Recharge</a:t>
            </a:r>
          </a:p>
        </p:txBody>
      </p:sp>
      <p:sp>
        <p:nvSpPr>
          <p:cNvPr id="16" name="TextBox 16"/>
          <p:cNvSpPr txBox="1"/>
          <p:nvPr/>
        </p:nvSpPr>
        <p:spPr>
          <a:xfrm>
            <a:off x="1907632" y="6060230"/>
            <a:ext cx="3769337"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Gas /electricity/water Bill payments</a:t>
            </a:r>
          </a:p>
        </p:txBody>
      </p:sp>
      <p:sp>
        <p:nvSpPr>
          <p:cNvPr id="17" name="TextBox 17"/>
          <p:cNvSpPr txBox="1"/>
          <p:nvPr/>
        </p:nvSpPr>
        <p:spPr>
          <a:xfrm>
            <a:off x="4444520" y="7445057"/>
            <a:ext cx="782360" cy="273685"/>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Settings</a:t>
            </a:r>
          </a:p>
        </p:txBody>
      </p:sp>
      <p:sp>
        <p:nvSpPr>
          <p:cNvPr id="18" name="TextBox 18"/>
          <p:cNvSpPr txBox="1"/>
          <p:nvPr/>
        </p:nvSpPr>
        <p:spPr>
          <a:xfrm>
            <a:off x="3431255" y="9193435"/>
            <a:ext cx="2031255"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Voice </a:t>
            </a:r>
            <a:r>
              <a:rPr lang="en-US" sz="1599" dirty="0" err="1">
                <a:solidFill>
                  <a:srgbClr val="000000"/>
                </a:solidFill>
                <a:latin typeface="Roca One"/>
                <a:ea typeface="Roca One"/>
                <a:cs typeface="Roca One"/>
                <a:sym typeface="Roca One"/>
              </a:rPr>
              <a:t>Assisstent</a:t>
            </a:r>
            <a:endParaRPr lang="en-US" sz="1599" dirty="0">
              <a:solidFill>
                <a:srgbClr val="000000"/>
              </a:solidFill>
              <a:latin typeface="Roca One"/>
              <a:ea typeface="Roca One"/>
              <a:cs typeface="Roca One"/>
              <a:sym typeface="Roca One"/>
            </a:endParaRPr>
          </a:p>
        </p:txBody>
      </p:sp>
      <p:sp>
        <p:nvSpPr>
          <p:cNvPr id="19" name="TextBox 19"/>
          <p:cNvSpPr txBox="1"/>
          <p:nvPr/>
        </p:nvSpPr>
        <p:spPr>
          <a:xfrm>
            <a:off x="13294817" y="3082969"/>
            <a:ext cx="1068007"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Profile</a:t>
            </a:r>
          </a:p>
        </p:txBody>
      </p:sp>
      <p:sp>
        <p:nvSpPr>
          <p:cNvPr id="20" name="TextBox 20"/>
          <p:cNvSpPr txBox="1"/>
          <p:nvPr/>
        </p:nvSpPr>
        <p:spPr>
          <a:xfrm>
            <a:off x="13216343" y="4081658"/>
            <a:ext cx="2861857"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QR code scanning option</a:t>
            </a:r>
          </a:p>
        </p:txBody>
      </p:sp>
      <p:sp>
        <p:nvSpPr>
          <p:cNvPr id="21" name="TextBox 21"/>
          <p:cNvSpPr txBox="1"/>
          <p:nvPr/>
        </p:nvSpPr>
        <p:spPr>
          <a:xfrm>
            <a:off x="13025913" y="5341715"/>
            <a:ext cx="2364343" cy="282132"/>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Account Balance</a:t>
            </a:r>
          </a:p>
        </p:txBody>
      </p:sp>
      <p:sp>
        <p:nvSpPr>
          <p:cNvPr id="22" name="TextBox 22"/>
          <p:cNvSpPr txBox="1"/>
          <p:nvPr/>
        </p:nvSpPr>
        <p:spPr>
          <a:xfrm>
            <a:off x="13216343" y="6385005"/>
            <a:ext cx="2404639" cy="282129"/>
          </a:xfrm>
          <a:prstGeom prst="rect">
            <a:avLst/>
          </a:prstGeom>
        </p:spPr>
        <p:txBody>
          <a:bodyPr wrap="square" lIns="0" tIns="0" rIns="0" bIns="0" rtlCol="0" anchor="t">
            <a:spAutoFit/>
          </a:bodyPr>
          <a:lstStyle/>
          <a:p>
            <a:pPr algn="ctr">
              <a:lnSpc>
                <a:spcPts val="2239"/>
              </a:lnSpc>
              <a:spcBef>
                <a:spcPct val="0"/>
              </a:spcBef>
            </a:pPr>
            <a:r>
              <a:rPr lang="en-US" sz="1599" dirty="0">
                <a:solidFill>
                  <a:srgbClr val="000000"/>
                </a:solidFill>
                <a:latin typeface="Roca One"/>
                <a:ea typeface="Roca One"/>
                <a:cs typeface="Roca One"/>
                <a:sym typeface="Roca One"/>
              </a:rPr>
              <a:t>past transactions info</a:t>
            </a:r>
          </a:p>
        </p:txBody>
      </p:sp>
      <p:sp>
        <p:nvSpPr>
          <p:cNvPr id="23" name="TextBox 23"/>
          <p:cNvSpPr txBox="1"/>
          <p:nvPr/>
        </p:nvSpPr>
        <p:spPr>
          <a:xfrm>
            <a:off x="4338910" y="446021"/>
            <a:ext cx="11010855" cy="775780"/>
          </a:xfrm>
          <a:prstGeom prst="rect">
            <a:avLst/>
          </a:prstGeom>
        </p:spPr>
        <p:txBody>
          <a:bodyPr lIns="0" tIns="0" rIns="0" bIns="0" rtlCol="0" anchor="t">
            <a:spAutoFit/>
          </a:bodyPr>
          <a:lstStyle/>
          <a:p>
            <a:pPr algn="just">
              <a:lnSpc>
                <a:spcPts val="5467"/>
              </a:lnSpc>
            </a:pPr>
            <a:r>
              <a:rPr lang="en-US" sz="6833">
                <a:solidFill>
                  <a:srgbClr val="240960"/>
                </a:solidFill>
                <a:latin typeface="Roca One"/>
                <a:ea typeface="Roca One"/>
                <a:cs typeface="Roca One"/>
                <a:sym typeface="Roca One"/>
              </a:rPr>
              <a:t>UI Design Kit: Home Page</a:t>
            </a:r>
          </a:p>
        </p:txBody>
      </p:sp>
      <p:pic>
        <p:nvPicPr>
          <p:cNvPr id="24" name="Picture 23">
            <a:extLst>
              <a:ext uri="{FF2B5EF4-FFF2-40B4-BE49-F238E27FC236}">
                <a16:creationId xmlns:a16="http://schemas.microsoft.com/office/drawing/2014/main" id="{5BD59D57-309B-FB67-1E8C-6D7075E90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305" y="686033"/>
            <a:ext cx="4334703" cy="9424204"/>
          </a:xfrm>
          <a:prstGeom prst="rect">
            <a:avLst/>
          </a:prstGeom>
        </p:spPr>
      </p:pic>
      <p:cxnSp>
        <p:nvCxnSpPr>
          <p:cNvPr id="26" name="Straight Arrow Connector 25">
            <a:extLst>
              <a:ext uri="{FF2B5EF4-FFF2-40B4-BE49-F238E27FC236}">
                <a16:creationId xmlns:a16="http://schemas.microsoft.com/office/drawing/2014/main" id="{0D2ADE8F-5F32-72D6-12F6-36EC838B8541}"/>
              </a:ext>
            </a:extLst>
          </p:cNvPr>
          <p:cNvCxnSpPr>
            <a:cxnSpLocks/>
            <a:endCxn id="13" idx="3"/>
          </p:cNvCxnSpPr>
          <p:nvPr/>
        </p:nvCxnSpPr>
        <p:spPr>
          <a:xfrm flipH="1">
            <a:off x="5598496" y="1790699"/>
            <a:ext cx="3168000" cy="972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3224" y="-4197707"/>
            <a:ext cx="20414448" cy="21091121"/>
          </a:xfrm>
          <a:custGeom>
            <a:avLst/>
            <a:gdLst/>
            <a:ahLst/>
            <a:cxnLst/>
            <a:rect l="l" t="t" r="r" b="b"/>
            <a:pathLst>
              <a:path w="20414448" h="21091121">
                <a:moveTo>
                  <a:pt x="0" y="0"/>
                </a:moveTo>
                <a:lnTo>
                  <a:pt x="20414448" y="0"/>
                </a:lnTo>
                <a:lnTo>
                  <a:pt x="20414448" y="21091122"/>
                </a:lnTo>
                <a:lnTo>
                  <a:pt x="0" y="210911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0800000">
            <a:off x="-892138" y="-1557904"/>
            <a:ext cx="4867662" cy="6539820"/>
            <a:chOff x="0" y="0"/>
            <a:chExt cx="6490217" cy="8719760"/>
          </a:xfrm>
        </p:grpSpPr>
        <p:sp>
          <p:nvSpPr>
            <p:cNvPr id="4" name="Freeform 4"/>
            <p:cNvSpPr/>
            <p:nvPr/>
          </p:nvSpPr>
          <p:spPr>
            <a:xfrm rot="-1417758">
              <a:off x="920157" y="3401035"/>
              <a:ext cx="2294819" cy="5071423"/>
            </a:xfrm>
            <a:custGeom>
              <a:avLst/>
              <a:gdLst/>
              <a:ahLst/>
              <a:cxnLst/>
              <a:rect l="l" t="t" r="r" b="b"/>
              <a:pathLst>
                <a:path w="2294819" h="5071423">
                  <a:moveTo>
                    <a:pt x="0" y="0"/>
                  </a:moveTo>
                  <a:lnTo>
                    <a:pt x="2294819" y="0"/>
                  </a:lnTo>
                  <a:lnTo>
                    <a:pt x="2294819" y="5071423"/>
                  </a:lnTo>
                  <a:lnTo>
                    <a:pt x="0" y="50714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408289">
              <a:off x="1348132" y="364204"/>
              <a:ext cx="3381052" cy="7471938"/>
            </a:xfrm>
            <a:custGeom>
              <a:avLst/>
              <a:gdLst/>
              <a:ahLst/>
              <a:cxnLst/>
              <a:rect l="l" t="t" r="r" b="b"/>
              <a:pathLst>
                <a:path w="3381052" h="7471938">
                  <a:moveTo>
                    <a:pt x="0" y="0"/>
                  </a:moveTo>
                  <a:lnTo>
                    <a:pt x="3381052" y="0"/>
                  </a:lnTo>
                  <a:lnTo>
                    <a:pt x="3381052" y="7471938"/>
                  </a:lnTo>
                  <a:lnTo>
                    <a:pt x="0" y="74719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301846">
              <a:off x="3478942" y="1826543"/>
              <a:ext cx="2750098" cy="6077565"/>
            </a:xfrm>
            <a:custGeom>
              <a:avLst/>
              <a:gdLst/>
              <a:ahLst/>
              <a:cxnLst/>
              <a:rect l="l" t="t" r="r" b="b"/>
              <a:pathLst>
                <a:path w="2750098" h="6077565">
                  <a:moveTo>
                    <a:pt x="0" y="0"/>
                  </a:moveTo>
                  <a:lnTo>
                    <a:pt x="2750098" y="0"/>
                  </a:lnTo>
                  <a:lnTo>
                    <a:pt x="2750098" y="6077565"/>
                  </a:lnTo>
                  <a:lnTo>
                    <a:pt x="0" y="60775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7" name="Freeform 7"/>
          <p:cNvSpPr/>
          <p:nvPr/>
        </p:nvSpPr>
        <p:spPr>
          <a:xfrm>
            <a:off x="1315720" y="2472100"/>
            <a:ext cx="15656559" cy="5342801"/>
          </a:xfrm>
          <a:custGeom>
            <a:avLst/>
            <a:gdLst/>
            <a:ahLst/>
            <a:cxnLst/>
            <a:rect l="l" t="t" r="r" b="b"/>
            <a:pathLst>
              <a:path w="15656559" h="5342801">
                <a:moveTo>
                  <a:pt x="0" y="0"/>
                </a:moveTo>
                <a:lnTo>
                  <a:pt x="15656560" y="0"/>
                </a:lnTo>
                <a:lnTo>
                  <a:pt x="15656560" y="5342800"/>
                </a:lnTo>
                <a:lnTo>
                  <a:pt x="0" y="5342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741962">
            <a:off x="15218575" y="1502454"/>
            <a:ext cx="2500966" cy="1939291"/>
          </a:xfrm>
          <a:custGeom>
            <a:avLst/>
            <a:gdLst/>
            <a:ahLst/>
            <a:cxnLst/>
            <a:rect l="l" t="t" r="r" b="b"/>
            <a:pathLst>
              <a:path w="2500966" h="1939291">
                <a:moveTo>
                  <a:pt x="0" y="0"/>
                </a:moveTo>
                <a:lnTo>
                  <a:pt x="2500966" y="0"/>
                </a:lnTo>
                <a:lnTo>
                  <a:pt x="2500966" y="1939291"/>
                </a:lnTo>
                <a:lnTo>
                  <a:pt x="0" y="1939291"/>
                </a:lnTo>
                <a:lnTo>
                  <a:pt x="0" y="0"/>
                </a:lnTo>
                <a:close/>
              </a:path>
            </a:pathLst>
          </a:custGeom>
          <a:blipFill>
            <a:blip r:embed="rId8"/>
            <a:stretch>
              <a:fillRect/>
            </a:stretch>
          </a:blipFill>
        </p:spPr>
      </p:sp>
      <p:grpSp>
        <p:nvGrpSpPr>
          <p:cNvPr id="9" name="Group 9"/>
          <p:cNvGrpSpPr/>
          <p:nvPr/>
        </p:nvGrpSpPr>
        <p:grpSpPr>
          <a:xfrm>
            <a:off x="14374703" y="4981916"/>
            <a:ext cx="4867662" cy="6539820"/>
            <a:chOff x="0" y="0"/>
            <a:chExt cx="6490217" cy="8719760"/>
          </a:xfrm>
        </p:grpSpPr>
        <p:sp>
          <p:nvSpPr>
            <p:cNvPr id="10" name="Freeform 10"/>
            <p:cNvSpPr/>
            <p:nvPr/>
          </p:nvSpPr>
          <p:spPr>
            <a:xfrm rot="-1417758">
              <a:off x="920157" y="3401035"/>
              <a:ext cx="2294819" cy="5071423"/>
            </a:xfrm>
            <a:custGeom>
              <a:avLst/>
              <a:gdLst/>
              <a:ahLst/>
              <a:cxnLst/>
              <a:rect l="l" t="t" r="r" b="b"/>
              <a:pathLst>
                <a:path w="2294819" h="5071423">
                  <a:moveTo>
                    <a:pt x="0" y="0"/>
                  </a:moveTo>
                  <a:lnTo>
                    <a:pt x="2294819" y="0"/>
                  </a:lnTo>
                  <a:lnTo>
                    <a:pt x="2294819" y="5071423"/>
                  </a:lnTo>
                  <a:lnTo>
                    <a:pt x="0" y="50714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408289">
              <a:off x="1348132" y="364204"/>
              <a:ext cx="3381052" cy="7471938"/>
            </a:xfrm>
            <a:custGeom>
              <a:avLst/>
              <a:gdLst/>
              <a:ahLst/>
              <a:cxnLst/>
              <a:rect l="l" t="t" r="r" b="b"/>
              <a:pathLst>
                <a:path w="3381052" h="7471938">
                  <a:moveTo>
                    <a:pt x="0" y="0"/>
                  </a:moveTo>
                  <a:lnTo>
                    <a:pt x="3381052" y="0"/>
                  </a:lnTo>
                  <a:lnTo>
                    <a:pt x="3381052" y="7471938"/>
                  </a:lnTo>
                  <a:lnTo>
                    <a:pt x="0" y="74719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301846">
              <a:off x="3478942" y="1826543"/>
              <a:ext cx="2750098" cy="6077565"/>
            </a:xfrm>
            <a:custGeom>
              <a:avLst/>
              <a:gdLst/>
              <a:ahLst/>
              <a:cxnLst/>
              <a:rect l="l" t="t" r="r" b="b"/>
              <a:pathLst>
                <a:path w="2750098" h="6077565">
                  <a:moveTo>
                    <a:pt x="0" y="0"/>
                  </a:moveTo>
                  <a:lnTo>
                    <a:pt x="2750098" y="0"/>
                  </a:lnTo>
                  <a:lnTo>
                    <a:pt x="2750098" y="6077565"/>
                  </a:lnTo>
                  <a:lnTo>
                    <a:pt x="0" y="60775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13" name="Freeform 13"/>
          <p:cNvSpPr/>
          <p:nvPr/>
        </p:nvSpPr>
        <p:spPr>
          <a:xfrm rot="2035985">
            <a:off x="1644030" y="6786099"/>
            <a:ext cx="2500966" cy="1939291"/>
          </a:xfrm>
          <a:custGeom>
            <a:avLst/>
            <a:gdLst/>
            <a:ahLst/>
            <a:cxnLst/>
            <a:rect l="l" t="t" r="r" b="b"/>
            <a:pathLst>
              <a:path w="2500966" h="1939291">
                <a:moveTo>
                  <a:pt x="0" y="0"/>
                </a:moveTo>
                <a:lnTo>
                  <a:pt x="2500967" y="0"/>
                </a:lnTo>
                <a:lnTo>
                  <a:pt x="2500967" y="1939291"/>
                </a:lnTo>
                <a:lnTo>
                  <a:pt x="0" y="1939291"/>
                </a:lnTo>
                <a:lnTo>
                  <a:pt x="0" y="0"/>
                </a:lnTo>
                <a:close/>
              </a:path>
            </a:pathLst>
          </a:custGeom>
          <a:blipFill>
            <a:blip r:embed="rId8"/>
            <a:stretch>
              <a:fillRect/>
            </a:stretch>
          </a:blipFill>
        </p:spPr>
      </p:sp>
      <p:sp>
        <p:nvSpPr>
          <p:cNvPr id="14" name="TextBox 14"/>
          <p:cNvSpPr txBox="1"/>
          <p:nvPr/>
        </p:nvSpPr>
        <p:spPr>
          <a:xfrm>
            <a:off x="3001964" y="3833566"/>
            <a:ext cx="13158286" cy="1629032"/>
          </a:xfrm>
          <a:prstGeom prst="rect">
            <a:avLst/>
          </a:prstGeom>
        </p:spPr>
        <p:txBody>
          <a:bodyPr lIns="0" tIns="0" rIns="0" bIns="0" rtlCol="0" anchor="t">
            <a:spAutoFit/>
          </a:bodyPr>
          <a:lstStyle/>
          <a:p>
            <a:pPr algn="ctr">
              <a:lnSpc>
                <a:spcPts val="13378"/>
              </a:lnSpc>
            </a:pPr>
            <a:r>
              <a:rPr lang="en-US" sz="9555">
                <a:solidFill>
                  <a:srgbClr val="FFFFFF"/>
                </a:solidFill>
                <a:latin typeface="TAN Angleton"/>
                <a:ea typeface="TAN Angleton"/>
                <a:cs typeface="TAN Angleton"/>
                <a:sym typeface="TAN Angleton"/>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891</Words>
  <Application>Microsoft Office PowerPoint</Application>
  <PresentationFormat>Custom</PresentationFormat>
  <Paragraphs>224</Paragraphs>
  <Slides>32</Slides>
  <Notes>0</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9" baseType="lpstr">
      <vt:lpstr>TAN Angleton</vt:lpstr>
      <vt:lpstr>Ahsing</vt:lpstr>
      <vt:lpstr>Open Sans</vt:lpstr>
      <vt:lpstr>Montserrat Bold</vt:lpstr>
      <vt:lpstr>Agrandir Wide Medium</vt:lpstr>
      <vt:lpstr>Alice Bold</vt:lpstr>
      <vt:lpstr>Arial</vt:lpstr>
      <vt:lpstr>Aileron</vt:lpstr>
      <vt:lpstr>Roca One</vt:lpstr>
      <vt:lpstr>Open Sans Bold</vt:lpstr>
      <vt:lpstr>Canva Sans</vt:lpstr>
      <vt:lpstr>Roca One Bold</vt:lpstr>
      <vt:lpstr>Calibri</vt:lpstr>
      <vt:lpstr>Montserrat</vt:lpstr>
      <vt:lpstr>Canva Sans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ECHOPAY</dc:title>
  <cp:lastModifiedBy>Elakkiya Joseph</cp:lastModifiedBy>
  <cp:revision>2</cp:revision>
  <dcterms:created xsi:type="dcterms:W3CDTF">2006-08-16T00:00:00Z</dcterms:created>
  <dcterms:modified xsi:type="dcterms:W3CDTF">2025-10-18T18:41:46Z</dcterms:modified>
  <dc:identifier>DAG1RPh43W0</dc:identifier>
</cp:coreProperties>
</file>